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53"/>
  </p:notesMasterIdLst>
  <p:sldIdLst>
    <p:sldId id="256" r:id="rId2"/>
    <p:sldId id="259" r:id="rId3"/>
    <p:sldId id="257" r:id="rId4"/>
    <p:sldId id="264" r:id="rId5"/>
    <p:sldId id="258" r:id="rId6"/>
    <p:sldId id="260" r:id="rId7"/>
    <p:sldId id="261" r:id="rId8"/>
    <p:sldId id="262" r:id="rId9"/>
    <p:sldId id="263" r:id="rId10"/>
    <p:sldId id="269" r:id="rId11"/>
    <p:sldId id="270" r:id="rId12"/>
    <p:sldId id="265" r:id="rId13"/>
    <p:sldId id="266" r:id="rId14"/>
    <p:sldId id="268" r:id="rId15"/>
    <p:sldId id="267" r:id="rId16"/>
    <p:sldId id="271" r:id="rId17"/>
    <p:sldId id="273" r:id="rId18"/>
    <p:sldId id="272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9" r:id="rId34"/>
    <p:sldId id="288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5" r:id="rId48"/>
    <p:sldId id="302" r:id="rId49"/>
    <p:sldId id="303" r:id="rId50"/>
    <p:sldId id="304" r:id="rId51"/>
    <p:sldId id="306" r:id="rId5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" id="{69F7027B-2B77-4E84-A834-732AECA0E7B7}">
          <p14:sldIdLst>
            <p14:sldId id="256"/>
            <p14:sldId id="259"/>
          </p14:sldIdLst>
        </p14:section>
        <p14:section name="Git" id="{EB624AA6-20D6-4A61-AA4B-A995921005C3}">
          <p14:sldIdLst>
            <p14:sldId id="257"/>
            <p14:sldId id="264"/>
            <p14:sldId id="258"/>
            <p14:sldId id="260"/>
            <p14:sldId id="261"/>
            <p14:sldId id="262"/>
            <p14:sldId id="263"/>
            <p14:sldId id="269"/>
            <p14:sldId id="270"/>
            <p14:sldId id="265"/>
            <p14:sldId id="266"/>
            <p14:sldId id="268"/>
            <p14:sldId id="267"/>
            <p14:sldId id="271"/>
            <p14:sldId id="273"/>
            <p14:sldId id="272"/>
            <p14:sldId id="274"/>
            <p14:sldId id="275"/>
            <p14:sldId id="276"/>
            <p14:sldId id="277"/>
            <p14:sldId id="278"/>
          </p14:sldIdLst>
        </p14:section>
        <p14:section name="Github" id="{0EE80F47-0A0D-4BCB-827D-6FC9113D1EEF}">
          <p14:sldIdLst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9"/>
            <p14:sldId id="288"/>
            <p14:sldId id="290"/>
            <p14:sldId id="291"/>
          </p14:sldIdLst>
        </p14:section>
        <p14:section name="Gitlab" id="{39944DDF-D3FC-42A6-BC6A-C9F89F4AE70E}">
          <p14:sldIdLst>
            <p14:sldId id="292"/>
            <p14:sldId id="293"/>
            <p14:sldId id="294"/>
            <p14:sldId id="295"/>
            <p14:sldId id="296"/>
            <p14:sldId id="297"/>
            <p14:sldId id="298"/>
            <p14:sldId id="299"/>
            <p14:sldId id="300"/>
            <p14:sldId id="301"/>
            <p14:sldId id="305"/>
            <p14:sldId id="302"/>
            <p14:sldId id="303"/>
            <p14:sldId id="304"/>
          </p14:sldIdLst>
        </p14:section>
        <p14:section name="Hosting" id="{1C028AB8-67AB-4DA3-B6ED-EB3F2B4BAB6A}">
          <p14:sldIdLst>
            <p14:sldId id="30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tableStyles" Target="tableStyle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D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004ABFC-3074-413D-B7F9-A3C08E187088}" type="datetimeFigureOut">
              <a:rPr lang="en-ID" smtClean="0"/>
              <a:t>26/02/2026</a:t>
            </a:fld>
            <a:endParaRPr lang="en-ID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D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D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49E5EF3-203E-49A0-9DE7-FAA6818839AF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1392029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35344F-3A40-490B-0AC2-EA85E22BBA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C893C3-7654-6734-579F-39CB9B91AC7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A61A30-3C97-0324-9802-A304BEA598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D"/>
              <a:t>27/02/2026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3348F7-A545-D253-ED62-283212A596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D"/>
              <a:t>Git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C070FA-29B5-08A6-E420-5B200FFADB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51DDEA-CC60-4CD4-ADAC-97362B65A046}" type="slidenum">
              <a:rPr lang="en-ID" smtClean="0"/>
              <a:t>‹#›</a:t>
            </a:fld>
            <a:endParaRPr lang="en-ID"/>
          </a:p>
        </p:txBody>
      </p:sp>
      <p:pic>
        <p:nvPicPr>
          <p:cNvPr id="7" name="Picture 2" descr="Academics - Universitas Atma Jaya Yogyakarta">
            <a:extLst>
              <a:ext uri="{FF2B5EF4-FFF2-40B4-BE49-F238E27FC236}">
                <a16:creationId xmlns:a16="http://schemas.microsoft.com/office/drawing/2014/main" id="{5335FECE-F42C-48B7-2ECE-F0FDF74D598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983" y="62886"/>
            <a:ext cx="588746" cy="5887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Hosting dan Domain">
            <a:extLst>
              <a:ext uri="{FF2B5EF4-FFF2-40B4-BE49-F238E27FC236}">
                <a16:creationId xmlns:a16="http://schemas.microsoft.com/office/drawing/2014/main" id="{AAAF69F4-EE11-565F-9BA1-303BEC8CB083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18919" y="240723"/>
            <a:ext cx="1269762" cy="2330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507871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0240EF-F56E-6F45-9939-C9A61AF453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F3B72E-83EE-C380-896A-A34971001A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D07330-C549-4239-7E34-5934639EE2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D"/>
              <a:t>27/02/2026</a:t>
            </a:r>
            <a:endParaRPr lang="en-ID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D36705A-90DC-A802-1E2D-9237FE0021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D"/>
              <a:t>Git</a:t>
            </a:r>
            <a:endParaRPr lang="en-ID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98E322-D996-E411-ACD1-93351E2A6A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51DDEA-CC60-4CD4-ADAC-97362B65A046}" type="slidenum">
              <a:rPr lang="en-ID" smtClean="0"/>
              <a:t>‹#›</a:t>
            </a:fld>
            <a:endParaRPr lang="en-ID" dirty="0"/>
          </a:p>
        </p:txBody>
      </p:sp>
      <p:pic>
        <p:nvPicPr>
          <p:cNvPr id="7" name="Picture 2" descr="Academics - Universitas Atma Jaya Yogyakarta">
            <a:extLst>
              <a:ext uri="{FF2B5EF4-FFF2-40B4-BE49-F238E27FC236}">
                <a16:creationId xmlns:a16="http://schemas.microsoft.com/office/drawing/2014/main" id="{69E3026C-852F-BC23-6B4A-C0F6D56223F0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983" y="62886"/>
            <a:ext cx="588746" cy="5887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Hosting dan Domain">
            <a:extLst>
              <a:ext uri="{FF2B5EF4-FFF2-40B4-BE49-F238E27FC236}">
                <a16:creationId xmlns:a16="http://schemas.microsoft.com/office/drawing/2014/main" id="{6FB4BAC3-1DAC-09C3-7CB6-2D4F75C0D1EA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18919" y="240723"/>
            <a:ext cx="1269762" cy="2330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466037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6ACFF6-CF1E-107B-E18A-D95FC9D3FC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B0EC92-52B4-8E38-3749-2FD28DFDF9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8EB26F-69BA-5E7A-8848-BA8C9BBA65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D"/>
              <a:t>27/02/2026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885E1D-420D-8616-570B-8F39D70D50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D"/>
              <a:t>Git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AE60F14-4033-4F6F-15D0-1A62BE7E57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51DDEA-CC60-4CD4-ADAC-97362B65A046}" type="slidenum">
              <a:rPr lang="en-ID" smtClean="0"/>
              <a:t>‹#›</a:t>
            </a:fld>
            <a:endParaRPr lang="en-ID"/>
          </a:p>
        </p:txBody>
      </p:sp>
      <p:pic>
        <p:nvPicPr>
          <p:cNvPr id="7" name="Picture 2" descr="Academics - Universitas Atma Jaya Yogyakarta">
            <a:extLst>
              <a:ext uri="{FF2B5EF4-FFF2-40B4-BE49-F238E27FC236}">
                <a16:creationId xmlns:a16="http://schemas.microsoft.com/office/drawing/2014/main" id="{ACB5C401-5D46-4CC9-5F18-093351CB89B0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983" y="62886"/>
            <a:ext cx="588746" cy="5887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Hosting dan Domain">
            <a:extLst>
              <a:ext uri="{FF2B5EF4-FFF2-40B4-BE49-F238E27FC236}">
                <a16:creationId xmlns:a16="http://schemas.microsoft.com/office/drawing/2014/main" id="{88263CDD-76CA-8DAC-6C39-196780EE4351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18919" y="240723"/>
            <a:ext cx="1269762" cy="2330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193429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77500D-EA01-0115-6C1D-1D56BC8107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CB1695-9C05-107A-FACA-62AAEEF375E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B97E9BF-34EE-2C20-0EF6-0AE39A78C6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CE6852E-5030-E9C9-FFEF-62F71EDC46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D"/>
              <a:t>27/02/2026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53A216-383B-46C2-328E-436FFC607D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D"/>
              <a:t>Git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C50D5FF-F2D8-7C21-7A0D-7D00C017F7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51DDEA-CC60-4CD4-ADAC-97362B65A046}" type="slidenum">
              <a:rPr lang="en-ID" smtClean="0"/>
              <a:t>‹#›</a:t>
            </a:fld>
            <a:endParaRPr lang="en-ID"/>
          </a:p>
        </p:txBody>
      </p:sp>
      <p:pic>
        <p:nvPicPr>
          <p:cNvPr id="8" name="Picture 2" descr="Academics - Universitas Atma Jaya Yogyakarta">
            <a:extLst>
              <a:ext uri="{FF2B5EF4-FFF2-40B4-BE49-F238E27FC236}">
                <a16:creationId xmlns:a16="http://schemas.microsoft.com/office/drawing/2014/main" id="{F7867AA6-47CF-BACD-9BCF-B5B5C565A5ED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983" y="62886"/>
            <a:ext cx="588746" cy="5887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Hosting dan Domain">
            <a:extLst>
              <a:ext uri="{FF2B5EF4-FFF2-40B4-BE49-F238E27FC236}">
                <a16:creationId xmlns:a16="http://schemas.microsoft.com/office/drawing/2014/main" id="{E5F6DAD1-669F-72F5-C1DC-B80BBFD488BC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18919" y="240723"/>
            <a:ext cx="1269762" cy="2330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610205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9F2DD4-7BBC-EBC3-4DDC-FE93645AED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25F3DB7-13DC-86D9-5122-542191FEDC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D867E8-3A02-2B2A-4315-99E23E3A5A0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11D92DB-88A1-77EE-32BC-0183ABA7F3D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8D240BC-8D0C-C9E4-D431-C14DDCBBEDB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2C6AABA-03D2-BC3E-6B38-D42481DE37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D"/>
              <a:t>27/02/2026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18D8A7E-3E0F-B813-2AED-E39809DB0D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D"/>
              <a:t>Git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BBD4C87-5CAD-C950-625B-9358DB99B8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51DDEA-CC60-4CD4-ADAC-97362B65A046}" type="slidenum">
              <a:rPr lang="en-ID" smtClean="0"/>
              <a:t>‹#›</a:t>
            </a:fld>
            <a:endParaRPr lang="en-ID"/>
          </a:p>
        </p:txBody>
      </p:sp>
      <p:pic>
        <p:nvPicPr>
          <p:cNvPr id="10" name="Picture 2" descr="Academics - Universitas Atma Jaya Yogyakarta">
            <a:extLst>
              <a:ext uri="{FF2B5EF4-FFF2-40B4-BE49-F238E27FC236}">
                <a16:creationId xmlns:a16="http://schemas.microsoft.com/office/drawing/2014/main" id="{7E653632-E6D5-3E49-E401-75B301E140F2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983" y="62886"/>
            <a:ext cx="588746" cy="5887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Hosting dan Domain">
            <a:extLst>
              <a:ext uri="{FF2B5EF4-FFF2-40B4-BE49-F238E27FC236}">
                <a16:creationId xmlns:a16="http://schemas.microsoft.com/office/drawing/2014/main" id="{84D19DE7-C928-4BDD-202F-ECC2492EE33C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18919" y="240723"/>
            <a:ext cx="1269762" cy="2330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917058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CF2E1B-D64D-818F-A3BF-3B19C48025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2777F31-5EA6-0C7E-A44D-37F46B73EC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D"/>
              <a:t>27/02/2026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E9B0BFD-9989-C7E0-12B4-166A02B822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D"/>
              <a:t>Git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4329865-2401-A9BC-39DD-3333578ED2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51DDEA-CC60-4CD4-ADAC-97362B65A046}" type="slidenum">
              <a:rPr lang="en-ID" smtClean="0"/>
              <a:t>‹#›</a:t>
            </a:fld>
            <a:endParaRPr lang="en-ID"/>
          </a:p>
        </p:txBody>
      </p:sp>
      <p:pic>
        <p:nvPicPr>
          <p:cNvPr id="6" name="Picture 2" descr="Academics - Universitas Atma Jaya Yogyakarta">
            <a:extLst>
              <a:ext uri="{FF2B5EF4-FFF2-40B4-BE49-F238E27FC236}">
                <a16:creationId xmlns:a16="http://schemas.microsoft.com/office/drawing/2014/main" id="{B45F05D2-13CB-2BD5-CBAE-F87FDAA0CBFC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983" y="62886"/>
            <a:ext cx="588746" cy="5887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Hosting dan Domain">
            <a:extLst>
              <a:ext uri="{FF2B5EF4-FFF2-40B4-BE49-F238E27FC236}">
                <a16:creationId xmlns:a16="http://schemas.microsoft.com/office/drawing/2014/main" id="{E8514F9C-0329-F4E5-03EA-714EF479005F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18919" y="240723"/>
            <a:ext cx="1269762" cy="2330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704578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B9CE16C-4B9D-5538-0BC2-3B76CBADA2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D"/>
              <a:t>27/02/2026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182BB0E-566B-4773-F52D-C64FE40DDC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D"/>
              <a:t>Git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7B919A-CFC4-F658-838F-F2E41ACA16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51DDEA-CC60-4CD4-ADAC-97362B65A046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4566967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6487E7-0EEF-16C6-196E-97ADA6B83D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217E66-F04C-B638-70A2-775F24202B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A656ECD-DB8A-1873-5ECB-AFFC39FEAE9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1C752BC-910A-92CF-0F78-159A810051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D"/>
              <a:t>27/02/2026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B943808-C382-87B4-FF0A-1502389808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D"/>
              <a:t>Git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2AD99F-596C-8B4E-4C2A-54E187C931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51DDEA-CC60-4CD4-ADAC-97362B65A046}" type="slidenum">
              <a:rPr lang="en-ID" smtClean="0"/>
              <a:t>‹#›</a:t>
            </a:fld>
            <a:endParaRPr lang="en-ID"/>
          </a:p>
        </p:txBody>
      </p:sp>
      <p:pic>
        <p:nvPicPr>
          <p:cNvPr id="8" name="Picture 2" descr="Academics - Universitas Atma Jaya Yogyakarta">
            <a:extLst>
              <a:ext uri="{FF2B5EF4-FFF2-40B4-BE49-F238E27FC236}">
                <a16:creationId xmlns:a16="http://schemas.microsoft.com/office/drawing/2014/main" id="{13A96389-BF7A-6DDD-4A33-709116E55D6F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983" y="62886"/>
            <a:ext cx="588746" cy="5887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Hosting dan Domain">
            <a:extLst>
              <a:ext uri="{FF2B5EF4-FFF2-40B4-BE49-F238E27FC236}">
                <a16:creationId xmlns:a16="http://schemas.microsoft.com/office/drawing/2014/main" id="{4792FFD7-AEBC-9F20-20BF-612A45C60D74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18919" y="240723"/>
            <a:ext cx="1269762" cy="2330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308215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003E6E-93F8-D119-64F6-6CF1D101A5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FCF90C8-C929-92E6-9584-532A0A6C1F3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D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0EBE264-1494-DC8E-EA35-A28B5EF6497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2FD337C-A93F-41FB-AFA6-40B6EF8766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D"/>
              <a:t>27/02/2026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EA06E30-B98B-CF24-00EF-B972ED9C10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D"/>
              <a:t>Git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B84B9D8-FA75-AD95-D7A7-49FFB09F37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51DDEA-CC60-4CD4-ADAC-97362B65A046}" type="slidenum">
              <a:rPr lang="en-ID" smtClean="0"/>
              <a:t>‹#›</a:t>
            </a:fld>
            <a:endParaRPr lang="en-ID"/>
          </a:p>
        </p:txBody>
      </p:sp>
      <p:pic>
        <p:nvPicPr>
          <p:cNvPr id="8" name="Picture 2" descr="Academics - Universitas Atma Jaya Yogyakarta">
            <a:extLst>
              <a:ext uri="{FF2B5EF4-FFF2-40B4-BE49-F238E27FC236}">
                <a16:creationId xmlns:a16="http://schemas.microsoft.com/office/drawing/2014/main" id="{BD0028B3-7834-2FCA-C78C-A16456AFACBA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983" y="62886"/>
            <a:ext cx="588746" cy="5887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Hosting dan Domain">
            <a:extLst>
              <a:ext uri="{FF2B5EF4-FFF2-40B4-BE49-F238E27FC236}">
                <a16:creationId xmlns:a16="http://schemas.microsoft.com/office/drawing/2014/main" id="{137BABA2-D8B7-B77F-632F-215327912DFD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18919" y="240723"/>
            <a:ext cx="1269762" cy="2330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419742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16FC0A-E688-521D-A9A5-973BBF8391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750D7DD-B22A-7343-3682-C8A1B6C509E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4EA98C-BE43-0456-59FA-20585D8F70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D"/>
              <a:t>27/02/2026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3A1C03-E5A4-BAD3-52C7-790AA0416F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D"/>
              <a:t>Git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0186EB-1447-D24A-347B-8B783099BE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51DDEA-CC60-4CD4-ADAC-97362B65A046}" type="slidenum">
              <a:rPr lang="en-ID" smtClean="0"/>
              <a:t>‹#›</a:t>
            </a:fld>
            <a:endParaRPr lang="en-ID"/>
          </a:p>
        </p:txBody>
      </p:sp>
      <p:pic>
        <p:nvPicPr>
          <p:cNvPr id="7" name="Picture 2" descr="Academics - Universitas Atma Jaya Yogyakarta">
            <a:extLst>
              <a:ext uri="{FF2B5EF4-FFF2-40B4-BE49-F238E27FC236}">
                <a16:creationId xmlns:a16="http://schemas.microsoft.com/office/drawing/2014/main" id="{5FE6BCF3-A680-8301-D737-B3993066DF3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983" y="62886"/>
            <a:ext cx="588746" cy="5887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Hosting dan Domain">
            <a:extLst>
              <a:ext uri="{FF2B5EF4-FFF2-40B4-BE49-F238E27FC236}">
                <a16:creationId xmlns:a16="http://schemas.microsoft.com/office/drawing/2014/main" id="{6214C68C-9254-AB2B-3E24-5F2C64AEA4CB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18919" y="240723"/>
            <a:ext cx="1269762" cy="2330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614105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6E1CF5D-14A4-920F-2C3A-FB14C67B6BA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71BE63E-53FD-148E-A156-C8DDF3E383B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BFE5B9-95CD-D1F6-7A79-25828E11D7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D"/>
              <a:t>27/02/2026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BBD1D6D-5019-F9A9-BA95-84297D0B0F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D"/>
              <a:t>Git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5AAC90-CD37-51B6-FCC2-3B5D683BD4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51DDEA-CC60-4CD4-ADAC-97362B65A046}" type="slidenum">
              <a:rPr lang="en-ID" smtClean="0"/>
              <a:t>‹#›</a:t>
            </a:fld>
            <a:endParaRPr lang="en-ID"/>
          </a:p>
        </p:txBody>
      </p:sp>
      <p:pic>
        <p:nvPicPr>
          <p:cNvPr id="7" name="Picture 2" descr="Academics - Universitas Atma Jaya Yogyakarta">
            <a:extLst>
              <a:ext uri="{FF2B5EF4-FFF2-40B4-BE49-F238E27FC236}">
                <a16:creationId xmlns:a16="http://schemas.microsoft.com/office/drawing/2014/main" id="{E86BDB46-4FA1-36B1-AA4B-FE6ADF7E141F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983" y="62886"/>
            <a:ext cx="588746" cy="5887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Hosting dan Domain">
            <a:extLst>
              <a:ext uri="{FF2B5EF4-FFF2-40B4-BE49-F238E27FC236}">
                <a16:creationId xmlns:a16="http://schemas.microsoft.com/office/drawing/2014/main" id="{2ACE9CD3-5538-14B3-9B3A-124B988F4C4F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18919" y="240723"/>
            <a:ext cx="1269762" cy="2330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0023179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198E9810-CC04-78BA-5599-1EBB4617FC3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D"/>
          </a:p>
        </p:txBody>
      </p:sp>
      <p:pic>
        <p:nvPicPr>
          <p:cNvPr id="1026" name="Picture 2" descr="Academics - Universitas Atma Jaya Yogyakarta">
            <a:extLst>
              <a:ext uri="{FF2B5EF4-FFF2-40B4-BE49-F238E27FC236}">
                <a16:creationId xmlns:a16="http://schemas.microsoft.com/office/drawing/2014/main" id="{06D8099F-7C3B-7529-1DCB-6F1C569CECBF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983" y="62886"/>
            <a:ext cx="588746" cy="5887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Hosting dan Domain">
            <a:extLst>
              <a:ext uri="{FF2B5EF4-FFF2-40B4-BE49-F238E27FC236}">
                <a16:creationId xmlns:a16="http://schemas.microsoft.com/office/drawing/2014/main" id="{7D1E1690-C46C-FC00-F662-1A65191A4080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18919" y="240723"/>
            <a:ext cx="1269762" cy="2330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Title 11">
            <a:extLst>
              <a:ext uri="{FF2B5EF4-FFF2-40B4-BE49-F238E27FC236}">
                <a16:creationId xmlns:a16="http://schemas.microsoft.com/office/drawing/2014/main" id="{F71E85D3-C16D-E9B6-D21D-4CFF5F594C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122343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85D9620E-8FE4-D0F6-07FC-7CB31551C1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D"/>
              <a:t>27/02/2026</a:t>
            </a:r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35EFB86C-F4C3-73A9-35D0-CE41337BC7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D"/>
              <a:t>Git</a:t>
            </a:r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21754FAB-4092-04A4-9CF3-4CAA9FB784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51DDEA-CC60-4CD4-ADAC-97362B65A046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314884173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2988CA-2A77-99D7-D27B-94FA5CB8AC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7FB3AE-7F98-9725-D8CF-41BBE6ACBE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64120F-7619-1A65-2CF1-8F5AB39F93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ID"/>
              <a:t>27/02/2026</a:t>
            </a:r>
            <a:endParaRPr lang="en-ID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3AE76D-A7AC-0EA7-7EEA-FE6E6A3210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D"/>
              <a:t>Git</a:t>
            </a:r>
            <a:endParaRPr lang="en-ID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98E1A9-C425-32EC-1C19-6AC9E6E2D1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51DDEA-CC60-4CD4-ADAC-97362B65A046}" type="slidenum">
              <a:rPr lang="en-ID" smtClean="0"/>
              <a:t>‹#›</a:t>
            </a:fld>
            <a:endParaRPr lang="en-ID" dirty="0"/>
          </a:p>
        </p:txBody>
      </p:sp>
      <p:pic>
        <p:nvPicPr>
          <p:cNvPr id="7" name="Picture 2" descr="Academics - Universitas Atma Jaya Yogyakarta">
            <a:extLst>
              <a:ext uri="{FF2B5EF4-FFF2-40B4-BE49-F238E27FC236}">
                <a16:creationId xmlns:a16="http://schemas.microsoft.com/office/drawing/2014/main" id="{6462658C-3B3B-870E-5708-87B3D2BCD693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983" y="62886"/>
            <a:ext cx="588746" cy="5887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Hosting dan Domain">
            <a:extLst>
              <a:ext uri="{FF2B5EF4-FFF2-40B4-BE49-F238E27FC236}">
                <a16:creationId xmlns:a16="http://schemas.microsoft.com/office/drawing/2014/main" id="{600AA7EA-8FF5-0FEC-D57F-092352D79131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18919" y="240723"/>
            <a:ext cx="1269762" cy="2330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011820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706D2B3-13DF-FB43-88B0-F9219590A8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77210C8-48AD-38A2-F497-73B323C6704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9F4588-6AE0-E3BE-8BFD-9CE9A5890CB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ID"/>
              <a:t>27/02/2026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57AE4A-2298-F68E-FA92-00DD891F97E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ID"/>
              <a:t>Git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67D537-D3B9-510D-C0AF-25B4FBB1EC0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251DDEA-CC60-4CD4-ADAC-97362B65A046}" type="slidenum">
              <a:rPr lang="en-ID" smtClean="0"/>
              <a:t>‹#›</a:t>
            </a:fld>
            <a:endParaRPr lang="en-ID"/>
          </a:p>
        </p:txBody>
      </p:sp>
      <p:pic>
        <p:nvPicPr>
          <p:cNvPr id="7" name="Picture 2" descr="Academics - Universitas Atma Jaya Yogyakarta">
            <a:extLst>
              <a:ext uri="{FF2B5EF4-FFF2-40B4-BE49-F238E27FC236}">
                <a16:creationId xmlns:a16="http://schemas.microsoft.com/office/drawing/2014/main" id="{D82888BC-96B5-821B-1931-5AB466CC05DE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983" y="62886"/>
            <a:ext cx="588746" cy="5887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Hosting dan Domain">
            <a:extLst>
              <a:ext uri="{FF2B5EF4-FFF2-40B4-BE49-F238E27FC236}">
                <a16:creationId xmlns:a16="http://schemas.microsoft.com/office/drawing/2014/main" id="{4DC87991-DCF9-8E67-FA47-4EAC662CFF8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18919" y="240723"/>
            <a:ext cx="1269762" cy="2330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383204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49" r:id="rId12"/>
    <p:sldLayoutId id="2147483650" r:id="rId13"/>
  </p:sldLayoutIdLst>
  <p:hf sldNum="0"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RayWP/MyApp-demo" TargetMode="Externa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jpe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e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jpe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B5D1B2-7D45-B5D1-2AAF-492B052D180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en-US" dirty="0"/>
              <a:t>Git dan </a:t>
            </a:r>
            <a:r>
              <a:rPr lang="en-US" dirty="0" err="1"/>
              <a:t>Github</a:t>
            </a:r>
            <a:endParaRPr lang="en-ID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E42BDD8-58B7-1ADD-0F10-69EEC0CF44D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Raymond Wangsa Putra</a:t>
            </a:r>
          </a:p>
          <a:p>
            <a:r>
              <a:rPr lang="en-US" dirty="0"/>
              <a:t>UAJY – </a:t>
            </a:r>
            <a:r>
              <a:rPr lang="en-US" dirty="0" err="1"/>
              <a:t>Februari</a:t>
            </a:r>
            <a:r>
              <a:rPr lang="en-US" dirty="0"/>
              <a:t> 2026</a:t>
            </a:r>
            <a:endParaRPr lang="en-ID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2661BA-BEB8-BB8B-1A1E-8C73A772E4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D"/>
              <a:t>27/02/2026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70F293-C123-47F1-0782-58919ECA8B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D"/>
              <a:t>Git</a:t>
            </a:r>
          </a:p>
        </p:txBody>
      </p:sp>
    </p:spTree>
    <p:extLst>
      <p:ext uri="{BB962C8B-B14F-4D97-AF65-F5344CB8AC3E}">
        <p14:creationId xmlns:p14="http://schemas.microsoft.com/office/powerpoint/2010/main" val="29876502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0F462751-54B6-6A7F-AA35-2BC6299EF5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Install </a:t>
            </a:r>
            <a:r>
              <a:rPr lang="en-US" dirty="0" err="1"/>
              <a:t>terlebih</a:t>
            </a:r>
            <a:r>
              <a:rPr lang="en-US" dirty="0"/>
              <a:t> </a:t>
            </a:r>
            <a:r>
              <a:rPr lang="en-US" dirty="0" err="1"/>
              <a:t>dahulu</a:t>
            </a:r>
            <a:endParaRPr lang="en-ID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DE9C2FDD-52C5-B147-8BF5-90A1568E79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Git (https://git-scm.com/install/)</a:t>
            </a:r>
          </a:p>
          <a:p>
            <a:endParaRPr lang="en-US" dirty="0"/>
          </a:p>
          <a:p>
            <a:r>
              <a:rPr lang="en-US" dirty="0" err="1"/>
              <a:t>Github</a:t>
            </a:r>
            <a:r>
              <a:rPr lang="en-US" dirty="0"/>
              <a:t> Desktop (https://desktop.github.com/download/)</a:t>
            </a:r>
            <a:endParaRPr lang="en-ID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E13AB9-0C73-78AF-C0F2-1E1D61800F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D"/>
              <a:t>27/02/2026</a:t>
            </a:r>
            <a:endParaRPr lang="en-ID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75B850-9A1D-6C60-F76E-7D0B5532D8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D"/>
              <a:t>Git</a:t>
            </a:r>
            <a:endParaRPr lang="en-ID" dirty="0"/>
          </a:p>
        </p:txBody>
      </p:sp>
    </p:spTree>
    <p:extLst>
      <p:ext uri="{BB962C8B-B14F-4D97-AF65-F5344CB8AC3E}">
        <p14:creationId xmlns:p14="http://schemas.microsoft.com/office/powerpoint/2010/main" val="15096265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1EC9887B-0E0B-249B-7BED-62FF380D7E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Git: art of source control</a:t>
            </a:r>
            <a:endParaRPr lang="en-ID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6381EB-9562-CEE2-51A3-B72B9BB3EA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D"/>
              <a:t>27/02/2026</a:t>
            </a:r>
            <a:endParaRPr lang="en-ID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7CF7F4-269C-C20C-51A9-2C486810D3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D"/>
              <a:t>Git</a:t>
            </a:r>
            <a:endParaRPr lang="en-ID" dirty="0"/>
          </a:p>
        </p:txBody>
      </p:sp>
    </p:spTree>
    <p:extLst>
      <p:ext uri="{BB962C8B-B14F-4D97-AF65-F5344CB8AC3E}">
        <p14:creationId xmlns:p14="http://schemas.microsoft.com/office/powerpoint/2010/main" val="32999530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00762C-2AC8-AF7B-008A-2785D55C74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AA9CA632-A7F4-480C-E976-18E8A83FA9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</a:t>
            </a:r>
            <a:endParaRPr lang="en-ID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918785D-084E-319E-2824-298F8E048A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Ada yang </a:t>
            </a:r>
            <a:r>
              <a:rPr lang="en-US" dirty="0" err="1"/>
              <a:t>nonton</a:t>
            </a:r>
            <a:r>
              <a:rPr lang="en-US" dirty="0"/>
              <a:t> Multiverse of Madness? Loki series? Umbrella Academy?</a:t>
            </a:r>
            <a:endParaRPr lang="en-ID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443EEA-97F8-AD1C-D332-AD7C1849C4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D"/>
              <a:t>27/02/2026</a:t>
            </a:r>
            <a:endParaRPr lang="en-ID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300BD8-75E3-86A1-4EB3-5E4CF6A902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D"/>
              <a:t>Git</a:t>
            </a:r>
            <a:endParaRPr lang="en-ID" dirty="0"/>
          </a:p>
        </p:txBody>
      </p:sp>
    </p:spTree>
    <p:extLst>
      <p:ext uri="{BB962C8B-B14F-4D97-AF65-F5344CB8AC3E}">
        <p14:creationId xmlns:p14="http://schemas.microsoft.com/office/powerpoint/2010/main" val="30731272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1F89DAC4-459F-E917-9275-EE68496F01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Kenapa</a:t>
            </a:r>
            <a:r>
              <a:rPr lang="en-US" dirty="0"/>
              <a:t> </a:t>
            </a:r>
            <a:r>
              <a:rPr lang="en-US" dirty="0" err="1"/>
              <a:t>ada</a:t>
            </a:r>
            <a:r>
              <a:rPr lang="en-US" dirty="0"/>
              <a:t> Git?</a:t>
            </a:r>
            <a:endParaRPr lang="en-ID" dirty="0"/>
          </a:p>
        </p:txBody>
      </p:sp>
      <p:sp>
        <p:nvSpPr>
          <p:cNvPr id="12" name="Content Placeholder 6">
            <a:extLst>
              <a:ext uri="{FF2B5EF4-FFF2-40B4-BE49-F238E27FC236}">
                <a16:creationId xmlns:a16="http://schemas.microsoft.com/office/drawing/2014/main" id="{B4626C93-91A1-C273-7E61-17E2C50091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2160589"/>
          </a:xfrm>
        </p:spPr>
        <p:txBody>
          <a:bodyPr>
            <a:normAutofit/>
          </a:bodyPr>
          <a:lstStyle/>
          <a:p>
            <a:r>
              <a:rPr lang="en-US" dirty="0"/>
              <a:t>1 Orang 3 </a:t>
            </a:r>
            <a:r>
              <a:rPr lang="en-US" dirty="0" err="1"/>
              <a:t>tim</a:t>
            </a:r>
            <a:r>
              <a:rPr lang="en-US" dirty="0"/>
              <a:t>, masing </a:t>
            </a:r>
            <a:r>
              <a:rPr lang="en-US" dirty="0" err="1"/>
              <a:t>masing</a:t>
            </a:r>
            <a:r>
              <a:rPr lang="en-US" dirty="0"/>
              <a:t> </a:t>
            </a:r>
            <a:r>
              <a:rPr lang="en-US" dirty="0" err="1"/>
              <a:t>bikin</a:t>
            </a:r>
            <a:r>
              <a:rPr lang="en-US" dirty="0"/>
              <a:t> folder </a:t>
            </a:r>
            <a:r>
              <a:rPr lang="en-US" dirty="0" err="1"/>
              <a:t>mereka</a:t>
            </a:r>
            <a:r>
              <a:rPr lang="en-US" dirty="0"/>
              <a:t> </a:t>
            </a:r>
            <a:r>
              <a:rPr lang="en-US" dirty="0" err="1"/>
              <a:t>sendiri</a:t>
            </a:r>
            <a:endParaRPr lang="en-US" dirty="0"/>
          </a:p>
          <a:p>
            <a:pPr lvl="1"/>
            <a:r>
              <a:rPr lang="en-US" dirty="0" err="1"/>
              <a:t>Pelacakan</a:t>
            </a:r>
            <a:r>
              <a:rPr lang="en-US" dirty="0"/>
              <a:t> </a:t>
            </a:r>
            <a:r>
              <a:rPr lang="en-US" dirty="0" err="1"/>
              <a:t>sulit</a:t>
            </a:r>
            <a:r>
              <a:rPr lang="en-US" dirty="0"/>
              <a:t>, </a:t>
            </a:r>
            <a:r>
              <a:rPr lang="en-US" dirty="0" err="1"/>
              <a:t>penyatuan</a:t>
            </a:r>
            <a:r>
              <a:rPr lang="en-US" dirty="0"/>
              <a:t> </a:t>
            </a:r>
            <a:r>
              <a:rPr lang="en-US" dirty="0" err="1"/>
              <a:t>sulit</a:t>
            </a:r>
            <a:r>
              <a:rPr lang="en-US" dirty="0"/>
              <a:t>, </a:t>
            </a:r>
            <a:r>
              <a:rPr lang="en-US" dirty="0" err="1"/>
              <a:t>tidak</a:t>
            </a:r>
            <a:r>
              <a:rPr lang="en-US" dirty="0"/>
              <a:t> </a:t>
            </a:r>
            <a:r>
              <a:rPr lang="en-US" dirty="0" err="1"/>
              <a:t>ada</a:t>
            </a:r>
            <a:r>
              <a:rPr lang="en-US" dirty="0"/>
              <a:t> control </a:t>
            </a:r>
            <a:r>
              <a:rPr lang="en-US" dirty="0" err="1"/>
              <a:t>histori</a:t>
            </a:r>
            <a:endParaRPr lang="en-US" dirty="0"/>
          </a:p>
          <a:p>
            <a:r>
              <a:rPr lang="en-US" dirty="0"/>
              <a:t>Folder: </a:t>
            </a:r>
            <a:r>
              <a:rPr lang="en-US" dirty="0" err="1"/>
              <a:t>MyApp_Final</a:t>
            </a:r>
            <a:r>
              <a:rPr lang="en-US" dirty="0"/>
              <a:t>, </a:t>
            </a:r>
            <a:r>
              <a:rPr lang="en-US" dirty="0" err="1"/>
              <a:t>MyApp_final_revisi</a:t>
            </a:r>
            <a:r>
              <a:rPr lang="en-US" dirty="0"/>
              <a:t>, </a:t>
            </a:r>
            <a:r>
              <a:rPr lang="en-US" dirty="0" err="1"/>
              <a:t>MyApp_final_revisi_super_no_fix_pastisubmit</a:t>
            </a:r>
            <a:endParaRPr lang="en-ID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3BB8B9-587F-5079-2B88-F5899CC0B9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D"/>
              <a:t>27/02/2026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D92ADA-2987-E41E-79F1-F0063553B6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D" dirty="0"/>
              <a:t>Git</a:t>
            </a:r>
          </a:p>
        </p:txBody>
      </p:sp>
      <p:pic>
        <p:nvPicPr>
          <p:cNvPr id="1030" name="Picture 6" descr="People - Free people icons">
            <a:extLst>
              <a:ext uri="{FF2B5EF4-FFF2-40B4-BE49-F238E27FC236}">
                <a16:creationId xmlns:a16="http://schemas.microsoft.com/office/drawing/2014/main" id="{98B8FADA-FF9B-957D-1C08-D8B6B92914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56687" y="3690682"/>
            <a:ext cx="2278626" cy="22786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8D0D5544-16C6-B2C4-2BE1-ED816C4F9988}"/>
              </a:ext>
            </a:extLst>
          </p:cNvPr>
          <p:cNvCxnSpPr/>
          <p:nvPr/>
        </p:nvCxnSpPr>
        <p:spPr>
          <a:xfrm flipH="1" flipV="1">
            <a:off x="4504403" y="4555920"/>
            <a:ext cx="776749" cy="27407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Content Placeholder 6">
            <a:extLst>
              <a:ext uri="{FF2B5EF4-FFF2-40B4-BE49-F238E27FC236}">
                <a16:creationId xmlns:a16="http://schemas.microsoft.com/office/drawing/2014/main" id="{A7103470-F9E9-51BF-33F2-433D9A998EE8}"/>
              </a:ext>
            </a:extLst>
          </p:cNvPr>
          <p:cNvSpPr txBox="1">
            <a:spLocks/>
          </p:cNvSpPr>
          <p:nvPr/>
        </p:nvSpPr>
        <p:spPr>
          <a:xfrm>
            <a:off x="2038964" y="4035143"/>
            <a:ext cx="2853813" cy="5696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 err="1"/>
              <a:t>MyApp_Raymond</a:t>
            </a:r>
            <a:endParaRPr lang="en-ID" dirty="0"/>
          </a:p>
        </p:txBody>
      </p:sp>
      <p:sp>
        <p:nvSpPr>
          <p:cNvPr id="16" name="Content Placeholder 6">
            <a:extLst>
              <a:ext uri="{FF2B5EF4-FFF2-40B4-BE49-F238E27FC236}">
                <a16:creationId xmlns:a16="http://schemas.microsoft.com/office/drawing/2014/main" id="{20A5A6F8-D3F9-6577-9EFC-DFAEE38104AC}"/>
              </a:ext>
            </a:extLst>
          </p:cNvPr>
          <p:cNvSpPr txBox="1">
            <a:spLocks/>
          </p:cNvSpPr>
          <p:nvPr/>
        </p:nvSpPr>
        <p:spPr>
          <a:xfrm>
            <a:off x="2923866" y="5786744"/>
            <a:ext cx="2853813" cy="5696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 err="1"/>
              <a:t>MyApp_Drian</a:t>
            </a:r>
            <a:endParaRPr lang="en-ID" dirty="0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FB441160-78FD-00E8-0306-8E2019762492}"/>
              </a:ext>
            </a:extLst>
          </p:cNvPr>
          <p:cNvCxnSpPr>
            <a:cxnSpLocks/>
          </p:cNvCxnSpPr>
          <p:nvPr/>
        </p:nvCxnSpPr>
        <p:spPr>
          <a:xfrm flipH="1">
            <a:off x="5182829" y="5399701"/>
            <a:ext cx="913171" cy="56960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Content Placeholder 6">
            <a:extLst>
              <a:ext uri="{FF2B5EF4-FFF2-40B4-BE49-F238E27FC236}">
                <a16:creationId xmlns:a16="http://schemas.microsoft.com/office/drawing/2014/main" id="{F9BDFA12-0DF1-62E2-A901-3B20D1F357B0}"/>
              </a:ext>
            </a:extLst>
          </p:cNvPr>
          <p:cNvSpPr txBox="1">
            <a:spLocks/>
          </p:cNvSpPr>
          <p:nvPr/>
        </p:nvSpPr>
        <p:spPr>
          <a:xfrm>
            <a:off x="7342853" y="4774688"/>
            <a:ext cx="2853813" cy="5696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 err="1"/>
              <a:t>MyApp_Nicki</a:t>
            </a:r>
            <a:endParaRPr lang="en-US" dirty="0"/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806FB575-37DF-E3CB-9DD0-0FE60AD8894A}"/>
              </a:ext>
            </a:extLst>
          </p:cNvPr>
          <p:cNvCxnSpPr>
            <a:cxnSpLocks/>
          </p:cNvCxnSpPr>
          <p:nvPr/>
        </p:nvCxnSpPr>
        <p:spPr>
          <a:xfrm flipH="1" flipV="1">
            <a:off x="6854313" y="4853807"/>
            <a:ext cx="607142" cy="15885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8325155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D1B6D2-AE14-33CF-AE30-8E440E4DA2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AEA3A955-1283-C9C3-08AB-6862AF0E1D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Kenapa</a:t>
            </a:r>
            <a:r>
              <a:rPr lang="en-US" dirty="0"/>
              <a:t> </a:t>
            </a:r>
            <a:r>
              <a:rPr lang="en-US" dirty="0" err="1"/>
              <a:t>ada</a:t>
            </a:r>
            <a:r>
              <a:rPr lang="en-US" dirty="0"/>
              <a:t> Git?</a:t>
            </a:r>
            <a:endParaRPr lang="en-ID" dirty="0"/>
          </a:p>
        </p:txBody>
      </p:sp>
      <p:sp>
        <p:nvSpPr>
          <p:cNvPr id="12" name="Content Placeholder 6">
            <a:extLst>
              <a:ext uri="{FF2B5EF4-FFF2-40B4-BE49-F238E27FC236}">
                <a16:creationId xmlns:a16="http://schemas.microsoft.com/office/drawing/2014/main" id="{36129A5F-EB10-4A53-B8D6-0651DCE586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2160589"/>
          </a:xfrm>
        </p:spPr>
        <p:txBody>
          <a:bodyPr>
            <a:normAutofit/>
          </a:bodyPr>
          <a:lstStyle/>
          <a:p>
            <a:r>
              <a:rPr lang="en-US" dirty="0" err="1"/>
              <a:t>Kegunaan</a:t>
            </a:r>
            <a:r>
              <a:rPr lang="en-US" dirty="0"/>
              <a:t> git:</a:t>
            </a:r>
          </a:p>
          <a:p>
            <a:pPr lvl="1"/>
            <a:r>
              <a:rPr lang="en-US" dirty="0" err="1"/>
              <a:t>Melacak</a:t>
            </a:r>
            <a:r>
              <a:rPr lang="en-US" dirty="0"/>
              <a:t> </a:t>
            </a:r>
            <a:r>
              <a:rPr lang="en-US" dirty="0" err="1"/>
              <a:t>perubahan</a:t>
            </a:r>
            <a:r>
              <a:rPr lang="en-US" dirty="0"/>
              <a:t> dan </a:t>
            </a:r>
            <a:r>
              <a:rPr lang="en-US" dirty="0" err="1"/>
              <a:t>histori</a:t>
            </a:r>
            <a:r>
              <a:rPr lang="en-US" dirty="0"/>
              <a:t> (</a:t>
            </a:r>
            <a:r>
              <a:rPr lang="en-US" dirty="0" err="1"/>
              <a:t>siapa</a:t>
            </a:r>
            <a:r>
              <a:rPr lang="en-US" dirty="0"/>
              <a:t> </a:t>
            </a:r>
            <a:r>
              <a:rPr lang="en-US" dirty="0" err="1"/>
              <a:t>mengubah</a:t>
            </a:r>
            <a:r>
              <a:rPr lang="en-US" dirty="0"/>
              <a:t> </a:t>
            </a:r>
            <a:r>
              <a:rPr lang="en-US" dirty="0" err="1"/>
              <a:t>apa</a:t>
            </a:r>
            <a:r>
              <a:rPr lang="en-US" dirty="0"/>
              <a:t> dan </a:t>
            </a:r>
            <a:r>
              <a:rPr lang="en-US" dirty="0" err="1"/>
              <a:t>kapan</a:t>
            </a:r>
            <a:r>
              <a:rPr lang="en-US" dirty="0"/>
              <a:t>)</a:t>
            </a:r>
          </a:p>
          <a:p>
            <a:pPr lvl="1"/>
            <a:r>
              <a:rPr lang="en-US" dirty="0" err="1"/>
              <a:t>Mempermudah</a:t>
            </a:r>
            <a:r>
              <a:rPr lang="en-US" dirty="0"/>
              <a:t> </a:t>
            </a:r>
            <a:r>
              <a:rPr lang="en-US" dirty="0" err="1"/>
              <a:t>kolaborasi</a:t>
            </a:r>
            <a:r>
              <a:rPr lang="en-US" dirty="0"/>
              <a:t> (</a:t>
            </a:r>
            <a:r>
              <a:rPr lang="en-US" dirty="0" err="1"/>
              <a:t>tidak</a:t>
            </a:r>
            <a:r>
              <a:rPr lang="en-US" dirty="0"/>
              <a:t> </a:t>
            </a:r>
            <a:r>
              <a:rPr lang="en-US" dirty="0" err="1"/>
              <a:t>perlu</a:t>
            </a:r>
            <a:r>
              <a:rPr lang="en-US" dirty="0"/>
              <a:t> 1 orang 1 folder)</a:t>
            </a:r>
          </a:p>
          <a:p>
            <a:pPr lvl="1"/>
            <a:r>
              <a:rPr lang="en-ID" dirty="0" err="1"/>
              <a:t>Mempermudah</a:t>
            </a:r>
            <a:r>
              <a:rPr lang="en-ID" dirty="0"/>
              <a:t> </a:t>
            </a:r>
            <a:r>
              <a:rPr lang="en-ID" dirty="0" err="1"/>
              <a:t>revisi</a:t>
            </a:r>
            <a:r>
              <a:rPr lang="en-ID" dirty="0"/>
              <a:t> (</a:t>
            </a:r>
            <a:r>
              <a:rPr lang="en-ID" dirty="0" err="1"/>
              <a:t>dibuat</a:t>
            </a:r>
            <a:r>
              <a:rPr lang="en-ID" dirty="0"/>
              <a:t> branch)</a:t>
            </a:r>
          </a:p>
          <a:p>
            <a:pPr lvl="1"/>
            <a:r>
              <a:rPr lang="en-ID" dirty="0" err="1"/>
              <a:t>Mempermudah</a:t>
            </a:r>
            <a:r>
              <a:rPr lang="en-ID" dirty="0"/>
              <a:t> rollback </a:t>
            </a:r>
            <a:r>
              <a:rPr lang="en-ID" dirty="0" err="1"/>
              <a:t>ke</a:t>
            </a:r>
            <a:r>
              <a:rPr lang="en-ID" dirty="0"/>
              <a:t> </a:t>
            </a:r>
            <a:r>
              <a:rPr lang="en-ID" dirty="0" err="1"/>
              <a:t>versi</a:t>
            </a:r>
            <a:r>
              <a:rPr lang="en-ID" dirty="0"/>
              <a:t> </a:t>
            </a:r>
            <a:r>
              <a:rPr lang="en-ID" dirty="0" err="1"/>
              <a:t>sebelumnya</a:t>
            </a:r>
            <a:r>
              <a:rPr lang="en-ID" dirty="0"/>
              <a:t> </a:t>
            </a:r>
            <a:r>
              <a:rPr lang="en-ID" dirty="0" err="1"/>
              <a:t>jika</a:t>
            </a:r>
            <a:r>
              <a:rPr lang="en-ID" dirty="0"/>
              <a:t> </a:t>
            </a:r>
            <a:r>
              <a:rPr lang="en-ID" dirty="0" err="1"/>
              <a:t>ada</a:t>
            </a:r>
            <a:r>
              <a:rPr lang="en-ID" dirty="0"/>
              <a:t> </a:t>
            </a:r>
            <a:r>
              <a:rPr lang="en-ID" dirty="0" err="1"/>
              <a:t>kendala</a:t>
            </a:r>
            <a:endParaRPr lang="en-ID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1A790F-F373-F290-5A40-60639A071E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D"/>
              <a:t>27/02/2026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BAA8C8-557B-99C7-DA03-E525B74D0E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D" dirty="0"/>
              <a:t>Git</a:t>
            </a:r>
          </a:p>
        </p:txBody>
      </p:sp>
      <p:pic>
        <p:nvPicPr>
          <p:cNvPr id="1030" name="Picture 6" descr="People - Free people icons">
            <a:extLst>
              <a:ext uri="{FF2B5EF4-FFF2-40B4-BE49-F238E27FC236}">
                <a16:creationId xmlns:a16="http://schemas.microsoft.com/office/drawing/2014/main" id="{7F40F19C-5128-2FA5-9CB1-46A057D6170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87861" y="3827207"/>
            <a:ext cx="2278626" cy="22786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AC1C105-DD55-2840-DE8C-6D6F61AD1FE2}"/>
              </a:ext>
            </a:extLst>
          </p:cNvPr>
          <p:cNvCxnSpPr/>
          <p:nvPr/>
        </p:nvCxnSpPr>
        <p:spPr>
          <a:xfrm flipH="1" flipV="1">
            <a:off x="4435577" y="4692445"/>
            <a:ext cx="776749" cy="27407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Content Placeholder 6">
            <a:extLst>
              <a:ext uri="{FF2B5EF4-FFF2-40B4-BE49-F238E27FC236}">
                <a16:creationId xmlns:a16="http://schemas.microsoft.com/office/drawing/2014/main" id="{3A0CA121-334A-CE15-A3C7-F1E32C167EC5}"/>
              </a:ext>
            </a:extLst>
          </p:cNvPr>
          <p:cNvSpPr txBox="1">
            <a:spLocks/>
          </p:cNvSpPr>
          <p:nvPr/>
        </p:nvSpPr>
        <p:spPr>
          <a:xfrm>
            <a:off x="3512574" y="4171668"/>
            <a:ext cx="1311377" cy="5696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 err="1"/>
              <a:t>MyApp</a:t>
            </a:r>
            <a:endParaRPr lang="en-ID" dirty="0"/>
          </a:p>
        </p:txBody>
      </p:sp>
      <p:sp>
        <p:nvSpPr>
          <p:cNvPr id="16" name="Content Placeholder 6">
            <a:extLst>
              <a:ext uri="{FF2B5EF4-FFF2-40B4-BE49-F238E27FC236}">
                <a16:creationId xmlns:a16="http://schemas.microsoft.com/office/drawing/2014/main" id="{CAC17F67-06B8-B6BE-F194-8372EA53ACCE}"/>
              </a:ext>
            </a:extLst>
          </p:cNvPr>
          <p:cNvSpPr txBox="1">
            <a:spLocks/>
          </p:cNvSpPr>
          <p:nvPr/>
        </p:nvSpPr>
        <p:spPr>
          <a:xfrm>
            <a:off x="3974690" y="5923269"/>
            <a:ext cx="1734163" cy="5696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 err="1"/>
              <a:t>MyApp</a:t>
            </a:r>
            <a:endParaRPr lang="en-ID" dirty="0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FFE0C9D7-EA6D-1C14-5056-710FAE54962F}"/>
              </a:ext>
            </a:extLst>
          </p:cNvPr>
          <p:cNvCxnSpPr>
            <a:cxnSpLocks/>
          </p:cNvCxnSpPr>
          <p:nvPr/>
        </p:nvCxnSpPr>
        <p:spPr>
          <a:xfrm flipH="1">
            <a:off x="5114003" y="5536226"/>
            <a:ext cx="913171" cy="56960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Content Placeholder 6">
            <a:extLst>
              <a:ext uri="{FF2B5EF4-FFF2-40B4-BE49-F238E27FC236}">
                <a16:creationId xmlns:a16="http://schemas.microsoft.com/office/drawing/2014/main" id="{5F10F5B6-53D2-869E-2B9D-17F5B5FCD964}"/>
              </a:ext>
            </a:extLst>
          </p:cNvPr>
          <p:cNvSpPr txBox="1">
            <a:spLocks/>
          </p:cNvSpPr>
          <p:nvPr/>
        </p:nvSpPr>
        <p:spPr>
          <a:xfrm>
            <a:off x="7274027" y="4911213"/>
            <a:ext cx="2853813" cy="5696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 err="1"/>
              <a:t>MyApp</a:t>
            </a:r>
            <a:endParaRPr lang="en-US" dirty="0"/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612365D3-6B4B-B14E-CC0B-925AC7AF3642}"/>
              </a:ext>
            </a:extLst>
          </p:cNvPr>
          <p:cNvCxnSpPr>
            <a:cxnSpLocks/>
          </p:cNvCxnSpPr>
          <p:nvPr/>
        </p:nvCxnSpPr>
        <p:spPr>
          <a:xfrm flipH="1" flipV="1">
            <a:off x="6785487" y="4990332"/>
            <a:ext cx="607142" cy="15885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8687053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27DB0B-6A6C-664A-AB20-724C4A2121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EDF2B38E-E3EB-8337-F80D-B13569BEA4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Kenapa</a:t>
            </a:r>
            <a:r>
              <a:rPr lang="en-US" dirty="0"/>
              <a:t> </a:t>
            </a:r>
            <a:r>
              <a:rPr lang="en-US" dirty="0" err="1"/>
              <a:t>ada</a:t>
            </a:r>
            <a:r>
              <a:rPr lang="en-US" dirty="0"/>
              <a:t> Git?</a:t>
            </a:r>
            <a:endParaRPr lang="en-ID" dirty="0"/>
          </a:p>
        </p:txBody>
      </p:sp>
      <p:pic>
        <p:nvPicPr>
          <p:cNvPr id="2050" name="Picture 2" descr="git log - Pretty Git branch graphs - Stack Overflow">
            <a:extLst>
              <a:ext uri="{FF2B5EF4-FFF2-40B4-BE49-F238E27FC236}">
                <a16:creationId xmlns:a16="http://schemas.microsoft.com/office/drawing/2014/main" id="{9B55A4DB-A7D5-6D5E-B234-22F04045A07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1690688"/>
            <a:ext cx="5085648" cy="38645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The MCU Multiverse Explained">
            <a:extLst>
              <a:ext uri="{FF2B5EF4-FFF2-40B4-BE49-F238E27FC236}">
                <a16:creationId xmlns:a16="http://schemas.microsoft.com/office/drawing/2014/main" id="{40BC10DC-A002-24DC-2237-E9D931995F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2448231"/>
            <a:ext cx="5124473" cy="28710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593652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6F7ECB-F2DF-FF91-691E-0C93C9889C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CB74CFDF-B81B-E0F8-D87C-75AE3EB34C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Alternative Git</a:t>
            </a:r>
            <a:endParaRPr lang="en-ID" dirty="0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3507EDE-C7C9-B394-ACA9-5CD49DC52E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SVN</a:t>
            </a:r>
          </a:p>
          <a:p>
            <a:r>
              <a:rPr lang="en-US" dirty="0"/>
              <a:t>Mercurial</a:t>
            </a:r>
          </a:p>
          <a:p>
            <a:r>
              <a:rPr lang="en-US" dirty="0"/>
              <a:t>Perforce</a:t>
            </a:r>
          </a:p>
          <a:p>
            <a:endParaRPr lang="en-US" dirty="0"/>
          </a:p>
          <a:p>
            <a:r>
              <a:rPr lang="en-US" dirty="0"/>
              <a:t>Have I used it? No</a:t>
            </a:r>
          </a:p>
          <a:p>
            <a:endParaRPr lang="en-US" dirty="0"/>
          </a:p>
          <a:p>
            <a:r>
              <a:rPr lang="en-US" dirty="0"/>
              <a:t>Git -&gt; most widely used</a:t>
            </a:r>
            <a:endParaRPr lang="en-ID" dirty="0"/>
          </a:p>
        </p:txBody>
      </p:sp>
    </p:spTree>
    <p:extLst>
      <p:ext uri="{BB962C8B-B14F-4D97-AF65-F5344CB8AC3E}">
        <p14:creationId xmlns:p14="http://schemas.microsoft.com/office/powerpoint/2010/main" val="31319717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4F149D-52A7-910F-A50C-43F3C9075B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Konsep</a:t>
            </a:r>
            <a:r>
              <a:rPr lang="en-US" dirty="0"/>
              <a:t> </a:t>
            </a:r>
            <a:r>
              <a:rPr lang="en-US" dirty="0" err="1"/>
              <a:t>dasar</a:t>
            </a:r>
            <a:r>
              <a:rPr lang="en-US" dirty="0"/>
              <a:t> Git: Terminology</a:t>
            </a:r>
            <a:endParaRPr lang="en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3AF32A-9D71-2D8D-BF88-A74E66CCD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Repository</a:t>
            </a:r>
          </a:p>
          <a:p>
            <a:pPr lvl="1"/>
            <a:r>
              <a:rPr lang="en-US" dirty="0" err="1"/>
              <a:t>Intinya</a:t>
            </a:r>
            <a:r>
              <a:rPr lang="en-US" dirty="0"/>
              <a:t>: Folder </a:t>
            </a:r>
            <a:r>
              <a:rPr lang="en-US" dirty="0" err="1"/>
              <a:t>utama</a:t>
            </a:r>
            <a:r>
              <a:rPr lang="en-US" dirty="0"/>
              <a:t> (root) </a:t>
            </a:r>
            <a:r>
              <a:rPr lang="en-US" dirty="0" err="1"/>
              <a:t>tempat</a:t>
            </a:r>
            <a:r>
              <a:rPr lang="en-US" dirty="0"/>
              <a:t> </a:t>
            </a:r>
            <a:r>
              <a:rPr lang="en-US" dirty="0" err="1"/>
              <a:t>kita</a:t>
            </a:r>
            <a:r>
              <a:rPr lang="en-US" dirty="0"/>
              <a:t> </a:t>
            </a:r>
            <a:r>
              <a:rPr lang="en-US" dirty="0" err="1"/>
              <a:t>bekerja</a:t>
            </a:r>
            <a:r>
              <a:rPr lang="en-US" dirty="0"/>
              <a:t> (</a:t>
            </a:r>
            <a:r>
              <a:rPr lang="en-US" dirty="0" err="1"/>
              <a:t>tidak</a:t>
            </a:r>
            <a:r>
              <a:rPr lang="en-US" dirty="0"/>
              <a:t> </a:t>
            </a:r>
            <a:r>
              <a:rPr lang="en-US" dirty="0" err="1"/>
              <a:t>sama</a:t>
            </a:r>
            <a:r>
              <a:rPr lang="en-US" dirty="0"/>
              <a:t> </a:t>
            </a:r>
            <a:r>
              <a:rPr lang="en-US" dirty="0" err="1"/>
              <a:t>dengan</a:t>
            </a:r>
            <a:r>
              <a:rPr lang="en-US" dirty="0"/>
              <a:t> folder </a:t>
            </a:r>
            <a:r>
              <a:rPr lang="en-US" dirty="0" err="1"/>
              <a:t>biasa</a:t>
            </a:r>
            <a:r>
              <a:rPr lang="en-US" dirty="0"/>
              <a:t>)</a:t>
            </a:r>
          </a:p>
          <a:p>
            <a:r>
              <a:rPr lang="en-US" dirty="0"/>
              <a:t>Commit</a:t>
            </a:r>
          </a:p>
          <a:p>
            <a:pPr lvl="1"/>
            <a:r>
              <a:rPr lang="en-US" dirty="0" err="1"/>
              <a:t>Intinya</a:t>
            </a:r>
            <a:r>
              <a:rPr lang="en-US" dirty="0"/>
              <a:t>: </a:t>
            </a:r>
            <a:r>
              <a:rPr lang="en-US" dirty="0" err="1"/>
              <a:t>seperti</a:t>
            </a:r>
            <a:r>
              <a:rPr lang="en-US" dirty="0"/>
              <a:t> checkpoint </a:t>
            </a:r>
            <a:r>
              <a:rPr lang="en-US" dirty="0" err="1"/>
              <a:t>dalam</a:t>
            </a:r>
            <a:r>
              <a:rPr lang="en-US" dirty="0"/>
              <a:t> game, save </a:t>
            </a:r>
            <a:r>
              <a:rPr lang="en-US" dirty="0" err="1"/>
              <a:t>editan</a:t>
            </a:r>
            <a:r>
              <a:rPr lang="en-US" dirty="0"/>
              <a:t> up to that time</a:t>
            </a:r>
          </a:p>
          <a:p>
            <a:r>
              <a:rPr lang="en-US" dirty="0"/>
              <a:t>Branch</a:t>
            </a:r>
          </a:p>
          <a:p>
            <a:pPr lvl="1"/>
            <a:r>
              <a:rPr lang="en-US" dirty="0" err="1"/>
              <a:t>Intinya</a:t>
            </a:r>
            <a:r>
              <a:rPr lang="en-US" dirty="0"/>
              <a:t>: </a:t>
            </a:r>
            <a:r>
              <a:rPr lang="en-US" dirty="0" err="1"/>
              <a:t>jalur</a:t>
            </a:r>
            <a:r>
              <a:rPr lang="en-US" dirty="0"/>
              <a:t> </a:t>
            </a:r>
            <a:r>
              <a:rPr lang="en-US" dirty="0" err="1"/>
              <a:t>kode</a:t>
            </a:r>
            <a:r>
              <a:rPr lang="en-US" dirty="0"/>
              <a:t> </a:t>
            </a:r>
            <a:r>
              <a:rPr lang="en-US" dirty="0" err="1"/>
              <a:t>terpisah</a:t>
            </a:r>
            <a:r>
              <a:rPr lang="en-US" dirty="0"/>
              <a:t>, </a:t>
            </a:r>
            <a:r>
              <a:rPr lang="en-US" dirty="0" err="1"/>
              <a:t>kodenya</a:t>
            </a:r>
            <a:r>
              <a:rPr lang="en-US" dirty="0"/>
              <a:t> </a:t>
            </a:r>
            <a:r>
              <a:rPr lang="en-US" dirty="0" err="1"/>
              <a:t>dibuat</a:t>
            </a:r>
            <a:r>
              <a:rPr lang="en-US" dirty="0"/>
              <a:t> </a:t>
            </a:r>
            <a:r>
              <a:rPr lang="en-US" dirty="0" err="1"/>
              <a:t>secara</a:t>
            </a:r>
            <a:r>
              <a:rPr lang="en-US" dirty="0"/>
              <a:t> multiverse</a:t>
            </a:r>
          </a:p>
          <a:p>
            <a:r>
              <a:rPr lang="en-US" dirty="0"/>
              <a:t>Merge</a:t>
            </a:r>
          </a:p>
          <a:p>
            <a:pPr lvl="1"/>
            <a:r>
              <a:rPr lang="en-US" dirty="0" err="1"/>
              <a:t>Intinya</a:t>
            </a:r>
            <a:r>
              <a:rPr lang="en-US" dirty="0"/>
              <a:t>: </a:t>
            </a:r>
            <a:r>
              <a:rPr lang="en-US" dirty="0" err="1"/>
              <a:t>menggabungkan</a:t>
            </a:r>
            <a:r>
              <a:rPr lang="en-US" dirty="0"/>
              <a:t> dua multiverse </a:t>
            </a:r>
            <a:r>
              <a:rPr lang="en-US" dirty="0" err="1"/>
              <a:t>codenya</a:t>
            </a:r>
            <a:endParaRPr lang="en-US" dirty="0"/>
          </a:p>
          <a:p>
            <a:r>
              <a:rPr lang="en-US" dirty="0"/>
              <a:t>Local dan Remote</a:t>
            </a:r>
          </a:p>
          <a:p>
            <a:pPr lvl="1"/>
            <a:r>
              <a:rPr lang="en-US" dirty="0"/>
              <a:t>Local: repository </a:t>
            </a:r>
            <a:r>
              <a:rPr lang="en-US" dirty="0" err="1"/>
              <a:t>berada</a:t>
            </a:r>
            <a:r>
              <a:rPr lang="en-US" dirty="0"/>
              <a:t> di PC </a:t>
            </a:r>
            <a:r>
              <a:rPr lang="en-US" dirty="0" err="1"/>
              <a:t>kita</a:t>
            </a:r>
            <a:endParaRPr lang="en-US" dirty="0"/>
          </a:p>
          <a:p>
            <a:pPr lvl="1"/>
            <a:r>
              <a:rPr lang="en-US" dirty="0"/>
              <a:t>Remote: repository </a:t>
            </a:r>
            <a:r>
              <a:rPr lang="en-US" dirty="0" err="1"/>
              <a:t>ada</a:t>
            </a:r>
            <a:r>
              <a:rPr lang="en-US" dirty="0"/>
              <a:t> di cloud </a:t>
            </a:r>
            <a:r>
              <a:rPr lang="en-US" dirty="0" err="1"/>
              <a:t>atau</a:t>
            </a:r>
            <a:r>
              <a:rPr lang="en-US" dirty="0"/>
              <a:t> Server</a:t>
            </a:r>
            <a:endParaRPr lang="en-ID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5F609D-3EA0-36C1-6672-260D22807C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D"/>
              <a:t>27/02/2026</a:t>
            </a:r>
            <a:endParaRPr lang="en-ID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6A1333-2452-A76D-1F34-FA18B86409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D"/>
              <a:t>Git</a:t>
            </a:r>
            <a:endParaRPr lang="en-ID" dirty="0"/>
          </a:p>
        </p:txBody>
      </p:sp>
    </p:spTree>
    <p:extLst>
      <p:ext uri="{BB962C8B-B14F-4D97-AF65-F5344CB8AC3E}">
        <p14:creationId xmlns:p14="http://schemas.microsoft.com/office/powerpoint/2010/main" val="326928793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C1AC67-049D-5259-9DB2-B390B361DE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5D96EB-4BFF-62FA-09B3-46C8A355EB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Konsep</a:t>
            </a:r>
            <a:r>
              <a:rPr lang="en-US" dirty="0"/>
              <a:t> </a:t>
            </a:r>
            <a:r>
              <a:rPr lang="en-US" dirty="0" err="1"/>
              <a:t>dasar</a:t>
            </a:r>
            <a:r>
              <a:rPr lang="en-US" dirty="0"/>
              <a:t> Git: Terminology</a:t>
            </a:r>
            <a:endParaRPr lang="en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A49360-23B2-E9B7-FE9D-D2CBAF67E0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Repository</a:t>
            </a:r>
          </a:p>
          <a:p>
            <a:pPr lvl="1"/>
            <a:r>
              <a:rPr lang="en-US" dirty="0" err="1"/>
              <a:t>Intinya</a:t>
            </a:r>
            <a:r>
              <a:rPr lang="en-US" dirty="0"/>
              <a:t>: Folder </a:t>
            </a:r>
            <a:r>
              <a:rPr lang="en-US" dirty="0" err="1"/>
              <a:t>utama</a:t>
            </a:r>
            <a:r>
              <a:rPr lang="en-US" dirty="0"/>
              <a:t> (root) </a:t>
            </a:r>
            <a:r>
              <a:rPr lang="en-US" dirty="0" err="1"/>
              <a:t>tempat</a:t>
            </a:r>
            <a:r>
              <a:rPr lang="en-US" dirty="0"/>
              <a:t> </a:t>
            </a:r>
            <a:r>
              <a:rPr lang="en-US" dirty="0" err="1"/>
              <a:t>kita</a:t>
            </a:r>
            <a:r>
              <a:rPr lang="en-US" dirty="0"/>
              <a:t> </a:t>
            </a:r>
            <a:r>
              <a:rPr lang="en-US" dirty="0" err="1"/>
              <a:t>bekerja</a:t>
            </a:r>
            <a:r>
              <a:rPr lang="en-US" dirty="0"/>
              <a:t> (</a:t>
            </a:r>
            <a:r>
              <a:rPr lang="en-US" dirty="0" err="1"/>
              <a:t>tidak</a:t>
            </a:r>
            <a:r>
              <a:rPr lang="en-US" dirty="0"/>
              <a:t> </a:t>
            </a:r>
            <a:r>
              <a:rPr lang="en-US" dirty="0" err="1"/>
              <a:t>sama</a:t>
            </a:r>
            <a:r>
              <a:rPr lang="en-US" dirty="0"/>
              <a:t> </a:t>
            </a:r>
            <a:r>
              <a:rPr lang="en-US" dirty="0" err="1"/>
              <a:t>dengan</a:t>
            </a:r>
            <a:r>
              <a:rPr lang="en-US" dirty="0"/>
              <a:t> folder </a:t>
            </a:r>
            <a:r>
              <a:rPr lang="en-US" dirty="0" err="1"/>
              <a:t>biasa</a:t>
            </a:r>
            <a:r>
              <a:rPr lang="en-US" dirty="0"/>
              <a:t>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C6C06E-5839-961F-5EB4-236AF692C7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D"/>
              <a:t>27/02/2026</a:t>
            </a:r>
            <a:endParaRPr lang="en-ID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7B24F7-B0DE-4327-98CF-1B4E2D3B73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D"/>
              <a:t>Git</a:t>
            </a:r>
            <a:endParaRPr lang="en-ID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A16E0CF-A82C-AE9C-AB16-4A8D6F6768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6977" y="3151188"/>
            <a:ext cx="4190934" cy="237222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8F49BAAD-7444-7578-16A3-BC4839445D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58347" y="3142289"/>
            <a:ext cx="5494907" cy="238112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8687448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28D30E-35D7-71D0-C203-6A30AD32E9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AB9709-A26B-ACA4-445A-0BB158CBF0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Konsep</a:t>
            </a:r>
            <a:r>
              <a:rPr lang="en-US" dirty="0"/>
              <a:t> </a:t>
            </a:r>
            <a:r>
              <a:rPr lang="en-US" dirty="0" err="1"/>
              <a:t>dasar</a:t>
            </a:r>
            <a:r>
              <a:rPr lang="en-US" dirty="0"/>
              <a:t> Git: Terminology</a:t>
            </a:r>
            <a:endParaRPr lang="en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92F5A5-7282-802E-7338-B663829686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114220"/>
          </a:xfrm>
        </p:spPr>
        <p:txBody>
          <a:bodyPr>
            <a:normAutofit/>
          </a:bodyPr>
          <a:lstStyle/>
          <a:p>
            <a:r>
              <a:rPr lang="en-US" dirty="0"/>
              <a:t>Commit</a:t>
            </a:r>
          </a:p>
          <a:p>
            <a:pPr lvl="1"/>
            <a:r>
              <a:rPr lang="en-US" dirty="0" err="1"/>
              <a:t>Intinya</a:t>
            </a:r>
            <a:r>
              <a:rPr lang="en-US" dirty="0"/>
              <a:t>: </a:t>
            </a:r>
            <a:r>
              <a:rPr lang="en-US" dirty="0" err="1"/>
              <a:t>seperti</a:t>
            </a:r>
            <a:r>
              <a:rPr lang="en-US" dirty="0"/>
              <a:t> checkpoint </a:t>
            </a:r>
            <a:r>
              <a:rPr lang="en-US" dirty="0" err="1"/>
              <a:t>dalam</a:t>
            </a:r>
            <a:r>
              <a:rPr lang="en-US" dirty="0"/>
              <a:t> game, save </a:t>
            </a:r>
            <a:r>
              <a:rPr lang="en-US" dirty="0" err="1"/>
              <a:t>editan</a:t>
            </a:r>
            <a:r>
              <a:rPr lang="en-US" dirty="0"/>
              <a:t> up to that time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045E12-7C57-1BA2-C591-CCD3374B06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D"/>
              <a:t>27/02/2026</a:t>
            </a:r>
            <a:endParaRPr lang="en-ID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0EF5C4-3E61-0FAE-D594-EAD41232CD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D"/>
              <a:t>Git</a:t>
            </a:r>
            <a:endParaRPr lang="en-ID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EFE73B3-9753-43ED-D99B-82F2C8C3A9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85104" y="2734232"/>
            <a:ext cx="6029632" cy="3431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639285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6BA167-C303-5F5E-F197-74E7C2BA11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Git Workflow</a:t>
            </a:r>
            <a:endParaRPr lang="en-ID" dirty="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BDBD67E3-4A8E-62A4-8A71-749ADAD111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85936" y="1825625"/>
            <a:ext cx="4667864" cy="4351338"/>
          </a:xfrm>
        </p:spPr>
        <p:txBody>
          <a:bodyPr/>
          <a:lstStyle/>
          <a:p>
            <a:r>
              <a:rPr lang="en-US" dirty="0"/>
              <a:t>Workflow </a:t>
            </a:r>
            <a:r>
              <a:rPr lang="en-US" dirty="0" err="1"/>
              <a:t>dasar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Git branch (</a:t>
            </a:r>
            <a:r>
              <a:rPr lang="en-US" dirty="0" err="1"/>
              <a:t>membuat</a:t>
            </a:r>
            <a:r>
              <a:rPr lang="en-US" dirty="0"/>
              <a:t> branch </a:t>
            </a:r>
            <a:r>
              <a:rPr lang="en-US" dirty="0" err="1"/>
              <a:t>baru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&lt;edit file&gt;</a:t>
            </a:r>
          </a:p>
          <a:p>
            <a:pPr lvl="1"/>
            <a:r>
              <a:rPr lang="en-US" dirty="0"/>
              <a:t>Git add (</a:t>
            </a:r>
            <a:r>
              <a:rPr lang="en-US" dirty="0" err="1"/>
              <a:t>mempersiapkan</a:t>
            </a:r>
            <a:r>
              <a:rPr lang="en-US" dirty="0"/>
              <a:t> checkpoint)</a:t>
            </a:r>
          </a:p>
          <a:p>
            <a:pPr lvl="1"/>
            <a:r>
              <a:rPr lang="en-US" dirty="0"/>
              <a:t>Git commit (me-save checkpoint + message)</a:t>
            </a:r>
          </a:p>
          <a:p>
            <a:pPr lvl="1"/>
            <a:r>
              <a:rPr lang="en-US" dirty="0"/>
              <a:t>Git push</a:t>
            </a:r>
          </a:p>
          <a:p>
            <a:pPr lvl="1"/>
            <a:r>
              <a:rPr lang="en-US" dirty="0"/>
              <a:t>Git merge</a:t>
            </a:r>
            <a:endParaRPr lang="en-ID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330707-08DF-C89C-AE04-12E353599E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D"/>
              <a:t>27/02/2026</a:t>
            </a:r>
            <a:endParaRPr lang="en-ID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51B2E7-0C60-59F2-2B89-7BFFCE50BE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D"/>
              <a:t>Git</a:t>
            </a:r>
            <a:endParaRPr lang="en-ID" dirty="0"/>
          </a:p>
        </p:txBody>
      </p:sp>
      <p:pic>
        <p:nvPicPr>
          <p:cNvPr id="3080" name="Picture 8" descr="Mastering Git Workflows: The Enterprise Developer's Guide to Shipping Code  That Actually Works | by JIN | DevOps.dev">
            <a:extLst>
              <a:ext uri="{FF2B5EF4-FFF2-40B4-BE49-F238E27FC236}">
                <a16:creationId xmlns:a16="http://schemas.microsoft.com/office/drawing/2014/main" id="{C0A71031-55B8-19D2-ADB5-F0398F7F52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2168" y="1196117"/>
            <a:ext cx="5933768" cy="47655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2509262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1771FA-5067-1EB5-654B-8E7BE8FEAD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569334-3AEC-5802-4202-60D6DAA48D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Kenapa</a:t>
            </a:r>
            <a:r>
              <a:rPr lang="en-US" dirty="0"/>
              <a:t> workflow dan branch </a:t>
            </a:r>
            <a:r>
              <a:rPr lang="en-US" dirty="0" err="1"/>
              <a:t>penting</a:t>
            </a:r>
            <a:r>
              <a:rPr lang="en-US" dirty="0"/>
              <a:t>?</a:t>
            </a:r>
            <a:endParaRPr lang="en-ID" dirty="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60636958-CE02-9E86-BC80-6242507295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US" dirty="0" err="1"/>
              <a:t>Perubahan</a:t>
            </a:r>
            <a:r>
              <a:rPr lang="en-US" dirty="0"/>
              <a:t> </a:t>
            </a:r>
            <a:r>
              <a:rPr lang="en-US" dirty="0" err="1"/>
              <a:t>terisolasi</a:t>
            </a:r>
            <a:r>
              <a:rPr lang="en-US" dirty="0"/>
              <a:t> (</a:t>
            </a:r>
            <a:r>
              <a:rPr lang="en-US" dirty="0" err="1"/>
              <a:t>dengan</a:t>
            </a:r>
            <a:r>
              <a:rPr lang="en-US" dirty="0"/>
              <a:t> branch)</a:t>
            </a:r>
          </a:p>
          <a:p>
            <a:r>
              <a:rPr lang="en-US" dirty="0" err="1"/>
              <a:t>Memudahkan</a:t>
            </a:r>
            <a:r>
              <a:rPr lang="en-US" dirty="0"/>
              <a:t> review (</a:t>
            </a:r>
            <a:r>
              <a:rPr lang="en-US" dirty="0" err="1"/>
              <a:t>dengan</a:t>
            </a:r>
            <a:r>
              <a:rPr lang="en-US" dirty="0"/>
              <a:t> pull request, merge request)</a:t>
            </a:r>
          </a:p>
          <a:p>
            <a:r>
              <a:rPr lang="en-US" dirty="0" err="1"/>
              <a:t>Mencegah</a:t>
            </a:r>
            <a:r>
              <a:rPr lang="en-US" dirty="0"/>
              <a:t> </a:t>
            </a:r>
            <a:r>
              <a:rPr lang="en-US" dirty="0" err="1"/>
              <a:t>konflik</a:t>
            </a:r>
            <a:r>
              <a:rPr lang="en-US" dirty="0"/>
              <a:t> (dua orang </a:t>
            </a:r>
            <a:r>
              <a:rPr lang="en-US" dirty="0" err="1"/>
              <a:t>ngedit</a:t>
            </a:r>
            <a:r>
              <a:rPr lang="en-US" dirty="0"/>
              <a:t> 1 file yang </a:t>
            </a:r>
            <a:r>
              <a:rPr lang="en-US" dirty="0" err="1"/>
              <a:t>sama</a:t>
            </a:r>
            <a:r>
              <a:rPr lang="en-US" dirty="0"/>
              <a:t>)</a:t>
            </a:r>
          </a:p>
          <a:p>
            <a:r>
              <a:rPr lang="en-US" dirty="0" err="1"/>
              <a:t>Memudahkan</a:t>
            </a:r>
            <a:r>
              <a:rPr lang="en-US" dirty="0"/>
              <a:t> </a:t>
            </a:r>
            <a:r>
              <a:rPr lang="en-US" dirty="0" err="1"/>
              <a:t>integrasi</a:t>
            </a:r>
            <a:r>
              <a:rPr lang="en-US" dirty="0"/>
              <a:t> (git merge, instead of copy-paste)</a:t>
            </a:r>
            <a:endParaRPr lang="en-ID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EB55CD-EBFF-8A33-F9B1-583A7E75F8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D"/>
              <a:t>27/02/2026</a:t>
            </a:r>
            <a:endParaRPr lang="en-ID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1FF164-94D6-2602-1252-049AABDA90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D"/>
              <a:t>Git</a:t>
            </a:r>
            <a:endParaRPr lang="en-ID" dirty="0"/>
          </a:p>
        </p:txBody>
      </p:sp>
    </p:spTree>
    <p:extLst>
      <p:ext uri="{BB962C8B-B14F-4D97-AF65-F5344CB8AC3E}">
        <p14:creationId xmlns:p14="http://schemas.microsoft.com/office/powerpoint/2010/main" val="179482405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FEC534-FFBE-6F7D-5928-ED8E91F0F5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005A71-940C-66BE-3C33-D8B5EEB84A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D"/>
              <a:t>27/02/2026</a:t>
            </a:r>
            <a:endParaRPr lang="en-ID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46DC99-4BBF-5C24-AACF-6CF9C7B116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D"/>
              <a:t>Git</a:t>
            </a:r>
            <a:endParaRPr lang="en-ID" dirty="0"/>
          </a:p>
        </p:txBody>
      </p:sp>
      <p:sp>
        <p:nvSpPr>
          <p:cNvPr id="3" name="AutoShape 2" descr="Generated image">
            <a:extLst>
              <a:ext uri="{FF2B5EF4-FFF2-40B4-BE49-F238E27FC236}">
                <a16:creationId xmlns:a16="http://schemas.microsoft.com/office/drawing/2014/main" id="{665529A8-3CD9-B8AE-7A00-8A4006C1C0C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952500" y="0"/>
            <a:ext cx="10287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D"/>
          </a:p>
        </p:txBody>
      </p:sp>
      <p:sp>
        <p:nvSpPr>
          <p:cNvPr id="6" name="AutoShape 4" descr="Generated image">
            <a:extLst>
              <a:ext uri="{FF2B5EF4-FFF2-40B4-BE49-F238E27FC236}">
                <a16:creationId xmlns:a16="http://schemas.microsoft.com/office/drawing/2014/main" id="{29846579-E94C-E34E-B3EB-CA3BC37230F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104900" y="2349910"/>
            <a:ext cx="6990735" cy="46604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D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D38DF29-CBF3-1E84-406B-BED11337C1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6165" y="1577887"/>
            <a:ext cx="5771706" cy="34745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406686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81506F-2AE2-D854-8570-B19E58AB8D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319396-A51F-D8B5-8C22-38D6E2BF31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 git command (demo)</a:t>
            </a:r>
            <a:endParaRPr lang="en-ID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C1643C-03F1-4F8E-4C49-EA3A4BBEF4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D"/>
              <a:t>27/02/2026</a:t>
            </a:r>
            <a:endParaRPr lang="en-ID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9D81E0-B52F-3FA3-A58B-1A52423555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D"/>
              <a:t>Git</a:t>
            </a:r>
            <a:endParaRPr lang="en-ID" dirty="0"/>
          </a:p>
        </p:txBody>
      </p:sp>
      <p:sp>
        <p:nvSpPr>
          <p:cNvPr id="8" name="Content Placeholder 8">
            <a:extLst>
              <a:ext uri="{FF2B5EF4-FFF2-40B4-BE49-F238E27FC236}">
                <a16:creationId xmlns:a16="http://schemas.microsoft.com/office/drawing/2014/main" id="{C4EC00D8-EAB5-D046-2F97-E908285A72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 fontScale="70000" lnSpcReduction="20000"/>
          </a:bodyPr>
          <a:lstStyle/>
          <a:p>
            <a:r>
              <a:rPr lang="en-ID" dirty="0"/>
              <a:t>`git </a:t>
            </a:r>
            <a:r>
              <a:rPr lang="en-ID" dirty="0" err="1"/>
              <a:t>init</a:t>
            </a:r>
            <a:r>
              <a:rPr lang="en-ID" dirty="0"/>
              <a:t>` </a:t>
            </a:r>
            <a:r>
              <a:rPr lang="en-ID" dirty="0" err="1"/>
              <a:t>membuat</a:t>
            </a:r>
            <a:r>
              <a:rPr lang="en-ID" dirty="0"/>
              <a:t> repo git </a:t>
            </a:r>
            <a:r>
              <a:rPr lang="en-ID" dirty="0" err="1"/>
              <a:t>baru</a:t>
            </a:r>
            <a:r>
              <a:rPr lang="en-ID" dirty="0"/>
              <a:t> di folder </a:t>
            </a:r>
            <a:r>
              <a:rPr lang="en-ID" dirty="0" err="1"/>
              <a:t>saat</a:t>
            </a:r>
            <a:r>
              <a:rPr lang="en-ID" dirty="0"/>
              <a:t> </a:t>
            </a:r>
            <a:r>
              <a:rPr lang="en-ID" dirty="0" err="1"/>
              <a:t>ini</a:t>
            </a:r>
            <a:r>
              <a:rPr lang="en-ID" dirty="0"/>
              <a:t>.</a:t>
            </a:r>
          </a:p>
          <a:p>
            <a:r>
              <a:rPr lang="en-ID" dirty="0"/>
              <a:t>`git clone &lt;URL&gt;` </a:t>
            </a:r>
            <a:r>
              <a:rPr lang="en-ID" dirty="0" err="1"/>
              <a:t>menyalin</a:t>
            </a:r>
            <a:r>
              <a:rPr lang="en-ID" dirty="0"/>
              <a:t> repo </a:t>
            </a:r>
            <a:r>
              <a:rPr lang="en-ID" dirty="0" err="1"/>
              <a:t>dari</a:t>
            </a:r>
            <a:r>
              <a:rPr lang="en-ID" dirty="0"/>
              <a:t> remote </a:t>
            </a:r>
            <a:r>
              <a:rPr lang="en-ID" dirty="0" err="1"/>
              <a:t>ke</a:t>
            </a:r>
            <a:r>
              <a:rPr lang="en-ID" dirty="0"/>
              <a:t> </a:t>
            </a:r>
            <a:r>
              <a:rPr lang="en-ID" dirty="0" err="1"/>
              <a:t>lokal</a:t>
            </a:r>
            <a:r>
              <a:rPr lang="en-ID" dirty="0"/>
              <a:t>.</a:t>
            </a:r>
          </a:p>
          <a:p>
            <a:r>
              <a:rPr lang="en-ID" dirty="0"/>
              <a:t>`git status` </a:t>
            </a:r>
            <a:r>
              <a:rPr lang="en-ID" dirty="0" err="1"/>
              <a:t>melihat</a:t>
            </a:r>
            <a:r>
              <a:rPr lang="en-ID" dirty="0"/>
              <a:t> status </a:t>
            </a:r>
            <a:r>
              <a:rPr lang="en-ID" dirty="0" err="1"/>
              <a:t>perubahan</a:t>
            </a:r>
            <a:r>
              <a:rPr lang="en-ID" dirty="0"/>
              <a:t> file.</a:t>
            </a:r>
          </a:p>
          <a:p>
            <a:r>
              <a:rPr lang="en-ID" dirty="0"/>
              <a:t>`git add &lt;file&gt;` </a:t>
            </a:r>
            <a:r>
              <a:rPr lang="en-ID" dirty="0" err="1"/>
              <a:t>memasukkan</a:t>
            </a:r>
            <a:r>
              <a:rPr lang="en-ID" dirty="0"/>
              <a:t> </a:t>
            </a:r>
            <a:r>
              <a:rPr lang="en-ID" dirty="0" err="1"/>
              <a:t>perubahan</a:t>
            </a:r>
            <a:r>
              <a:rPr lang="en-ID" dirty="0"/>
              <a:t> </a:t>
            </a:r>
            <a:r>
              <a:rPr lang="en-ID" dirty="0" err="1"/>
              <a:t>ke</a:t>
            </a:r>
            <a:r>
              <a:rPr lang="en-ID" dirty="0"/>
              <a:t> staging.</a:t>
            </a:r>
          </a:p>
          <a:p>
            <a:r>
              <a:rPr lang="en-ID" dirty="0"/>
              <a:t>`git commit -m "</a:t>
            </a:r>
            <a:r>
              <a:rPr lang="en-ID" dirty="0" err="1"/>
              <a:t>pesan</a:t>
            </a:r>
            <a:r>
              <a:rPr lang="en-ID" dirty="0"/>
              <a:t>"` </a:t>
            </a:r>
            <a:r>
              <a:rPr lang="en-ID" dirty="0" err="1"/>
              <a:t>menyimpan</a:t>
            </a:r>
            <a:r>
              <a:rPr lang="en-ID" dirty="0"/>
              <a:t> snapshot </a:t>
            </a:r>
            <a:r>
              <a:rPr lang="en-ID" dirty="0" err="1"/>
              <a:t>perubahan</a:t>
            </a:r>
            <a:r>
              <a:rPr lang="en-ID" dirty="0"/>
              <a:t>.</a:t>
            </a:r>
          </a:p>
          <a:p>
            <a:r>
              <a:rPr lang="en-ID" dirty="0"/>
              <a:t>`git log` </a:t>
            </a:r>
            <a:r>
              <a:rPr lang="en-ID" dirty="0" err="1"/>
              <a:t>menampilkan</a:t>
            </a:r>
            <a:r>
              <a:rPr lang="en-ID" dirty="0"/>
              <a:t> </a:t>
            </a:r>
            <a:r>
              <a:rPr lang="en-ID" dirty="0" err="1"/>
              <a:t>histori</a:t>
            </a:r>
            <a:r>
              <a:rPr lang="en-ID" dirty="0"/>
              <a:t> commit.</a:t>
            </a:r>
          </a:p>
          <a:p>
            <a:r>
              <a:rPr lang="en-ID" dirty="0"/>
              <a:t>`git branch` </a:t>
            </a:r>
            <a:r>
              <a:rPr lang="en-ID" dirty="0" err="1"/>
              <a:t>membuat</a:t>
            </a:r>
            <a:r>
              <a:rPr lang="en-ID" dirty="0"/>
              <a:t> </a:t>
            </a:r>
            <a:r>
              <a:rPr lang="en-ID" dirty="0" err="1"/>
              <a:t>atau</a:t>
            </a:r>
            <a:r>
              <a:rPr lang="en-ID" dirty="0"/>
              <a:t> </a:t>
            </a:r>
            <a:r>
              <a:rPr lang="en-ID" dirty="0" err="1"/>
              <a:t>melihat</a:t>
            </a:r>
            <a:r>
              <a:rPr lang="en-ID" dirty="0"/>
              <a:t> daftar branch.</a:t>
            </a:r>
          </a:p>
          <a:p>
            <a:r>
              <a:rPr lang="en-ID" dirty="0"/>
              <a:t>`git checkout` </a:t>
            </a:r>
            <a:r>
              <a:rPr lang="en-ID" dirty="0" err="1"/>
              <a:t>berpindah</a:t>
            </a:r>
            <a:r>
              <a:rPr lang="en-ID" dirty="0"/>
              <a:t> branch</a:t>
            </a:r>
          </a:p>
          <a:p>
            <a:r>
              <a:rPr lang="en-ID" dirty="0"/>
              <a:t>`git switch &lt;branch&gt;` </a:t>
            </a:r>
            <a:r>
              <a:rPr lang="en-ID" dirty="0" err="1"/>
              <a:t>berpindah</a:t>
            </a:r>
            <a:r>
              <a:rPr lang="en-ID" dirty="0"/>
              <a:t> </a:t>
            </a:r>
            <a:r>
              <a:rPr lang="en-ID" dirty="0" err="1"/>
              <a:t>ke</a:t>
            </a:r>
            <a:r>
              <a:rPr lang="en-ID" dirty="0"/>
              <a:t> branch </a:t>
            </a:r>
            <a:r>
              <a:rPr lang="en-ID" dirty="0" err="1"/>
              <a:t>tertentu</a:t>
            </a:r>
            <a:r>
              <a:rPr lang="en-ID" dirty="0"/>
              <a:t>.</a:t>
            </a:r>
          </a:p>
          <a:p>
            <a:r>
              <a:rPr lang="en-ID" dirty="0"/>
              <a:t>`git merge &lt;branch&gt;` </a:t>
            </a:r>
            <a:r>
              <a:rPr lang="en-ID" dirty="0" err="1"/>
              <a:t>menggabungkan</a:t>
            </a:r>
            <a:r>
              <a:rPr lang="en-ID" dirty="0"/>
              <a:t> branch </a:t>
            </a:r>
            <a:r>
              <a:rPr lang="en-ID" dirty="0" err="1"/>
              <a:t>ke</a:t>
            </a:r>
            <a:r>
              <a:rPr lang="en-ID" dirty="0"/>
              <a:t> branch </a:t>
            </a:r>
            <a:r>
              <a:rPr lang="en-ID" dirty="0" err="1"/>
              <a:t>aktif</a:t>
            </a:r>
            <a:r>
              <a:rPr lang="en-ID" dirty="0"/>
              <a:t>.</a:t>
            </a:r>
          </a:p>
          <a:p>
            <a:r>
              <a:rPr lang="en-ID" dirty="0"/>
              <a:t>`git pull` </a:t>
            </a:r>
            <a:r>
              <a:rPr lang="en-ID" dirty="0" err="1"/>
              <a:t>mengambil</a:t>
            </a:r>
            <a:r>
              <a:rPr lang="en-ID" dirty="0"/>
              <a:t> </a:t>
            </a:r>
            <a:r>
              <a:rPr lang="en-ID" dirty="0" err="1"/>
              <a:t>perubahan</a:t>
            </a:r>
            <a:r>
              <a:rPr lang="en-ID" dirty="0"/>
              <a:t> </a:t>
            </a:r>
            <a:r>
              <a:rPr lang="en-ID" dirty="0" err="1"/>
              <a:t>dari</a:t>
            </a:r>
            <a:r>
              <a:rPr lang="en-ID" dirty="0"/>
              <a:t> remote. (download patch </a:t>
            </a:r>
            <a:r>
              <a:rPr lang="en-ID" dirty="0" err="1"/>
              <a:t>terbaru</a:t>
            </a:r>
            <a:r>
              <a:rPr lang="en-ID" dirty="0"/>
              <a:t>)</a:t>
            </a:r>
          </a:p>
          <a:p>
            <a:r>
              <a:rPr lang="en-ID" dirty="0"/>
              <a:t>`git push` </a:t>
            </a:r>
            <a:r>
              <a:rPr lang="en-ID" dirty="0" err="1"/>
              <a:t>mengirim</a:t>
            </a:r>
            <a:r>
              <a:rPr lang="en-ID" dirty="0"/>
              <a:t> update </a:t>
            </a:r>
            <a:r>
              <a:rPr lang="en-ID" dirty="0" err="1"/>
              <a:t>lokal</a:t>
            </a:r>
            <a:r>
              <a:rPr lang="en-ID" dirty="0"/>
              <a:t> </a:t>
            </a:r>
            <a:r>
              <a:rPr lang="en-ID" dirty="0" err="1"/>
              <a:t>ke</a:t>
            </a:r>
            <a:r>
              <a:rPr lang="en-ID" dirty="0"/>
              <a:t> remote. (</a:t>
            </a:r>
            <a:r>
              <a:rPr lang="en-ID" dirty="0" err="1"/>
              <a:t>seperti</a:t>
            </a:r>
            <a:r>
              <a:rPr lang="en-ID" dirty="0"/>
              <a:t> upload </a:t>
            </a:r>
            <a:r>
              <a:rPr lang="en-ID" dirty="0" err="1"/>
              <a:t>ke</a:t>
            </a:r>
            <a:r>
              <a:rPr lang="en-ID" dirty="0"/>
              <a:t> </a:t>
            </a:r>
            <a:r>
              <a:rPr lang="en-ID" dirty="0" err="1"/>
              <a:t>Gdrive</a:t>
            </a:r>
            <a:r>
              <a:rPr lang="en-ID" dirty="0"/>
              <a:t>)</a:t>
            </a:r>
            <a:br>
              <a:rPr lang="en-ID" dirty="0"/>
            </a:br>
            <a:endParaRPr lang="en-ID" dirty="0"/>
          </a:p>
          <a:p>
            <a:pPr marL="0" indent="0">
              <a:buNone/>
            </a:pPr>
            <a:endParaRPr lang="en-ID" dirty="0"/>
          </a:p>
        </p:txBody>
      </p:sp>
    </p:spTree>
    <p:extLst>
      <p:ext uri="{BB962C8B-B14F-4D97-AF65-F5344CB8AC3E}">
        <p14:creationId xmlns:p14="http://schemas.microsoft.com/office/powerpoint/2010/main" val="104751221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20AC13-A5D7-B300-83E7-31C492092F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Apakah </a:t>
            </a:r>
            <a:r>
              <a:rPr lang="en-US" dirty="0" err="1"/>
              <a:t>harus</a:t>
            </a:r>
            <a:r>
              <a:rPr lang="en-US" dirty="0"/>
              <a:t> </a:t>
            </a:r>
            <a:r>
              <a:rPr lang="en-US" dirty="0" err="1"/>
              <a:t>selalu</a:t>
            </a:r>
            <a:r>
              <a:rPr lang="en-US" dirty="0"/>
              <a:t> </a:t>
            </a:r>
            <a:r>
              <a:rPr lang="en-US" dirty="0" err="1"/>
              <a:t>dihafal</a:t>
            </a:r>
            <a:r>
              <a:rPr lang="en-US" dirty="0"/>
              <a:t>? </a:t>
            </a:r>
            <a:r>
              <a:rPr lang="en-US" dirty="0" err="1"/>
              <a:t>Ngga</a:t>
            </a:r>
            <a:r>
              <a:rPr lang="en-US" dirty="0"/>
              <a:t> juga</a:t>
            </a:r>
            <a:endParaRPr lang="en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6D4E5B-5EA2-F4AE-4E93-6893797E0E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770091"/>
          </a:xfrm>
        </p:spPr>
        <p:txBody>
          <a:bodyPr/>
          <a:lstStyle/>
          <a:p>
            <a:r>
              <a:rPr lang="en-US" dirty="0"/>
              <a:t>Selain Git Cli, </a:t>
            </a:r>
            <a:r>
              <a:rPr lang="en-US" dirty="0" err="1"/>
              <a:t>bisa</a:t>
            </a:r>
            <a:r>
              <a:rPr lang="en-US" dirty="0"/>
              <a:t> </a:t>
            </a:r>
            <a:r>
              <a:rPr lang="en-US" dirty="0" err="1"/>
              <a:t>pakai</a:t>
            </a:r>
            <a:r>
              <a:rPr lang="en-US" dirty="0"/>
              <a:t> </a:t>
            </a:r>
            <a:r>
              <a:rPr lang="en-US" dirty="0" err="1"/>
              <a:t>github</a:t>
            </a:r>
            <a:r>
              <a:rPr lang="en-US" dirty="0"/>
              <a:t> desktop </a:t>
            </a:r>
            <a:r>
              <a:rPr lang="en-US" dirty="0" err="1"/>
              <a:t>atau</a:t>
            </a:r>
            <a:r>
              <a:rPr lang="en-US" dirty="0"/>
              <a:t> integrated </a:t>
            </a:r>
            <a:r>
              <a:rPr lang="en-US" dirty="0" err="1"/>
              <a:t>ke</a:t>
            </a:r>
            <a:r>
              <a:rPr lang="en-US" dirty="0"/>
              <a:t> IDE kalian</a:t>
            </a:r>
            <a:endParaRPr lang="en-ID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6C13F5-049F-2785-A9FC-6BA30BEE08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D"/>
              <a:t>27/02/2026</a:t>
            </a:r>
            <a:endParaRPr lang="en-ID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95BD21-1083-8739-4EF1-298366253A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D"/>
              <a:t>Git</a:t>
            </a:r>
            <a:endParaRPr lang="en-ID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EC2F833-D9E3-594C-1DD0-AB20BAB090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0194" y="2730653"/>
            <a:ext cx="5599364" cy="216734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D1AC52D-6288-A83F-BC07-38045D97CE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826" y="2730653"/>
            <a:ext cx="5109080" cy="2907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755809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CB9F3F-2359-BCB5-92B5-A4703E2460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BAFE4B-DDC2-AA06-66D5-1B585CF47A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Praktek</a:t>
            </a:r>
            <a:endParaRPr lang="en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7CF3EE-8400-042C-6294-74394135EB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3002014"/>
          </a:xfrm>
        </p:spPr>
        <p:txBody>
          <a:bodyPr>
            <a:normAutofit/>
          </a:bodyPr>
          <a:lstStyle/>
          <a:p>
            <a:r>
              <a:rPr lang="en-US" dirty="0"/>
              <a:t>Git clone </a:t>
            </a:r>
            <a:r>
              <a:rPr lang="en-US" dirty="0">
                <a:hlinkClick r:id="rId2"/>
              </a:rPr>
              <a:t>https://github.com/RayWP/MyApp-demo</a:t>
            </a:r>
            <a:endParaRPr lang="en-US" dirty="0"/>
          </a:p>
          <a:p>
            <a:r>
              <a:rPr lang="en-US" dirty="0"/>
              <a:t>Git checkout –b “</a:t>
            </a:r>
            <a:r>
              <a:rPr lang="en-US" dirty="0" err="1"/>
              <a:t>my_branch</a:t>
            </a:r>
            <a:r>
              <a:rPr lang="en-US" dirty="0"/>
              <a:t>”</a:t>
            </a:r>
          </a:p>
          <a:p>
            <a:r>
              <a:rPr lang="en-US" dirty="0"/>
              <a:t>(</a:t>
            </a:r>
            <a:r>
              <a:rPr lang="en-US" dirty="0" err="1"/>
              <a:t>coba</a:t>
            </a:r>
            <a:r>
              <a:rPr lang="en-US" dirty="0"/>
              <a:t> edit file)</a:t>
            </a:r>
          </a:p>
          <a:p>
            <a:r>
              <a:rPr lang="en-US" dirty="0"/>
              <a:t>Git add .</a:t>
            </a:r>
          </a:p>
          <a:p>
            <a:r>
              <a:rPr lang="en-US" dirty="0"/>
              <a:t>Git commit –m “my first edit”</a:t>
            </a:r>
          </a:p>
          <a:p>
            <a:pPr marL="0" indent="0">
              <a:buNone/>
            </a:pPr>
            <a:endParaRPr lang="en-ID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7A3FD9-7614-FFC8-764C-50851927EA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D"/>
              <a:t>27/02/2026</a:t>
            </a:r>
            <a:endParaRPr lang="en-ID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C8A1EE-4151-1C77-770C-793A93CB8D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D"/>
              <a:t>Git</a:t>
            </a:r>
            <a:endParaRPr lang="en-ID" dirty="0"/>
          </a:p>
        </p:txBody>
      </p:sp>
    </p:spTree>
    <p:extLst>
      <p:ext uri="{BB962C8B-B14F-4D97-AF65-F5344CB8AC3E}">
        <p14:creationId xmlns:p14="http://schemas.microsoft.com/office/powerpoint/2010/main" val="372213978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42BF4C-162F-622D-39F3-90EC57B93E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B59187-199F-158F-3831-5F0AEB255C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Practice time</a:t>
            </a:r>
            <a:endParaRPr lang="en-ID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664222-7859-264E-FA82-E1465D1A26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D"/>
              <a:t>27/02/2026</a:t>
            </a:r>
            <a:endParaRPr lang="en-ID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8978D8-CBFC-2E0D-6279-A3FAC287A6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D"/>
              <a:t>Git</a:t>
            </a:r>
            <a:endParaRPr lang="en-ID" dirty="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199D805E-22FE-050F-8A7D-854780A706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Git clone </a:t>
            </a:r>
          </a:p>
          <a:p>
            <a:r>
              <a:rPr lang="en-US" dirty="0"/>
              <a:t>Git branch</a:t>
            </a:r>
          </a:p>
          <a:p>
            <a:r>
              <a:rPr lang="en-US" dirty="0"/>
              <a:t>Git add</a:t>
            </a:r>
          </a:p>
          <a:p>
            <a:r>
              <a:rPr lang="en-US" dirty="0"/>
              <a:t>Git commit</a:t>
            </a:r>
          </a:p>
          <a:p>
            <a:r>
              <a:rPr lang="en-US" dirty="0"/>
              <a:t>Git log</a:t>
            </a:r>
          </a:p>
          <a:p>
            <a:r>
              <a:rPr lang="en-US" dirty="0"/>
              <a:t>Git branch</a:t>
            </a:r>
            <a:endParaRPr lang="en-ID" dirty="0"/>
          </a:p>
        </p:txBody>
      </p:sp>
    </p:spTree>
    <p:extLst>
      <p:ext uri="{BB962C8B-B14F-4D97-AF65-F5344CB8AC3E}">
        <p14:creationId xmlns:p14="http://schemas.microsoft.com/office/powerpoint/2010/main" val="335594151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0CBF79E1-5C98-D2D6-C0C7-419B28819E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 Depth: Git branch</a:t>
            </a:r>
            <a:endParaRPr lang="en-ID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F3F4BA-7F95-00D8-9B42-090B4EB046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D"/>
              <a:t>27/02/2026</a:t>
            </a:r>
            <a:endParaRPr lang="en-ID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5516A6-B314-DF32-487A-A82126062A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D"/>
              <a:t>Git</a:t>
            </a:r>
            <a:endParaRPr lang="en-ID" dirty="0"/>
          </a:p>
        </p:txBody>
      </p:sp>
      <p:pic>
        <p:nvPicPr>
          <p:cNvPr id="5122" name="Picture 2" descr="An illustration of branching in Git. There are four branches shown named main, Feature A, Feature B, and Feature A-1. Feature A and B are branches of the main branch, while Feature A-1 is a branch made from Feature A.">
            <a:extLst>
              <a:ext uri="{FF2B5EF4-FFF2-40B4-BE49-F238E27FC236}">
                <a16:creationId xmlns:a16="http://schemas.microsoft.com/office/drawing/2014/main" id="{2DB77B75-BD8B-6B42-D229-63632728E1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34148" y="4418874"/>
            <a:ext cx="5319252" cy="18194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22A90C21-2629-F272-3E84-593E09C40B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2077781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Basically time-</a:t>
            </a:r>
            <a:r>
              <a:rPr lang="en-US" dirty="0" err="1"/>
              <a:t>traveller</a:t>
            </a:r>
            <a:r>
              <a:rPr lang="en-US" dirty="0"/>
              <a:t>, </a:t>
            </a:r>
            <a:r>
              <a:rPr lang="en-US" dirty="0" err="1"/>
              <a:t>berpindah</a:t>
            </a:r>
            <a:r>
              <a:rPr lang="en-US" dirty="0"/>
              <a:t> </a:t>
            </a:r>
            <a:r>
              <a:rPr lang="en-US" dirty="0" err="1"/>
              <a:t>pindah</a:t>
            </a:r>
            <a:r>
              <a:rPr lang="en-US" dirty="0"/>
              <a:t> multiverse</a:t>
            </a:r>
          </a:p>
          <a:p>
            <a:r>
              <a:rPr lang="en-US" dirty="0" err="1"/>
              <a:t>Biasanya</a:t>
            </a:r>
            <a:r>
              <a:rPr lang="en-US" dirty="0"/>
              <a:t> </a:t>
            </a:r>
            <a:r>
              <a:rPr lang="en-US" dirty="0" err="1"/>
              <a:t>dipisah</a:t>
            </a:r>
            <a:r>
              <a:rPr lang="en-US" dirty="0"/>
              <a:t> </a:t>
            </a:r>
            <a:r>
              <a:rPr lang="en-US" dirty="0" err="1"/>
              <a:t>secara</a:t>
            </a:r>
            <a:r>
              <a:rPr lang="en-US" dirty="0"/>
              <a:t> </a:t>
            </a:r>
            <a:r>
              <a:rPr lang="en-US" dirty="0" err="1"/>
              <a:t>fitur</a:t>
            </a:r>
            <a:r>
              <a:rPr lang="en-US" dirty="0"/>
              <a:t> </a:t>
            </a:r>
            <a:r>
              <a:rPr lang="en-US" dirty="0" err="1"/>
              <a:t>atau</a:t>
            </a:r>
            <a:r>
              <a:rPr lang="en-US" dirty="0"/>
              <a:t> per role orang</a:t>
            </a:r>
          </a:p>
          <a:p>
            <a:pPr lvl="1"/>
            <a:r>
              <a:rPr lang="en-US" dirty="0"/>
              <a:t>Branch_Raymond#Task1</a:t>
            </a:r>
          </a:p>
          <a:p>
            <a:pPr lvl="1"/>
            <a:r>
              <a:rPr lang="en-US" dirty="0"/>
              <a:t>Branch_Nicki#Task2</a:t>
            </a:r>
          </a:p>
          <a:p>
            <a:r>
              <a:rPr lang="en-US" dirty="0"/>
              <a:t>Common command: git checkout, git switch</a:t>
            </a:r>
          </a:p>
          <a:p>
            <a:r>
              <a:rPr lang="en-US" dirty="0"/>
              <a:t>Demo: dua </a:t>
            </a:r>
            <a:r>
              <a:rPr lang="en-US" dirty="0" err="1"/>
              <a:t>fitur</a:t>
            </a:r>
            <a:r>
              <a:rPr lang="en-US" dirty="0"/>
              <a:t>, </a:t>
            </a:r>
            <a:r>
              <a:rPr lang="en-US" dirty="0" err="1"/>
              <a:t>mengedit</a:t>
            </a:r>
            <a:r>
              <a:rPr lang="en-US" dirty="0"/>
              <a:t> CSS dan Index.html</a:t>
            </a:r>
            <a:endParaRPr lang="en-ID" dirty="0"/>
          </a:p>
        </p:txBody>
      </p:sp>
    </p:spTree>
    <p:extLst>
      <p:ext uri="{BB962C8B-B14F-4D97-AF65-F5344CB8AC3E}">
        <p14:creationId xmlns:p14="http://schemas.microsoft.com/office/powerpoint/2010/main" val="173549466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268633-4009-5087-C927-5048E7D12A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ADD936E5-11F6-03BB-59EB-8769E31E4B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 Depth: Git merge</a:t>
            </a:r>
            <a:endParaRPr lang="en-ID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6451A2-6C89-462D-3903-24C1FDED81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D"/>
              <a:t>27/02/2026</a:t>
            </a:r>
            <a:endParaRPr lang="en-ID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3EAA92-5CCA-4F69-F3C4-B1C9C19655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D"/>
              <a:t>Git</a:t>
            </a:r>
            <a:endParaRPr lang="en-ID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7275955-4F69-8F95-5AFA-22D58B8071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958781" cy="3621446"/>
          </a:xfrm>
        </p:spPr>
        <p:txBody>
          <a:bodyPr>
            <a:normAutofit/>
          </a:bodyPr>
          <a:lstStyle/>
          <a:p>
            <a:r>
              <a:rPr lang="en-US" dirty="0" err="1"/>
              <a:t>Menyatukan</a:t>
            </a:r>
            <a:r>
              <a:rPr lang="en-US" dirty="0"/>
              <a:t> dua </a:t>
            </a:r>
            <a:r>
              <a:rPr lang="en-US" dirty="0" err="1"/>
              <a:t>kodingan</a:t>
            </a:r>
            <a:r>
              <a:rPr lang="en-US" dirty="0"/>
              <a:t> parallel</a:t>
            </a:r>
          </a:p>
          <a:p>
            <a:r>
              <a:rPr lang="en-US" dirty="0" err="1"/>
              <a:t>Memudahkan</a:t>
            </a:r>
            <a:r>
              <a:rPr lang="en-US" dirty="0"/>
              <a:t> </a:t>
            </a:r>
            <a:r>
              <a:rPr lang="en-US" dirty="0" err="1"/>
              <a:t>daripada</a:t>
            </a:r>
            <a:r>
              <a:rPr lang="en-US" dirty="0"/>
              <a:t> copy paste</a:t>
            </a:r>
          </a:p>
          <a:p>
            <a:r>
              <a:rPr lang="en-US" dirty="0"/>
              <a:t>Ada </a:t>
            </a:r>
            <a:r>
              <a:rPr lang="en-US" dirty="0" err="1"/>
              <a:t>kemungkinan</a:t>
            </a:r>
            <a:r>
              <a:rPr lang="en-US" dirty="0"/>
              <a:t> 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konflik</a:t>
            </a:r>
            <a:endParaRPr lang="en-US" dirty="0"/>
          </a:p>
          <a:p>
            <a:r>
              <a:rPr lang="en-US" dirty="0"/>
              <a:t>Demo: git merge </a:t>
            </a:r>
            <a:r>
              <a:rPr lang="en-US" dirty="0" err="1"/>
              <a:t>sederhana</a:t>
            </a:r>
            <a:endParaRPr lang="en-US" dirty="0"/>
          </a:p>
          <a:p>
            <a:r>
              <a:rPr lang="en-US" dirty="0"/>
              <a:t>Demo: git conflict dan resolve</a:t>
            </a:r>
            <a:endParaRPr lang="en-ID" dirty="0"/>
          </a:p>
        </p:txBody>
      </p:sp>
      <p:pic>
        <p:nvPicPr>
          <p:cNvPr id="6148" name="Picture 4" descr="Dragon Ball FighterZ DLC - NEW Goku &amp; Vegeta Fuse Into Gogeta Blue DLC  Gameplay Screenshots">
            <a:extLst>
              <a:ext uri="{FF2B5EF4-FFF2-40B4-BE49-F238E27FC236}">
                <a16:creationId xmlns:a16="http://schemas.microsoft.com/office/drawing/2014/main" id="{4DBF4A2D-8D3E-3491-8B4C-E318E04CD5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12464" y="1927121"/>
            <a:ext cx="4223771" cy="23766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7658646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2AC9C2-02DA-3C30-C5A9-0661ED8BA3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 depth: Git log</a:t>
            </a:r>
            <a:endParaRPr lang="en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F365F3-6629-C12C-D4D8-1DD3795A50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965723" cy="4351338"/>
          </a:xfrm>
        </p:spPr>
        <p:txBody>
          <a:bodyPr/>
          <a:lstStyle/>
          <a:p>
            <a:r>
              <a:rPr lang="en-US" dirty="0" err="1"/>
              <a:t>Melihat</a:t>
            </a:r>
            <a:r>
              <a:rPr lang="en-US" dirty="0"/>
              <a:t> full </a:t>
            </a:r>
            <a:r>
              <a:rPr lang="en-US" dirty="0" err="1"/>
              <a:t>histori</a:t>
            </a:r>
            <a:r>
              <a:rPr lang="en-US" dirty="0"/>
              <a:t> checkpoint </a:t>
            </a:r>
            <a:r>
              <a:rPr lang="en-US" dirty="0" err="1"/>
              <a:t>kodingan</a:t>
            </a:r>
            <a:endParaRPr lang="en-US" dirty="0"/>
          </a:p>
          <a:p>
            <a:r>
              <a:rPr lang="en-US" dirty="0" err="1"/>
              <a:t>Memungkinan</a:t>
            </a:r>
            <a:r>
              <a:rPr lang="en-US" dirty="0"/>
              <a:t> review </a:t>
            </a:r>
            <a:r>
              <a:rPr lang="en-US" dirty="0" err="1"/>
              <a:t>melihat</a:t>
            </a:r>
            <a:r>
              <a:rPr lang="en-US" dirty="0"/>
              <a:t> </a:t>
            </a:r>
            <a:r>
              <a:rPr lang="en-US" dirty="0" err="1"/>
              <a:t>siapa</a:t>
            </a:r>
            <a:r>
              <a:rPr lang="en-US" dirty="0"/>
              <a:t> </a:t>
            </a:r>
            <a:r>
              <a:rPr lang="en-US" dirty="0" err="1"/>
              <a:t>mengubah</a:t>
            </a:r>
            <a:r>
              <a:rPr lang="en-US" dirty="0"/>
              <a:t> </a:t>
            </a:r>
            <a:r>
              <a:rPr lang="en-US" dirty="0" err="1"/>
              <a:t>apa</a:t>
            </a:r>
            <a:endParaRPr lang="en-US" dirty="0"/>
          </a:p>
          <a:p>
            <a:r>
              <a:rPr lang="en-US" dirty="0" err="1"/>
              <a:t>Contoh</a:t>
            </a:r>
            <a:r>
              <a:rPr lang="en-US" dirty="0"/>
              <a:t> command:</a:t>
            </a:r>
          </a:p>
          <a:p>
            <a:pPr lvl="1"/>
            <a:r>
              <a:rPr lang="en-US" dirty="0"/>
              <a:t>Git log –graph</a:t>
            </a:r>
          </a:p>
          <a:p>
            <a:pPr lvl="1"/>
            <a:r>
              <a:rPr lang="en-US" dirty="0"/>
              <a:t>Git log –name-only</a:t>
            </a:r>
          </a:p>
          <a:p>
            <a:endParaRPr lang="en-ID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798A78-E3A9-3A7D-D0A1-823A0CCDD5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D"/>
              <a:t>27/02/2026</a:t>
            </a:r>
            <a:endParaRPr lang="en-ID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8AC201-5E66-AF1C-B193-DBC0B7FCE6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D"/>
              <a:t>Git</a:t>
            </a:r>
            <a:endParaRPr lang="en-ID" dirty="0"/>
          </a:p>
        </p:txBody>
      </p:sp>
      <p:pic>
        <p:nvPicPr>
          <p:cNvPr id="7170" name="Picture 2" descr="Doctor Strange Lived All 14,000,605 Avengers: Endgame Scenarios">
            <a:extLst>
              <a:ext uri="{FF2B5EF4-FFF2-40B4-BE49-F238E27FC236}">
                <a16:creationId xmlns:a16="http://schemas.microsoft.com/office/drawing/2014/main" id="{8FA5D6AA-396D-C6DF-EDD7-81D909395A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02013" y="2290916"/>
            <a:ext cx="3613354" cy="18066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3971544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466EC8-F561-E913-7749-2D662D93C6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4B54A9-4B27-502D-349E-EB63FBE022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 depth: Git blame</a:t>
            </a:r>
            <a:endParaRPr lang="en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E776C0-8645-736C-38C5-668BD61C38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965723" cy="4351338"/>
          </a:xfrm>
        </p:spPr>
        <p:txBody>
          <a:bodyPr/>
          <a:lstStyle/>
          <a:p>
            <a:r>
              <a:rPr lang="en-US" dirty="0"/>
              <a:t>Gak Cuma di ML, di git juga </a:t>
            </a:r>
            <a:r>
              <a:rPr lang="en-US" dirty="0" err="1"/>
              <a:t>bisa</a:t>
            </a:r>
            <a:r>
              <a:rPr lang="en-US" dirty="0"/>
              <a:t> </a:t>
            </a:r>
            <a:r>
              <a:rPr lang="en-US" dirty="0" err="1"/>
              <a:t>ngeblame</a:t>
            </a:r>
            <a:endParaRPr lang="en-US" dirty="0"/>
          </a:p>
          <a:p>
            <a:endParaRPr lang="en-US" dirty="0"/>
          </a:p>
          <a:p>
            <a:r>
              <a:rPr lang="en-US" dirty="0" err="1"/>
              <a:t>Melihat</a:t>
            </a:r>
            <a:r>
              <a:rPr lang="en-US" dirty="0"/>
              <a:t> </a:t>
            </a:r>
            <a:r>
              <a:rPr lang="en-US" dirty="0" err="1"/>
              <a:t>editan</a:t>
            </a:r>
            <a:r>
              <a:rPr lang="en-US" dirty="0"/>
              <a:t> </a:t>
            </a:r>
            <a:r>
              <a:rPr lang="en-US" dirty="0" err="1"/>
              <a:t>setiap</a:t>
            </a:r>
            <a:r>
              <a:rPr lang="en-US" dirty="0"/>
              <a:t> line</a:t>
            </a:r>
          </a:p>
          <a:p>
            <a:endParaRPr lang="en-ID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2BFF36-D1B3-6951-3FE1-46B1041CEF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D"/>
              <a:t>27/02/2026</a:t>
            </a:r>
            <a:endParaRPr lang="en-ID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2DE5C1-261F-35E7-06EC-AF2E51800E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D"/>
              <a:t>Git</a:t>
            </a:r>
            <a:endParaRPr lang="en-ID" dirty="0"/>
          </a:p>
        </p:txBody>
      </p:sp>
      <p:pic>
        <p:nvPicPr>
          <p:cNvPr id="7170" name="Picture 2" descr="Doctor Strange Lived All 14,000,605 Avengers: Endgame Scenarios">
            <a:extLst>
              <a:ext uri="{FF2B5EF4-FFF2-40B4-BE49-F238E27FC236}">
                <a16:creationId xmlns:a16="http://schemas.microsoft.com/office/drawing/2014/main" id="{E73170EF-6475-0ED2-FE2C-8998D6B086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02013" y="2290916"/>
            <a:ext cx="3613354" cy="18066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0347416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E30E12-A016-8AA4-67AC-3E8B1A2722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Git in terminal and GUI</a:t>
            </a:r>
            <a:endParaRPr lang="en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F61A44-20FE-D299-4776-D7044E5FAC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603375"/>
          </a:xfrm>
        </p:spPr>
        <p:txBody>
          <a:bodyPr/>
          <a:lstStyle/>
          <a:p>
            <a:r>
              <a:rPr lang="en-US" dirty="0" err="1"/>
              <a:t>Hampir</a:t>
            </a:r>
            <a:r>
              <a:rPr lang="en-US" dirty="0"/>
              <a:t> gak </a:t>
            </a:r>
            <a:r>
              <a:rPr lang="en-US" dirty="0" err="1"/>
              <a:t>ada</a:t>
            </a:r>
            <a:r>
              <a:rPr lang="en-US" dirty="0"/>
              <a:t> </a:t>
            </a:r>
            <a:r>
              <a:rPr lang="en-US" dirty="0" err="1"/>
              <a:t>bedanya</a:t>
            </a:r>
            <a:endParaRPr lang="en-US" dirty="0"/>
          </a:p>
          <a:p>
            <a:r>
              <a:rPr lang="en-US" dirty="0" err="1"/>
              <a:t>Bedanya</a:t>
            </a:r>
            <a:r>
              <a:rPr lang="en-US" dirty="0"/>
              <a:t> Cuma di CLI </a:t>
            </a:r>
            <a:r>
              <a:rPr lang="en-US" dirty="0" err="1"/>
              <a:t>itu</a:t>
            </a:r>
            <a:r>
              <a:rPr lang="en-US" dirty="0"/>
              <a:t> </a:t>
            </a:r>
            <a:r>
              <a:rPr lang="en-US" dirty="0" err="1"/>
              <a:t>ngetik</a:t>
            </a:r>
            <a:r>
              <a:rPr lang="en-US" dirty="0"/>
              <a:t>, dan GUI </a:t>
            </a:r>
            <a:r>
              <a:rPr lang="en-US" dirty="0" err="1"/>
              <a:t>itu</a:t>
            </a:r>
            <a:r>
              <a:rPr lang="en-US" dirty="0"/>
              <a:t> </a:t>
            </a:r>
            <a:r>
              <a:rPr lang="en-US" dirty="0" err="1"/>
              <a:t>klik</a:t>
            </a:r>
            <a:r>
              <a:rPr lang="en-US" dirty="0"/>
              <a:t> </a:t>
            </a:r>
            <a:r>
              <a:rPr lang="en-US" dirty="0" err="1"/>
              <a:t>klik</a:t>
            </a:r>
            <a:endParaRPr lang="en-US" dirty="0"/>
          </a:p>
          <a:p>
            <a:r>
              <a:rPr lang="en-US" dirty="0"/>
              <a:t>Suka yang mana? </a:t>
            </a:r>
            <a:r>
              <a:rPr lang="en-US" dirty="0" err="1"/>
              <a:t>bebas</a:t>
            </a:r>
            <a:endParaRPr lang="en-ID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4D56955-2C93-E05C-2164-2C6A31133F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D"/>
              <a:t>27/02/2026</a:t>
            </a:r>
            <a:endParaRPr lang="en-ID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B27A22-13E1-2731-4F15-77EDAF7A94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D"/>
              <a:t>Git</a:t>
            </a:r>
            <a:endParaRPr lang="en-ID" dirty="0"/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17647E6C-5D8F-CD81-5876-89B8BC48C2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3429000"/>
            <a:ext cx="4808897" cy="27077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196" name="Picture 4">
            <a:extLst>
              <a:ext uri="{FF2B5EF4-FFF2-40B4-BE49-F238E27FC236}">
                <a16:creationId xmlns:a16="http://schemas.microsoft.com/office/drawing/2014/main" id="{76E7B1BA-2CB7-10CF-BB75-3149BF95CC6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31586" y="3563937"/>
            <a:ext cx="4449216" cy="24526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7104167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22B54D-7C84-7B70-5164-4C446F59B4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Github</a:t>
            </a:r>
            <a:r>
              <a:rPr lang="en-US" dirty="0"/>
              <a:t>: the online git</a:t>
            </a:r>
            <a:endParaRPr lang="en-ID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D4698B2-E286-0870-14FF-C9276A572A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D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8D9D46-79B7-FD97-9FFB-60E8307629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D"/>
              <a:t>27/02/2026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FE2B88-8B46-6D06-B8C9-7BC4F13E7B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D"/>
              <a:t>Git</a:t>
            </a:r>
          </a:p>
        </p:txBody>
      </p:sp>
    </p:spTree>
    <p:extLst>
      <p:ext uri="{BB962C8B-B14F-4D97-AF65-F5344CB8AC3E}">
        <p14:creationId xmlns:p14="http://schemas.microsoft.com/office/powerpoint/2010/main" val="250785554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B1DD38-875A-530B-8D0F-3E87FFD200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Github</a:t>
            </a:r>
            <a:endParaRPr lang="en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09BA76-D47C-E773-6D52-DE13EDA1BD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031658" cy="4351338"/>
          </a:xfrm>
        </p:spPr>
        <p:txBody>
          <a:bodyPr/>
          <a:lstStyle/>
          <a:p>
            <a:r>
              <a:rPr lang="en-US" dirty="0"/>
              <a:t>Kayak google drive </a:t>
            </a:r>
            <a:r>
              <a:rPr lang="en-US" dirty="0" err="1"/>
              <a:t>nya</a:t>
            </a:r>
            <a:r>
              <a:rPr lang="en-US" dirty="0"/>
              <a:t> for coding</a:t>
            </a:r>
          </a:p>
          <a:p>
            <a:r>
              <a:rPr lang="en-US" dirty="0" err="1"/>
              <a:t>Serupa</a:t>
            </a:r>
            <a:r>
              <a:rPr lang="en-US" dirty="0"/>
              <a:t> </a:t>
            </a:r>
            <a:r>
              <a:rPr lang="en-US" dirty="0" err="1"/>
              <a:t>tapi</a:t>
            </a:r>
            <a:r>
              <a:rPr lang="en-US" dirty="0"/>
              <a:t> </a:t>
            </a:r>
            <a:r>
              <a:rPr lang="en-US" dirty="0" err="1"/>
              <a:t>tak</a:t>
            </a:r>
            <a:r>
              <a:rPr lang="en-US" dirty="0"/>
              <a:t> </a:t>
            </a:r>
            <a:r>
              <a:rPr lang="en-US" dirty="0" err="1"/>
              <a:t>sama</a:t>
            </a:r>
            <a:endParaRPr lang="en-US" dirty="0"/>
          </a:p>
          <a:p>
            <a:r>
              <a:rPr lang="en-ID" dirty="0" err="1"/>
              <a:t>Nggak</a:t>
            </a:r>
            <a:r>
              <a:rPr lang="en-ID" dirty="0"/>
              <a:t> </a:t>
            </a:r>
            <a:r>
              <a:rPr lang="en-ID" dirty="0" err="1"/>
              <a:t>bisa</a:t>
            </a:r>
            <a:r>
              <a:rPr lang="en-ID" dirty="0"/>
              <a:t> </a:t>
            </a:r>
            <a:r>
              <a:rPr lang="en-ID" dirty="0" err="1"/>
              <a:t>langusng</a:t>
            </a:r>
            <a:r>
              <a:rPr lang="en-ID" dirty="0"/>
              <a:t> upload file </a:t>
            </a:r>
            <a:r>
              <a:rPr lang="en-ID" dirty="0" err="1"/>
              <a:t>gitu</a:t>
            </a:r>
            <a:r>
              <a:rPr lang="en-ID" dirty="0"/>
              <a:t> </a:t>
            </a:r>
            <a:r>
              <a:rPr lang="en-ID" dirty="0" err="1"/>
              <a:t>aja</a:t>
            </a:r>
            <a:r>
              <a:rPr lang="en-ID" dirty="0"/>
              <a:t> (well you can, but don’t)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5A7901-52DB-EC9F-B12D-FECF71B450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D"/>
              <a:t>27/02/2026</a:t>
            </a:r>
            <a:endParaRPr lang="en-ID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1BD22C-4429-CD7F-BF9B-1776E85FDD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D"/>
              <a:t>Git</a:t>
            </a:r>
            <a:endParaRPr lang="en-ID" dirty="0"/>
          </a:p>
        </p:txBody>
      </p:sp>
      <p:pic>
        <p:nvPicPr>
          <p:cNvPr id="9218" name="Picture 2" descr="Google drive Memes · ProgrammerHumor.io">
            <a:extLst>
              <a:ext uri="{FF2B5EF4-FFF2-40B4-BE49-F238E27FC236}">
                <a16:creationId xmlns:a16="http://schemas.microsoft.com/office/drawing/2014/main" id="{88970229-206C-3D23-0930-86E9825E47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55890" y="967490"/>
            <a:ext cx="3677813" cy="50696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8894578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D4CB08-5D70-C39F-5D44-0BDE68837A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Buat</a:t>
            </a:r>
            <a:r>
              <a:rPr lang="en-US" dirty="0"/>
              <a:t> </a:t>
            </a:r>
            <a:r>
              <a:rPr lang="en-US" dirty="0" err="1"/>
              <a:t>akun</a:t>
            </a:r>
            <a:r>
              <a:rPr lang="en-US" dirty="0"/>
              <a:t> github.com</a:t>
            </a:r>
            <a:endParaRPr lang="en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B54648-38C7-5109-3172-2F0A6B0670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Github.com</a:t>
            </a:r>
            <a:endParaRPr lang="en-ID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BCCEEB-3290-0915-30B9-2ACCA5A64D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D"/>
              <a:t>27/02/2026</a:t>
            </a:r>
            <a:endParaRPr lang="en-ID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972BB8-496A-ECDF-D7EE-77B98E543E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D"/>
              <a:t>Git</a:t>
            </a:r>
            <a:endParaRPr lang="en-ID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3CE1188-F54F-9AE8-826B-9434598282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3097" y="2320495"/>
            <a:ext cx="7981338" cy="38674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898953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DC0499-A9AE-B5FF-29D5-5A66ECC8A9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BE2319-058C-742B-FCF6-C93B36314D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Fitur </a:t>
            </a:r>
            <a:r>
              <a:rPr lang="en-US" dirty="0" err="1"/>
              <a:t>dasar</a:t>
            </a:r>
            <a:r>
              <a:rPr lang="en-US" dirty="0"/>
              <a:t> </a:t>
            </a:r>
            <a:r>
              <a:rPr lang="en-US" dirty="0" err="1"/>
              <a:t>github</a:t>
            </a:r>
            <a:endParaRPr lang="en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0D4E38-A073-1AED-7A33-B1DC033D7E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Repository management</a:t>
            </a:r>
          </a:p>
          <a:p>
            <a:r>
              <a:rPr lang="en-US" dirty="0"/>
              <a:t>Issues 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pencatatan</a:t>
            </a:r>
            <a:r>
              <a:rPr lang="en-US" dirty="0"/>
              <a:t> </a:t>
            </a:r>
            <a:r>
              <a:rPr lang="en-US" dirty="0" err="1"/>
              <a:t>tugas</a:t>
            </a:r>
            <a:r>
              <a:rPr lang="en-US" dirty="0"/>
              <a:t>/bug</a:t>
            </a:r>
          </a:p>
          <a:p>
            <a:r>
              <a:rPr lang="en-US" dirty="0"/>
              <a:t>Pull request (review </a:t>
            </a:r>
            <a:r>
              <a:rPr lang="en-US" dirty="0" err="1"/>
              <a:t>sebelum</a:t>
            </a:r>
            <a:r>
              <a:rPr lang="en-US" dirty="0"/>
              <a:t> </a:t>
            </a:r>
            <a:r>
              <a:rPr lang="en-US" dirty="0" err="1"/>
              <a:t>dimerge</a:t>
            </a:r>
            <a:r>
              <a:rPr lang="en-US" dirty="0"/>
              <a:t>)</a:t>
            </a:r>
          </a:p>
          <a:p>
            <a:r>
              <a:rPr lang="en-ID" dirty="0"/>
              <a:t>Multi-person collaboration</a:t>
            </a:r>
          </a:p>
          <a:p>
            <a:r>
              <a:rPr lang="en-ID" dirty="0" err="1"/>
              <a:t>Github</a:t>
            </a:r>
            <a:r>
              <a:rPr lang="en-ID" dirty="0"/>
              <a:t> Projects</a:t>
            </a:r>
          </a:p>
          <a:p>
            <a:r>
              <a:rPr lang="en-ID" dirty="0"/>
              <a:t>Deploy website statis (</a:t>
            </a:r>
            <a:r>
              <a:rPr lang="en-ID" dirty="0" err="1"/>
              <a:t>github</a:t>
            </a:r>
            <a:r>
              <a:rPr lang="en-ID" dirty="0"/>
              <a:t> pages)</a:t>
            </a:r>
          </a:p>
          <a:p>
            <a:endParaRPr lang="en-ID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FB7A18-D0F1-3759-6543-55E95130CD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D"/>
              <a:t>27/02/2026</a:t>
            </a:r>
            <a:endParaRPr lang="en-ID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82FC889-4F36-3711-03DE-A958F555C4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D"/>
              <a:t>Git</a:t>
            </a:r>
            <a:endParaRPr lang="en-ID" dirty="0"/>
          </a:p>
        </p:txBody>
      </p:sp>
    </p:spTree>
    <p:extLst>
      <p:ext uri="{BB962C8B-B14F-4D97-AF65-F5344CB8AC3E}">
        <p14:creationId xmlns:p14="http://schemas.microsoft.com/office/powerpoint/2010/main" val="106502639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29A97E-3A53-EB1D-705E-B7D868D62C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8DD54B-58CC-2562-DCB6-FE9DA5F480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Alternative </a:t>
            </a:r>
            <a:r>
              <a:rPr lang="en-US" dirty="0" err="1"/>
              <a:t>selain</a:t>
            </a:r>
            <a:r>
              <a:rPr lang="en-US" dirty="0"/>
              <a:t> </a:t>
            </a:r>
            <a:r>
              <a:rPr lang="en-US" dirty="0" err="1"/>
              <a:t>github</a:t>
            </a:r>
            <a:r>
              <a:rPr lang="en-US" dirty="0"/>
              <a:t>?</a:t>
            </a:r>
            <a:endParaRPr lang="en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5B5635-D2FD-332B-D94B-C4011A8F06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Gitlab</a:t>
            </a:r>
          </a:p>
          <a:p>
            <a:r>
              <a:rPr lang="en-US" dirty="0" err="1"/>
              <a:t>Gittea</a:t>
            </a:r>
            <a:endParaRPr lang="en-US" dirty="0"/>
          </a:p>
          <a:p>
            <a:r>
              <a:rPr lang="en-US" dirty="0"/>
              <a:t>Atlassian</a:t>
            </a:r>
          </a:p>
          <a:p>
            <a:r>
              <a:rPr lang="en-US" dirty="0" err="1"/>
              <a:t>BitBucket</a:t>
            </a:r>
            <a:endParaRPr lang="en-US" dirty="0"/>
          </a:p>
          <a:p>
            <a:r>
              <a:rPr lang="en-US" dirty="0" err="1"/>
              <a:t>AzureRepos</a:t>
            </a:r>
            <a:endParaRPr lang="en-ID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D66E7E-847B-A461-DE23-B92D51AF8E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D"/>
              <a:t>27/02/2026</a:t>
            </a:r>
            <a:endParaRPr lang="en-ID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C86BFC-0242-74CC-783C-66465579F9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D"/>
              <a:t>Git</a:t>
            </a:r>
            <a:endParaRPr lang="en-ID" dirty="0"/>
          </a:p>
        </p:txBody>
      </p:sp>
    </p:spTree>
    <p:extLst>
      <p:ext uri="{BB962C8B-B14F-4D97-AF65-F5344CB8AC3E}">
        <p14:creationId xmlns:p14="http://schemas.microsoft.com/office/powerpoint/2010/main" val="279897410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97E7A3-578E-E2B0-74DD-798837D8AC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B0EA1A-365B-85E9-763F-60FC044A18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Git vs </a:t>
            </a:r>
            <a:r>
              <a:rPr lang="en-US" dirty="0" err="1"/>
              <a:t>Github</a:t>
            </a:r>
            <a:r>
              <a:rPr lang="en-US" dirty="0"/>
              <a:t>? </a:t>
            </a:r>
            <a:r>
              <a:rPr lang="en-US" dirty="0" err="1"/>
              <a:t>Sebenernya</a:t>
            </a:r>
            <a:r>
              <a:rPr lang="en-US" dirty="0"/>
              <a:t> </a:t>
            </a:r>
            <a:r>
              <a:rPr lang="en-US" dirty="0" err="1"/>
              <a:t>gimana</a:t>
            </a:r>
            <a:r>
              <a:rPr lang="en-US" dirty="0"/>
              <a:t>?</a:t>
            </a:r>
            <a:endParaRPr lang="en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5A58CF-C0CA-749C-A831-409493F799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037596" cy="4351338"/>
          </a:xfrm>
        </p:spPr>
        <p:txBody>
          <a:bodyPr/>
          <a:lstStyle/>
          <a:p>
            <a:r>
              <a:rPr lang="en-US" dirty="0"/>
              <a:t>Git -&gt; Air Mineral</a:t>
            </a:r>
          </a:p>
          <a:p>
            <a:r>
              <a:rPr lang="en-US" dirty="0" err="1"/>
              <a:t>Github</a:t>
            </a:r>
            <a:r>
              <a:rPr lang="en-US" dirty="0"/>
              <a:t> -&gt; Aqua</a:t>
            </a:r>
          </a:p>
          <a:p>
            <a:endParaRPr lang="en-US" dirty="0"/>
          </a:p>
          <a:p>
            <a:r>
              <a:rPr lang="en-US" dirty="0" err="1"/>
              <a:t>Github</a:t>
            </a:r>
            <a:r>
              <a:rPr lang="en-US" dirty="0"/>
              <a:t> </a:t>
            </a:r>
            <a:r>
              <a:rPr lang="en-US" dirty="0" err="1"/>
              <a:t>memungkinkan</a:t>
            </a:r>
            <a:r>
              <a:rPr lang="en-US" dirty="0"/>
              <a:t> remote storage </a:t>
            </a:r>
            <a:r>
              <a:rPr lang="en-US" dirty="0" err="1"/>
              <a:t>untuk</a:t>
            </a:r>
            <a:r>
              <a:rPr lang="en-US" dirty="0"/>
              <a:t> repository</a:t>
            </a:r>
          </a:p>
          <a:p>
            <a:endParaRPr lang="en-US" dirty="0"/>
          </a:p>
          <a:p>
            <a:r>
              <a:rPr lang="en-US" dirty="0"/>
              <a:t>Coba run:</a:t>
            </a:r>
          </a:p>
          <a:p>
            <a:pPr lvl="1"/>
            <a:r>
              <a:rPr lang="en-US" dirty="0"/>
              <a:t>Git remote get-</a:t>
            </a:r>
            <a:r>
              <a:rPr lang="en-US" dirty="0" err="1"/>
              <a:t>url</a:t>
            </a:r>
            <a:r>
              <a:rPr lang="en-US" dirty="0"/>
              <a:t> origin</a:t>
            </a:r>
            <a:endParaRPr lang="en-ID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01A245-7424-182F-89AD-80AE897E4E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D"/>
              <a:t>27/02/2026</a:t>
            </a:r>
            <a:endParaRPr lang="en-ID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A902DF-61D1-A749-7BD3-89A34C7183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D"/>
              <a:t>Git</a:t>
            </a:r>
            <a:endParaRPr lang="en-ID" dirty="0"/>
          </a:p>
        </p:txBody>
      </p:sp>
      <p:pic>
        <p:nvPicPr>
          <p:cNvPr id="10242" name="Picture 2">
            <a:extLst>
              <a:ext uri="{FF2B5EF4-FFF2-40B4-BE49-F238E27FC236}">
                <a16:creationId xmlns:a16="http://schemas.microsoft.com/office/drawing/2014/main" id="{70AFC60D-435B-2A6F-3F52-A25F1CEE2A9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16205" y="1870075"/>
            <a:ext cx="4261360" cy="31992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716859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83254F-FEDF-FB04-2DB7-CBABF9D401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 Depth: </a:t>
            </a:r>
            <a:r>
              <a:rPr lang="en-US" dirty="0" err="1"/>
              <a:t>github</a:t>
            </a:r>
            <a:r>
              <a:rPr lang="en-US" dirty="0"/>
              <a:t> repository</a:t>
            </a:r>
            <a:endParaRPr lang="en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B22A81-7D09-B564-69A5-57A9969DA8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Seperti</a:t>
            </a:r>
            <a:r>
              <a:rPr lang="en-US" dirty="0"/>
              <a:t> folder drive</a:t>
            </a:r>
          </a:p>
          <a:p>
            <a:r>
              <a:rPr lang="en-US" dirty="0" err="1"/>
              <a:t>Pokok</a:t>
            </a:r>
            <a:r>
              <a:rPr lang="en-US" dirty="0"/>
              <a:t> </a:t>
            </a:r>
            <a:r>
              <a:rPr lang="en-US" dirty="0" err="1"/>
              <a:t>dari</a:t>
            </a:r>
            <a:r>
              <a:rPr lang="en-US" dirty="0"/>
              <a:t> </a:t>
            </a:r>
            <a:r>
              <a:rPr lang="en-US" dirty="0" err="1"/>
              <a:t>segala</a:t>
            </a:r>
            <a:r>
              <a:rPr lang="en-US" dirty="0"/>
              <a:t> </a:t>
            </a:r>
            <a:r>
              <a:rPr lang="en-US" dirty="0" err="1"/>
              <a:t>konsep</a:t>
            </a:r>
            <a:r>
              <a:rPr lang="en-US" dirty="0"/>
              <a:t> </a:t>
            </a:r>
            <a:r>
              <a:rPr lang="en-US" dirty="0" err="1"/>
              <a:t>github</a:t>
            </a:r>
            <a:endParaRPr lang="en-US" dirty="0"/>
          </a:p>
          <a:p>
            <a:r>
              <a:rPr lang="en-US" dirty="0" err="1"/>
              <a:t>Tempat</a:t>
            </a:r>
            <a:r>
              <a:rPr lang="en-US" dirty="0"/>
              <a:t> </a:t>
            </a:r>
            <a:r>
              <a:rPr lang="en-US" dirty="0" err="1"/>
              <a:t>naruh</a:t>
            </a:r>
            <a:r>
              <a:rPr lang="en-US" dirty="0"/>
              <a:t> code</a:t>
            </a:r>
          </a:p>
          <a:p>
            <a:r>
              <a:rPr lang="en-US" dirty="0"/>
              <a:t>Coba </a:t>
            </a:r>
            <a:r>
              <a:rPr lang="en-US" dirty="0" err="1"/>
              <a:t>buat</a:t>
            </a:r>
            <a:r>
              <a:rPr lang="en-US" dirty="0"/>
              <a:t>: new Repository</a:t>
            </a:r>
            <a:endParaRPr lang="en-ID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7B65A6-50F1-CE8A-BC81-2B559087E7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D"/>
              <a:t>27/02/2026</a:t>
            </a:r>
            <a:endParaRPr lang="en-ID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5CD939-FFAA-E9CA-E7E1-2B9661B947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D"/>
              <a:t>Git</a:t>
            </a:r>
            <a:endParaRPr lang="en-ID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072FADF-633A-161D-A738-86AC6636A4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5890" y="1825625"/>
            <a:ext cx="5397910" cy="26152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772664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EA3EF7-36AA-3C8B-5D74-FA183C3281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BF4E46-C711-9764-E7E3-6A572AAD5E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 Depth: </a:t>
            </a:r>
            <a:r>
              <a:rPr lang="en-US" dirty="0" err="1"/>
              <a:t>github</a:t>
            </a:r>
            <a:r>
              <a:rPr lang="en-US" dirty="0"/>
              <a:t> issue</a:t>
            </a:r>
            <a:endParaRPr lang="en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69ECCF-75B3-476B-4B20-3FD34D716E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749413" cy="4351338"/>
          </a:xfrm>
        </p:spPr>
        <p:txBody>
          <a:bodyPr/>
          <a:lstStyle/>
          <a:p>
            <a:r>
              <a:rPr lang="en-US" dirty="0" err="1"/>
              <a:t>Tempat</a:t>
            </a:r>
            <a:r>
              <a:rPr lang="en-US" dirty="0"/>
              <a:t> </a:t>
            </a:r>
            <a:r>
              <a:rPr lang="en-US" dirty="0" err="1"/>
              <a:t>membuat</a:t>
            </a:r>
            <a:r>
              <a:rPr lang="en-US" dirty="0"/>
              <a:t> task</a:t>
            </a:r>
          </a:p>
          <a:p>
            <a:r>
              <a:rPr lang="en-US" dirty="0" err="1"/>
              <a:t>Tempat</a:t>
            </a:r>
            <a:r>
              <a:rPr lang="en-US" dirty="0"/>
              <a:t> </a:t>
            </a:r>
            <a:r>
              <a:rPr lang="en-US" dirty="0" err="1"/>
              <a:t>membuat</a:t>
            </a:r>
            <a:r>
              <a:rPr lang="en-US" dirty="0"/>
              <a:t> “ticket”</a:t>
            </a:r>
          </a:p>
          <a:p>
            <a:r>
              <a:rPr lang="en-US" dirty="0" err="1"/>
              <a:t>Tempat</a:t>
            </a:r>
            <a:r>
              <a:rPr lang="en-US" dirty="0"/>
              <a:t> </a:t>
            </a:r>
            <a:r>
              <a:rPr lang="en-US" dirty="0" err="1"/>
              <a:t>protes</a:t>
            </a:r>
            <a:r>
              <a:rPr lang="en-US" dirty="0"/>
              <a:t> (</a:t>
            </a:r>
            <a:r>
              <a:rPr lang="en-US" dirty="0" err="1"/>
              <a:t>ke</a:t>
            </a:r>
            <a:r>
              <a:rPr lang="en-US" dirty="0"/>
              <a:t> open source project)</a:t>
            </a:r>
          </a:p>
          <a:p>
            <a:r>
              <a:rPr lang="en-US" dirty="0" err="1"/>
              <a:t>Tempat</a:t>
            </a:r>
            <a:r>
              <a:rPr lang="en-US" dirty="0"/>
              <a:t> </a:t>
            </a:r>
            <a:r>
              <a:rPr lang="en-US" dirty="0" err="1"/>
              <a:t>bertanya</a:t>
            </a:r>
            <a:r>
              <a:rPr lang="en-US" dirty="0"/>
              <a:t> (</a:t>
            </a:r>
            <a:r>
              <a:rPr lang="en-US" dirty="0" err="1"/>
              <a:t>ke</a:t>
            </a:r>
            <a:r>
              <a:rPr lang="en-US" dirty="0"/>
              <a:t> OSS)</a:t>
            </a:r>
            <a:endParaRPr lang="en-ID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0B4E22-C26C-087E-674B-40BEB1D213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D"/>
              <a:t>27/02/2026</a:t>
            </a:r>
            <a:endParaRPr lang="en-ID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DC0DC8-85F2-E830-5074-A8F45EEEB1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D"/>
              <a:t>Git</a:t>
            </a:r>
            <a:endParaRPr lang="en-ID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325DCAF-0B1B-248F-7E88-52DC26D6B9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9505" y="1578912"/>
            <a:ext cx="4854295" cy="3125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666214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84336E-3EA6-01B4-3612-ECE450370E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7C3981-EDCC-3A50-581E-68F47D3CDC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 Depth: </a:t>
            </a:r>
            <a:r>
              <a:rPr lang="en-US" dirty="0" err="1"/>
              <a:t>github</a:t>
            </a:r>
            <a:r>
              <a:rPr lang="en-US" dirty="0"/>
              <a:t> Pull Request</a:t>
            </a:r>
            <a:endParaRPr lang="en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256CC5-14A5-9D73-BB1F-BB463F4B37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749413" cy="4351338"/>
          </a:xfrm>
        </p:spPr>
        <p:txBody>
          <a:bodyPr/>
          <a:lstStyle/>
          <a:p>
            <a:r>
              <a:rPr lang="en-US" dirty="0"/>
              <a:t>Proses </a:t>
            </a:r>
            <a:r>
              <a:rPr lang="en-US" dirty="0" err="1"/>
              <a:t>sebelum</a:t>
            </a:r>
            <a:r>
              <a:rPr lang="en-US" dirty="0"/>
              <a:t> Merge</a:t>
            </a:r>
          </a:p>
          <a:p>
            <a:r>
              <a:rPr lang="en-US" dirty="0"/>
              <a:t>Kalau di local </a:t>
            </a:r>
            <a:r>
              <a:rPr lang="en-US" dirty="0" err="1"/>
              <a:t>ngga</a:t>
            </a:r>
            <a:r>
              <a:rPr lang="en-US" dirty="0"/>
              <a:t> </a:t>
            </a:r>
            <a:r>
              <a:rPr lang="en-US" dirty="0" err="1"/>
              <a:t>ada</a:t>
            </a:r>
            <a:r>
              <a:rPr lang="en-US" dirty="0"/>
              <a:t> </a:t>
            </a:r>
            <a:r>
              <a:rPr lang="en-US" dirty="0" err="1"/>
              <a:t>fitur</a:t>
            </a:r>
            <a:r>
              <a:rPr lang="en-US" dirty="0"/>
              <a:t> preview</a:t>
            </a:r>
          </a:p>
          <a:p>
            <a:r>
              <a:rPr lang="en-US" dirty="0"/>
              <a:t>Di </a:t>
            </a:r>
            <a:r>
              <a:rPr lang="en-US" dirty="0" err="1"/>
              <a:t>github</a:t>
            </a:r>
            <a:r>
              <a:rPr lang="en-US" dirty="0"/>
              <a:t> </a:t>
            </a:r>
            <a:r>
              <a:rPr lang="en-US" dirty="0" err="1"/>
              <a:t>ada</a:t>
            </a:r>
            <a:endParaRPr lang="en-US" dirty="0"/>
          </a:p>
          <a:p>
            <a:r>
              <a:rPr lang="en-US" dirty="0"/>
              <a:t>Preview </a:t>
            </a:r>
            <a:r>
              <a:rPr lang="en-US" dirty="0" err="1"/>
              <a:t>sebelum</a:t>
            </a:r>
            <a:r>
              <a:rPr lang="en-US" dirty="0"/>
              <a:t> </a:t>
            </a:r>
            <a:r>
              <a:rPr lang="en-US" dirty="0" err="1"/>
              <a:t>melanjutkan</a:t>
            </a:r>
            <a:r>
              <a:rPr lang="en-US" dirty="0"/>
              <a:t> merge</a:t>
            </a:r>
          </a:p>
          <a:p>
            <a:pPr lvl="1"/>
            <a:r>
              <a:rPr lang="en-US" dirty="0"/>
              <a:t>Apakah </a:t>
            </a:r>
            <a:r>
              <a:rPr lang="en-US" dirty="0" err="1"/>
              <a:t>bagus</a:t>
            </a:r>
            <a:r>
              <a:rPr lang="en-US" dirty="0"/>
              <a:t>? Apakah conflict?</a:t>
            </a:r>
            <a:endParaRPr lang="en-ID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504725-990F-E55B-9CFA-3570A8CF6D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D"/>
              <a:t>27/02/2026</a:t>
            </a:r>
            <a:endParaRPr lang="en-ID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D7DD61-52F9-F042-E272-98457FE606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D"/>
              <a:t>Git</a:t>
            </a:r>
            <a:endParaRPr lang="en-ID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4843B13-5A12-3887-ECF1-FA6FEA08B2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0297" y="2109790"/>
            <a:ext cx="5555226" cy="24277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582086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16AA78-3C13-2C82-EAC3-D5A4A261EA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60D30B-45C6-BB23-D798-B29F47A47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 Depth: </a:t>
            </a:r>
            <a:r>
              <a:rPr lang="en-US" dirty="0" err="1"/>
              <a:t>github</a:t>
            </a:r>
            <a:r>
              <a:rPr lang="en-US" dirty="0"/>
              <a:t> Project</a:t>
            </a:r>
            <a:endParaRPr lang="en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6AC9DA-4B89-F031-E67F-7571C18D08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749413" cy="4351338"/>
          </a:xfrm>
        </p:spPr>
        <p:txBody>
          <a:bodyPr/>
          <a:lstStyle/>
          <a:p>
            <a:r>
              <a:rPr lang="en-US" dirty="0" err="1"/>
              <a:t>Tempat</a:t>
            </a:r>
            <a:r>
              <a:rPr lang="en-US" dirty="0"/>
              <a:t> </a:t>
            </a:r>
            <a:r>
              <a:rPr lang="en-US" dirty="0" err="1"/>
              <a:t>mengatur</a:t>
            </a:r>
            <a:r>
              <a:rPr lang="en-US" dirty="0"/>
              <a:t> planning </a:t>
            </a:r>
            <a:r>
              <a:rPr lang="en-US" dirty="0" err="1"/>
              <a:t>kedepannya</a:t>
            </a:r>
            <a:endParaRPr lang="en-US" dirty="0"/>
          </a:p>
          <a:p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visualisasi</a:t>
            </a:r>
            <a:r>
              <a:rPr lang="en-US" dirty="0"/>
              <a:t> mana </a:t>
            </a:r>
            <a:r>
              <a:rPr lang="en-US" dirty="0" err="1"/>
              <a:t>fitur</a:t>
            </a:r>
            <a:r>
              <a:rPr lang="en-US" dirty="0"/>
              <a:t>/task yang </a:t>
            </a:r>
            <a:r>
              <a:rPr lang="en-US" dirty="0" err="1"/>
              <a:t>sedang</a:t>
            </a:r>
            <a:r>
              <a:rPr lang="en-US" dirty="0"/>
              <a:t>/</a:t>
            </a:r>
            <a:r>
              <a:rPr lang="en-US" dirty="0" err="1"/>
              <a:t>akan</a:t>
            </a:r>
            <a:r>
              <a:rPr lang="en-US" dirty="0"/>
              <a:t> </a:t>
            </a:r>
            <a:r>
              <a:rPr lang="en-US" dirty="0" err="1"/>
              <a:t>dikerjakan</a:t>
            </a:r>
            <a:endParaRPr lang="en-US" dirty="0"/>
          </a:p>
          <a:p>
            <a:r>
              <a:rPr lang="en-US" dirty="0" err="1"/>
              <a:t>Mirip</a:t>
            </a:r>
            <a:r>
              <a:rPr lang="en-US" dirty="0"/>
              <a:t> Jira </a:t>
            </a:r>
            <a:r>
              <a:rPr lang="en-US" dirty="0" err="1"/>
              <a:t>tapi</a:t>
            </a:r>
            <a:r>
              <a:rPr lang="en-US" dirty="0"/>
              <a:t> integrated</a:t>
            </a:r>
          </a:p>
          <a:p>
            <a:r>
              <a:rPr lang="en-US" dirty="0"/>
              <a:t>Bisa </a:t>
            </a:r>
            <a:r>
              <a:rPr lang="en-US" dirty="0" err="1"/>
              <a:t>ada</a:t>
            </a:r>
            <a:r>
              <a:rPr lang="en-US" dirty="0"/>
              <a:t> chart </a:t>
            </a:r>
            <a:r>
              <a:rPr lang="en-US" dirty="0" err="1"/>
              <a:t>nya</a:t>
            </a:r>
            <a:r>
              <a:rPr lang="en-US" dirty="0"/>
              <a:t> juga</a:t>
            </a:r>
            <a:endParaRPr lang="en-ID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76D008-063F-6893-611F-28E193C6FE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D"/>
              <a:t>27/02/2026</a:t>
            </a:r>
            <a:endParaRPr lang="en-ID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C7DA90-741C-733C-353C-5FFD9B41CF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D"/>
              <a:t>Git</a:t>
            </a:r>
            <a:endParaRPr lang="en-ID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4593209-8C5D-4C5B-9292-7400E0A5BF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0071" y="2222089"/>
            <a:ext cx="4954769" cy="22304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349554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819F34-A607-4C36-40A8-8F40FE58FD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C2F414-1C9C-A685-21E6-9B18EB3B58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 Depth: </a:t>
            </a:r>
            <a:r>
              <a:rPr lang="en-US" dirty="0" err="1"/>
              <a:t>github</a:t>
            </a:r>
            <a:r>
              <a:rPr lang="en-US" dirty="0"/>
              <a:t> actions</a:t>
            </a:r>
            <a:endParaRPr lang="en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7E46DC-CA9B-AC77-4725-47A2DD698D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749413" cy="4351338"/>
          </a:xfrm>
        </p:spPr>
        <p:txBody>
          <a:bodyPr/>
          <a:lstStyle/>
          <a:p>
            <a:r>
              <a:rPr lang="en-US" dirty="0"/>
              <a:t>Automatic job yang di run </a:t>
            </a:r>
            <a:r>
              <a:rPr lang="en-US" dirty="0" err="1"/>
              <a:t>ketika</a:t>
            </a:r>
            <a:r>
              <a:rPr lang="en-US" dirty="0"/>
              <a:t> </a:t>
            </a:r>
            <a:r>
              <a:rPr lang="en-US" dirty="0" err="1"/>
              <a:t>ada</a:t>
            </a:r>
            <a:r>
              <a:rPr lang="en-US" dirty="0"/>
              <a:t> trigger</a:t>
            </a:r>
          </a:p>
          <a:p>
            <a:r>
              <a:rPr lang="en-US" dirty="0"/>
              <a:t>Misal:</a:t>
            </a:r>
          </a:p>
          <a:p>
            <a:pPr lvl="1"/>
            <a:r>
              <a:rPr lang="en-US" dirty="0"/>
              <a:t>Auto run test</a:t>
            </a:r>
          </a:p>
          <a:p>
            <a:pPr lvl="1"/>
            <a:r>
              <a:rPr lang="en-US" dirty="0"/>
              <a:t>Auto build</a:t>
            </a:r>
          </a:p>
          <a:p>
            <a:pPr lvl="1"/>
            <a:r>
              <a:rPr lang="en-US" dirty="0"/>
              <a:t>Auto deploy</a:t>
            </a:r>
            <a:endParaRPr lang="en-ID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2B57A4-EBE7-B146-51BC-785FB39C82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D"/>
              <a:t>27/02/2026</a:t>
            </a:r>
            <a:endParaRPr lang="en-ID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DDDF08D-EFB7-910F-2E39-92E02C1E20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D"/>
              <a:t>Git</a:t>
            </a:r>
            <a:endParaRPr lang="en-ID" dirty="0"/>
          </a:p>
        </p:txBody>
      </p:sp>
    </p:spTree>
    <p:extLst>
      <p:ext uri="{BB962C8B-B14F-4D97-AF65-F5344CB8AC3E}">
        <p14:creationId xmlns:p14="http://schemas.microsoft.com/office/powerpoint/2010/main" val="141600383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64F346-7A88-2206-FDFC-819B7272DE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2F99B7-CAC6-8CCF-8997-CE64625A02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Art of merging</a:t>
            </a:r>
            <a:endParaRPr lang="en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E1B846-BCCC-E39C-1BD8-75153A96E2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1147323" cy="1212543"/>
          </a:xfrm>
        </p:spPr>
        <p:txBody>
          <a:bodyPr/>
          <a:lstStyle/>
          <a:p>
            <a:r>
              <a:rPr lang="en-US" dirty="0"/>
              <a:t>Saat </a:t>
            </a:r>
            <a:r>
              <a:rPr lang="en-US" dirty="0" err="1"/>
              <a:t>melakukan</a:t>
            </a:r>
            <a:r>
              <a:rPr lang="en-US" dirty="0"/>
              <a:t> </a:t>
            </a:r>
            <a:r>
              <a:rPr lang="en-US" dirty="0" err="1"/>
              <a:t>mergin</a:t>
            </a:r>
            <a:r>
              <a:rPr lang="en-US" dirty="0"/>
              <a:t> </a:t>
            </a:r>
            <a:r>
              <a:rPr lang="en-US" dirty="0" err="1"/>
              <a:t>setelah</a:t>
            </a:r>
            <a:r>
              <a:rPr lang="en-US" dirty="0"/>
              <a:t> approve PR, </a:t>
            </a:r>
            <a:r>
              <a:rPr lang="en-US" dirty="0" err="1"/>
              <a:t>ada</a:t>
            </a:r>
            <a:r>
              <a:rPr lang="en-US" dirty="0"/>
              <a:t> 3 </a:t>
            </a:r>
            <a:r>
              <a:rPr lang="en-US" dirty="0" err="1"/>
              <a:t>jenis</a:t>
            </a:r>
            <a:r>
              <a:rPr lang="en-US" dirty="0"/>
              <a:t> commit yang </a:t>
            </a:r>
            <a:r>
              <a:rPr lang="en-US" dirty="0" err="1"/>
              <a:t>bisa</a:t>
            </a:r>
            <a:r>
              <a:rPr lang="en-US" dirty="0"/>
              <a:t> </a:t>
            </a:r>
            <a:r>
              <a:rPr lang="en-US" dirty="0" err="1"/>
              <a:t>terjadi</a:t>
            </a:r>
            <a:endParaRPr lang="en-ID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C94DDD-CC55-25BD-40A7-6455653929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D"/>
              <a:t>27/02/2026</a:t>
            </a:r>
            <a:endParaRPr lang="en-ID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84E28A-FD92-12F9-5A66-40BB620CF7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D"/>
              <a:t>Git</a:t>
            </a:r>
            <a:endParaRPr lang="en-ID" dirty="0"/>
          </a:p>
        </p:txBody>
      </p:sp>
      <p:pic>
        <p:nvPicPr>
          <p:cNvPr id="11266" name="Picture 2">
            <a:extLst>
              <a:ext uri="{FF2B5EF4-FFF2-40B4-BE49-F238E27FC236}">
                <a16:creationId xmlns:a16="http://schemas.microsoft.com/office/drawing/2014/main" id="{C469174E-594F-5CBF-E056-E5190B67E33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43350" y="2831690"/>
            <a:ext cx="3598054" cy="26482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3035818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AB54B-3D17-8181-F268-94851D7B51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090444-D4C3-2B04-2055-E5A4B02671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Art of merging</a:t>
            </a:r>
            <a:endParaRPr lang="en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8F442E-D73A-E37B-289D-C4882751C4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1147323" cy="2008956"/>
          </a:xfrm>
        </p:spPr>
        <p:txBody>
          <a:bodyPr>
            <a:normAutofit/>
          </a:bodyPr>
          <a:lstStyle/>
          <a:p>
            <a:r>
              <a:rPr lang="en-US" dirty="0"/>
              <a:t>Merge -&gt; paling basic</a:t>
            </a:r>
          </a:p>
          <a:p>
            <a:r>
              <a:rPr lang="en-US" dirty="0"/>
              <a:t>Squash -&gt; </a:t>
            </a:r>
            <a:r>
              <a:rPr lang="en-US" dirty="0" err="1"/>
              <a:t>semua</a:t>
            </a:r>
            <a:r>
              <a:rPr lang="en-US" dirty="0"/>
              <a:t> commit </a:t>
            </a:r>
            <a:r>
              <a:rPr lang="en-US" dirty="0" err="1"/>
              <a:t>jadi</a:t>
            </a:r>
            <a:r>
              <a:rPr lang="en-US" dirty="0"/>
              <a:t> </a:t>
            </a:r>
            <a:r>
              <a:rPr lang="en-US" dirty="0" err="1"/>
              <a:t>satu</a:t>
            </a:r>
            <a:r>
              <a:rPr lang="en-US" dirty="0"/>
              <a:t> “merge commit”</a:t>
            </a:r>
          </a:p>
          <a:p>
            <a:r>
              <a:rPr lang="en-US" dirty="0"/>
              <a:t>Rebase -&gt; </a:t>
            </a:r>
            <a:r>
              <a:rPr lang="en-US" dirty="0" err="1"/>
              <a:t>semua</a:t>
            </a:r>
            <a:r>
              <a:rPr lang="en-US" dirty="0"/>
              <a:t> </a:t>
            </a:r>
            <a:r>
              <a:rPr lang="en-US" dirty="0" err="1"/>
              <a:t>histori</a:t>
            </a:r>
            <a:r>
              <a:rPr lang="en-US" dirty="0"/>
              <a:t> di </a:t>
            </a:r>
            <a:r>
              <a:rPr lang="en-US" dirty="0" err="1"/>
              <a:t>pindah</a:t>
            </a:r>
            <a:r>
              <a:rPr lang="en-US" dirty="0"/>
              <a:t> </a:t>
            </a:r>
            <a:r>
              <a:rPr lang="en-US" dirty="0" err="1"/>
              <a:t>tanpa</a:t>
            </a:r>
            <a:r>
              <a:rPr lang="en-US" dirty="0"/>
              <a:t> “merge commit”</a:t>
            </a:r>
          </a:p>
          <a:p>
            <a:endParaRPr lang="en-ID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9711FD-5745-6FEA-A87E-5AF50E4A10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D"/>
              <a:t>27/02/2026</a:t>
            </a:r>
            <a:endParaRPr lang="en-ID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89BB6D-360A-DBFA-BAE1-6F7F40C09A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D"/>
              <a:t>Git</a:t>
            </a:r>
            <a:endParaRPr lang="en-ID" dirty="0"/>
          </a:p>
        </p:txBody>
      </p:sp>
      <p:pic>
        <p:nvPicPr>
          <p:cNvPr id="12290" name="Picture 2" descr="git - What is the difference between merge --squash and rebase? - Stack  Overflow">
            <a:extLst>
              <a:ext uri="{FF2B5EF4-FFF2-40B4-BE49-F238E27FC236}">
                <a16:creationId xmlns:a16="http://schemas.microsoft.com/office/drawing/2014/main" id="{39CA6888-AEC3-4414-3583-A13D6BA367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49254" y="3811372"/>
            <a:ext cx="4904146" cy="25681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517765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7D8A47-0D73-5273-3516-0C765BF0E1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3C6800-77FC-315A-6CA3-721C2A7A1F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Gitlab: the online git</a:t>
            </a:r>
            <a:endParaRPr lang="en-ID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A6D7F81-D4C6-C8A8-96A5-098B68E137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D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09686A-8672-5401-A4B3-FF34CDBA29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D"/>
              <a:t>27/02/2026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BBB76B-CED0-40E2-C641-2D090E0DC0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D"/>
              <a:t>Git</a:t>
            </a:r>
          </a:p>
        </p:txBody>
      </p:sp>
    </p:spTree>
    <p:extLst>
      <p:ext uri="{BB962C8B-B14F-4D97-AF65-F5344CB8AC3E}">
        <p14:creationId xmlns:p14="http://schemas.microsoft.com/office/powerpoint/2010/main" val="114581938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22C84E-BA9C-8FC7-F58D-30BBC3AC72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622DC7-165A-18BE-CD30-249682B919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Gitlab</a:t>
            </a:r>
            <a:endParaRPr lang="en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7D423C-A0D8-0184-51D0-70ECBC85D1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031658" cy="4351338"/>
          </a:xfrm>
        </p:spPr>
        <p:txBody>
          <a:bodyPr/>
          <a:lstStyle/>
          <a:p>
            <a:r>
              <a:rPr lang="en-US" dirty="0"/>
              <a:t>Kayak google drive </a:t>
            </a:r>
            <a:r>
              <a:rPr lang="en-US" dirty="0" err="1"/>
              <a:t>nya</a:t>
            </a:r>
            <a:r>
              <a:rPr lang="en-US" dirty="0"/>
              <a:t> for coding</a:t>
            </a:r>
          </a:p>
          <a:p>
            <a:r>
              <a:rPr lang="en-US" dirty="0" err="1"/>
              <a:t>Serupa</a:t>
            </a:r>
            <a:r>
              <a:rPr lang="en-US" dirty="0"/>
              <a:t> </a:t>
            </a:r>
            <a:r>
              <a:rPr lang="en-US" dirty="0" err="1"/>
              <a:t>tapi</a:t>
            </a:r>
            <a:r>
              <a:rPr lang="en-US" dirty="0"/>
              <a:t> </a:t>
            </a:r>
            <a:r>
              <a:rPr lang="en-US" dirty="0" err="1"/>
              <a:t>tak</a:t>
            </a:r>
            <a:r>
              <a:rPr lang="en-US" dirty="0"/>
              <a:t> </a:t>
            </a:r>
            <a:r>
              <a:rPr lang="en-US" dirty="0" err="1"/>
              <a:t>sama</a:t>
            </a:r>
            <a:endParaRPr lang="en-US" dirty="0"/>
          </a:p>
          <a:p>
            <a:r>
              <a:rPr lang="en-ID" dirty="0" err="1"/>
              <a:t>Nggak</a:t>
            </a:r>
            <a:r>
              <a:rPr lang="en-ID" dirty="0"/>
              <a:t> </a:t>
            </a:r>
            <a:r>
              <a:rPr lang="en-ID" dirty="0" err="1"/>
              <a:t>bisa</a:t>
            </a:r>
            <a:r>
              <a:rPr lang="en-ID" dirty="0"/>
              <a:t> </a:t>
            </a:r>
            <a:r>
              <a:rPr lang="en-ID" dirty="0" err="1"/>
              <a:t>langusng</a:t>
            </a:r>
            <a:r>
              <a:rPr lang="en-ID" dirty="0"/>
              <a:t> upload file </a:t>
            </a:r>
            <a:r>
              <a:rPr lang="en-ID" dirty="0" err="1"/>
              <a:t>gitu</a:t>
            </a:r>
            <a:r>
              <a:rPr lang="en-ID" dirty="0"/>
              <a:t> </a:t>
            </a:r>
            <a:r>
              <a:rPr lang="en-ID" dirty="0" err="1"/>
              <a:t>aja</a:t>
            </a:r>
            <a:r>
              <a:rPr lang="en-ID" dirty="0"/>
              <a:t> (well you can, but don’t)</a:t>
            </a:r>
          </a:p>
          <a:p>
            <a:r>
              <a:rPr lang="en-ID" dirty="0" err="1"/>
              <a:t>Alternatif</a:t>
            </a:r>
            <a:r>
              <a:rPr lang="en-ID" dirty="0"/>
              <a:t> lain:</a:t>
            </a:r>
          </a:p>
          <a:p>
            <a:pPr lvl="1"/>
            <a:r>
              <a:rPr lang="en-ID" dirty="0" err="1"/>
              <a:t>Github</a:t>
            </a:r>
            <a:r>
              <a:rPr lang="en-ID" dirty="0"/>
              <a:t>, </a:t>
            </a:r>
            <a:r>
              <a:rPr lang="en-ID" dirty="0" err="1"/>
              <a:t>gittea</a:t>
            </a:r>
            <a:r>
              <a:rPr lang="en-ID" dirty="0"/>
              <a:t>, </a:t>
            </a:r>
            <a:r>
              <a:rPr lang="en-ID" dirty="0" err="1"/>
              <a:t>atlassian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F90CB1-6793-DD86-4A1D-3929EAD306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D"/>
              <a:t>27/02/2026</a:t>
            </a:r>
            <a:endParaRPr lang="en-ID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73F212-37E6-EC5F-818B-DD6EFB1A86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D"/>
              <a:t>Git</a:t>
            </a:r>
            <a:endParaRPr lang="en-ID" dirty="0"/>
          </a:p>
        </p:txBody>
      </p:sp>
      <p:pic>
        <p:nvPicPr>
          <p:cNvPr id="1026" name="Picture 2" descr="gitlab - Gitlab works great actually! - devRant">
            <a:extLst>
              <a:ext uri="{FF2B5EF4-FFF2-40B4-BE49-F238E27FC236}">
                <a16:creationId xmlns:a16="http://schemas.microsoft.com/office/drawing/2014/main" id="{C0DEF424-16ED-F1D6-B8E4-51A033FB8E9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22144" y="1005860"/>
            <a:ext cx="4594961" cy="45544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8625726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96FB24-469A-E112-EBB0-9CA49ABA5C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614563-7550-A37B-101A-08DD1D26BC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Tampilan</a:t>
            </a:r>
            <a:r>
              <a:rPr lang="en-US" dirty="0"/>
              <a:t> </a:t>
            </a:r>
            <a:r>
              <a:rPr lang="en-US" dirty="0" err="1"/>
              <a:t>gitlab</a:t>
            </a:r>
            <a:endParaRPr lang="en-ID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738262-D0B4-5B67-8366-01F675CE3F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D"/>
              <a:t>27/02/2026</a:t>
            </a:r>
            <a:endParaRPr lang="en-ID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5A8725-D749-CB4F-B917-61B5349579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D"/>
              <a:t>Git</a:t>
            </a:r>
            <a:endParaRPr lang="en-ID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F3424AD-1E87-8D2C-951F-799FE792CE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6400" y="2010603"/>
            <a:ext cx="8917858" cy="33609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146136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31F3A2-655B-B310-C34E-DE5DFEC44A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D5D119-E525-9C4A-FFF1-327C89C6F7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Fitur </a:t>
            </a:r>
            <a:r>
              <a:rPr lang="en-US" dirty="0" err="1"/>
              <a:t>dasar</a:t>
            </a:r>
            <a:r>
              <a:rPr lang="en-US" dirty="0"/>
              <a:t> </a:t>
            </a:r>
            <a:r>
              <a:rPr lang="en-US" dirty="0" err="1"/>
              <a:t>gitlab</a:t>
            </a:r>
            <a:endParaRPr lang="en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FF47F4-4EF6-536B-A9EF-EC235585FF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Project management</a:t>
            </a:r>
          </a:p>
          <a:p>
            <a:r>
              <a:rPr lang="en-US" dirty="0"/>
              <a:t>Issues 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pencatatan</a:t>
            </a:r>
            <a:r>
              <a:rPr lang="en-US" dirty="0"/>
              <a:t> </a:t>
            </a:r>
            <a:r>
              <a:rPr lang="en-US" dirty="0" err="1"/>
              <a:t>tugas</a:t>
            </a:r>
            <a:r>
              <a:rPr lang="en-US" dirty="0"/>
              <a:t>/bug</a:t>
            </a:r>
          </a:p>
          <a:p>
            <a:r>
              <a:rPr lang="en-US" dirty="0"/>
              <a:t>Merge request (review </a:t>
            </a:r>
            <a:r>
              <a:rPr lang="en-US" dirty="0" err="1"/>
              <a:t>sebelum</a:t>
            </a:r>
            <a:r>
              <a:rPr lang="en-US" dirty="0"/>
              <a:t> </a:t>
            </a:r>
            <a:r>
              <a:rPr lang="en-US" dirty="0" err="1"/>
              <a:t>dimerge</a:t>
            </a:r>
            <a:r>
              <a:rPr lang="en-US" dirty="0"/>
              <a:t>)</a:t>
            </a:r>
          </a:p>
          <a:p>
            <a:r>
              <a:rPr lang="en-US" dirty="0"/>
              <a:t>Snippets</a:t>
            </a:r>
          </a:p>
          <a:p>
            <a:r>
              <a:rPr lang="en-ID" dirty="0"/>
              <a:t>Multi-person collaboration</a:t>
            </a:r>
          </a:p>
          <a:p>
            <a:endParaRPr lang="en-ID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71C33B-3005-54AA-1797-04B044B8D6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D"/>
              <a:t>27/02/2026</a:t>
            </a:r>
            <a:endParaRPr lang="en-ID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D9B12A-6C76-B658-8E95-278649F992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D"/>
              <a:t>Git</a:t>
            </a:r>
            <a:endParaRPr lang="en-ID" dirty="0"/>
          </a:p>
        </p:txBody>
      </p:sp>
    </p:spTree>
    <p:extLst>
      <p:ext uri="{BB962C8B-B14F-4D97-AF65-F5344CB8AC3E}">
        <p14:creationId xmlns:p14="http://schemas.microsoft.com/office/powerpoint/2010/main" val="72360056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C18C0C-C36C-8AA5-4A2C-0B53B16354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6342C2-BA3D-DB89-5E1D-B719719C58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Alternative </a:t>
            </a:r>
            <a:r>
              <a:rPr lang="en-US" dirty="0" err="1"/>
              <a:t>selain</a:t>
            </a:r>
            <a:r>
              <a:rPr lang="en-US" dirty="0"/>
              <a:t> </a:t>
            </a:r>
            <a:r>
              <a:rPr lang="en-US" dirty="0" err="1"/>
              <a:t>gitlab</a:t>
            </a:r>
            <a:r>
              <a:rPr lang="en-US" dirty="0"/>
              <a:t>?</a:t>
            </a:r>
            <a:endParaRPr lang="en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3B0699-04A0-72BF-0534-4A3CD7A840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Gitlab</a:t>
            </a:r>
          </a:p>
          <a:p>
            <a:r>
              <a:rPr lang="en-US" dirty="0" err="1"/>
              <a:t>Gittea</a:t>
            </a:r>
            <a:endParaRPr lang="en-US" dirty="0"/>
          </a:p>
          <a:p>
            <a:r>
              <a:rPr lang="en-US" dirty="0"/>
              <a:t>Atlassian</a:t>
            </a:r>
          </a:p>
          <a:p>
            <a:r>
              <a:rPr lang="en-US" dirty="0" err="1"/>
              <a:t>BitBucket</a:t>
            </a:r>
            <a:endParaRPr lang="en-US" dirty="0"/>
          </a:p>
          <a:p>
            <a:r>
              <a:rPr lang="en-US" dirty="0" err="1"/>
              <a:t>AzureRepos</a:t>
            </a:r>
            <a:endParaRPr lang="en-ID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831799D-58E6-6131-4F89-80C25BEF1E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D"/>
              <a:t>27/02/2026</a:t>
            </a:r>
            <a:endParaRPr lang="en-ID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81DE0C-E846-2858-CA1B-1198138709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D"/>
              <a:t>Git</a:t>
            </a:r>
            <a:endParaRPr lang="en-ID" dirty="0"/>
          </a:p>
        </p:txBody>
      </p:sp>
    </p:spTree>
    <p:extLst>
      <p:ext uri="{BB962C8B-B14F-4D97-AF65-F5344CB8AC3E}">
        <p14:creationId xmlns:p14="http://schemas.microsoft.com/office/powerpoint/2010/main" val="57797347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C8D145-12CD-2CF2-0EF9-5E7A2AD9A4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0D925E-3711-C487-378F-BEF085BFCB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Git vs Gitlab? </a:t>
            </a:r>
            <a:r>
              <a:rPr lang="en-US" dirty="0" err="1"/>
              <a:t>Sebenernya</a:t>
            </a:r>
            <a:r>
              <a:rPr lang="en-US" dirty="0"/>
              <a:t> </a:t>
            </a:r>
            <a:r>
              <a:rPr lang="en-US" dirty="0" err="1"/>
              <a:t>gimana</a:t>
            </a:r>
            <a:r>
              <a:rPr lang="en-US" dirty="0"/>
              <a:t>?</a:t>
            </a:r>
            <a:endParaRPr lang="en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990665-4F2D-F705-EF02-936D6A9791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037596" cy="4351338"/>
          </a:xfrm>
        </p:spPr>
        <p:txBody>
          <a:bodyPr/>
          <a:lstStyle/>
          <a:p>
            <a:r>
              <a:rPr lang="en-US" dirty="0"/>
              <a:t>Git -&gt; Air Mineral</a:t>
            </a:r>
          </a:p>
          <a:p>
            <a:r>
              <a:rPr lang="en-US" dirty="0"/>
              <a:t>Gitlab -&gt; Aqua</a:t>
            </a:r>
          </a:p>
          <a:p>
            <a:endParaRPr lang="en-US" dirty="0"/>
          </a:p>
          <a:p>
            <a:r>
              <a:rPr lang="en-US" dirty="0"/>
              <a:t>Gitlab </a:t>
            </a:r>
            <a:r>
              <a:rPr lang="en-US" dirty="0" err="1"/>
              <a:t>memungkinkan</a:t>
            </a:r>
            <a:r>
              <a:rPr lang="en-US" dirty="0"/>
              <a:t> remote storage </a:t>
            </a:r>
            <a:r>
              <a:rPr lang="en-US" dirty="0" err="1"/>
              <a:t>untuk</a:t>
            </a:r>
            <a:r>
              <a:rPr lang="en-US" dirty="0"/>
              <a:t> repository</a:t>
            </a:r>
          </a:p>
          <a:p>
            <a:endParaRPr lang="en-US" dirty="0"/>
          </a:p>
          <a:p>
            <a:r>
              <a:rPr lang="en-US" dirty="0"/>
              <a:t>Coba run:</a:t>
            </a:r>
          </a:p>
          <a:p>
            <a:pPr lvl="1"/>
            <a:r>
              <a:rPr lang="en-US" dirty="0"/>
              <a:t>Git remote get-</a:t>
            </a:r>
            <a:r>
              <a:rPr lang="en-US" dirty="0" err="1"/>
              <a:t>url</a:t>
            </a:r>
            <a:r>
              <a:rPr lang="en-US" dirty="0"/>
              <a:t> origin</a:t>
            </a:r>
            <a:endParaRPr lang="en-ID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A3C542-F367-CABF-D2E6-76D87DB054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D"/>
              <a:t>27/02/2026</a:t>
            </a:r>
            <a:endParaRPr lang="en-ID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8941452-712A-E6B8-9455-ECA97F8FF6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D"/>
              <a:t>Git</a:t>
            </a:r>
            <a:endParaRPr lang="en-ID" dirty="0"/>
          </a:p>
        </p:txBody>
      </p:sp>
      <p:pic>
        <p:nvPicPr>
          <p:cNvPr id="10242" name="Picture 2">
            <a:extLst>
              <a:ext uri="{FF2B5EF4-FFF2-40B4-BE49-F238E27FC236}">
                <a16:creationId xmlns:a16="http://schemas.microsoft.com/office/drawing/2014/main" id="{33524611-3D13-6E54-FB81-471DC0FA90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16205" y="1870075"/>
            <a:ext cx="4261360" cy="31992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9709652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0096A2-08A4-42DC-7B91-83B9C5F814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3D92CB-3E54-D4BE-0F50-21F6CA9375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 Depth: </a:t>
            </a:r>
            <a:r>
              <a:rPr lang="en-US" dirty="0" err="1"/>
              <a:t>gitlab</a:t>
            </a:r>
            <a:r>
              <a:rPr lang="en-US" dirty="0"/>
              <a:t> projects</a:t>
            </a:r>
            <a:endParaRPr lang="en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005F1B-5C59-2DDB-352C-8FB6EA7A17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Seperti</a:t>
            </a:r>
            <a:r>
              <a:rPr lang="en-US" dirty="0"/>
              <a:t> folder drive</a:t>
            </a:r>
          </a:p>
          <a:p>
            <a:r>
              <a:rPr lang="en-US" dirty="0" err="1"/>
              <a:t>Pokok</a:t>
            </a:r>
            <a:r>
              <a:rPr lang="en-US" dirty="0"/>
              <a:t> </a:t>
            </a:r>
            <a:r>
              <a:rPr lang="en-US" dirty="0" err="1"/>
              <a:t>dari</a:t>
            </a:r>
            <a:r>
              <a:rPr lang="en-US" dirty="0"/>
              <a:t> </a:t>
            </a:r>
            <a:r>
              <a:rPr lang="en-US" dirty="0" err="1"/>
              <a:t>segala</a:t>
            </a:r>
            <a:r>
              <a:rPr lang="en-US" dirty="0"/>
              <a:t> </a:t>
            </a:r>
            <a:r>
              <a:rPr lang="en-US" dirty="0" err="1"/>
              <a:t>konsep</a:t>
            </a:r>
            <a:r>
              <a:rPr lang="en-US" dirty="0"/>
              <a:t> </a:t>
            </a:r>
            <a:r>
              <a:rPr lang="en-US" dirty="0" err="1"/>
              <a:t>github</a:t>
            </a:r>
            <a:endParaRPr lang="en-US" dirty="0"/>
          </a:p>
          <a:p>
            <a:r>
              <a:rPr lang="en-US" dirty="0" err="1"/>
              <a:t>Tempat</a:t>
            </a:r>
            <a:r>
              <a:rPr lang="en-US" dirty="0"/>
              <a:t> </a:t>
            </a:r>
            <a:r>
              <a:rPr lang="en-US" dirty="0" err="1"/>
              <a:t>naruh</a:t>
            </a:r>
            <a:r>
              <a:rPr lang="en-US" dirty="0"/>
              <a:t> code</a:t>
            </a:r>
          </a:p>
          <a:p>
            <a:r>
              <a:rPr lang="en-US" dirty="0"/>
              <a:t>Coba </a:t>
            </a:r>
            <a:r>
              <a:rPr lang="en-US" dirty="0" err="1"/>
              <a:t>buat</a:t>
            </a:r>
            <a:r>
              <a:rPr lang="en-US" dirty="0"/>
              <a:t>: new Projects</a:t>
            </a:r>
            <a:endParaRPr lang="en-ID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B56D4A-A61F-1717-4DD4-177D003A59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D"/>
              <a:t>27/02/2026</a:t>
            </a:r>
            <a:endParaRPr lang="en-ID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385C48-8E72-5FA4-3DA7-C69DAF726B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D"/>
              <a:t>Git</a:t>
            </a:r>
            <a:endParaRPr lang="en-ID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18BC8E5-5F87-90C9-E3E0-8507103348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60025" y="1870075"/>
            <a:ext cx="6007510" cy="31585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381467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959400-E380-E1B7-1F20-C5F159180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D3A4EE-1E81-AF97-B93A-8A273A047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 Depth: </a:t>
            </a:r>
            <a:r>
              <a:rPr lang="en-US" dirty="0" err="1"/>
              <a:t>gitlab</a:t>
            </a:r>
            <a:r>
              <a:rPr lang="en-US" dirty="0"/>
              <a:t> issue</a:t>
            </a:r>
            <a:endParaRPr lang="en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3D690B-7808-BD68-2CB6-D20BE89655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749413" cy="4351338"/>
          </a:xfrm>
        </p:spPr>
        <p:txBody>
          <a:bodyPr/>
          <a:lstStyle/>
          <a:p>
            <a:r>
              <a:rPr lang="en-US" dirty="0" err="1"/>
              <a:t>Tempat</a:t>
            </a:r>
            <a:r>
              <a:rPr lang="en-US" dirty="0"/>
              <a:t> </a:t>
            </a:r>
            <a:r>
              <a:rPr lang="en-US" dirty="0" err="1"/>
              <a:t>membuat</a:t>
            </a:r>
            <a:r>
              <a:rPr lang="en-US" dirty="0"/>
              <a:t> task</a:t>
            </a:r>
          </a:p>
          <a:p>
            <a:r>
              <a:rPr lang="en-US" dirty="0" err="1"/>
              <a:t>Tempat</a:t>
            </a:r>
            <a:r>
              <a:rPr lang="en-US" dirty="0"/>
              <a:t> </a:t>
            </a:r>
            <a:r>
              <a:rPr lang="en-US" dirty="0" err="1"/>
              <a:t>membuat</a:t>
            </a:r>
            <a:r>
              <a:rPr lang="en-US" dirty="0"/>
              <a:t> “ticket”</a:t>
            </a:r>
          </a:p>
          <a:p>
            <a:r>
              <a:rPr lang="en-US" dirty="0" err="1"/>
              <a:t>Tempat</a:t>
            </a:r>
            <a:r>
              <a:rPr lang="en-US" dirty="0"/>
              <a:t> </a:t>
            </a:r>
            <a:r>
              <a:rPr lang="en-US" dirty="0" err="1"/>
              <a:t>protes</a:t>
            </a:r>
            <a:r>
              <a:rPr lang="en-US" dirty="0"/>
              <a:t> (</a:t>
            </a:r>
            <a:r>
              <a:rPr lang="en-US" dirty="0" err="1"/>
              <a:t>ke</a:t>
            </a:r>
            <a:r>
              <a:rPr lang="en-US" dirty="0"/>
              <a:t> open source project)</a:t>
            </a:r>
          </a:p>
          <a:p>
            <a:r>
              <a:rPr lang="en-US" dirty="0" err="1"/>
              <a:t>Tempat</a:t>
            </a:r>
            <a:r>
              <a:rPr lang="en-US" dirty="0"/>
              <a:t> </a:t>
            </a:r>
            <a:r>
              <a:rPr lang="en-US" dirty="0" err="1"/>
              <a:t>bertanya</a:t>
            </a:r>
            <a:r>
              <a:rPr lang="en-US" dirty="0"/>
              <a:t> (</a:t>
            </a:r>
            <a:r>
              <a:rPr lang="en-US" dirty="0" err="1"/>
              <a:t>ke</a:t>
            </a:r>
            <a:r>
              <a:rPr lang="en-US" dirty="0"/>
              <a:t> OSS)</a:t>
            </a:r>
            <a:endParaRPr lang="en-ID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399ECD-CE92-FFD5-5858-452640DBC1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D"/>
              <a:t>27/02/2026</a:t>
            </a:r>
            <a:endParaRPr lang="en-ID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01ED61-F666-CFBC-AEDE-FC8BD27878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D"/>
              <a:t>Git</a:t>
            </a:r>
            <a:endParaRPr lang="en-ID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51DEF34-D11B-25EA-690D-94D51BBF77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4357" y="1870075"/>
            <a:ext cx="5884856" cy="25348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728248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29A7EF-1461-0C43-139E-FED67A753B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7909FE-1519-3FA1-5FBF-9D97BAEB1D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 Depth: </a:t>
            </a:r>
            <a:r>
              <a:rPr lang="en-US" dirty="0" err="1"/>
              <a:t>gitlab</a:t>
            </a:r>
            <a:r>
              <a:rPr lang="en-US" dirty="0"/>
              <a:t> Merge request</a:t>
            </a:r>
            <a:endParaRPr lang="en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C60752-2BEA-2EE2-AF78-CD5AE14610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749413" cy="4351338"/>
          </a:xfrm>
        </p:spPr>
        <p:txBody>
          <a:bodyPr/>
          <a:lstStyle/>
          <a:p>
            <a:r>
              <a:rPr lang="en-US" dirty="0"/>
              <a:t>Proses </a:t>
            </a:r>
            <a:r>
              <a:rPr lang="en-US" dirty="0" err="1"/>
              <a:t>sebelum</a:t>
            </a:r>
            <a:r>
              <a:rPr lang="en-US" dirty="0"/>
              <a:t> Merge</a:t>
            </a:r>
          </a:p>
          <a:p>
            <a:r>
              <a:rPr lang="en-US" dirty="0"/>
              <a:t>Kalau di local </a:t>
            </a:r>
            <a:r>
              <a:rPr lang="en-US" dirty="0" err="1"/>
              <a:t>ngga</a:t>
            </a:r>
            <a:r>
              <a:rPr lang="en-US" dirty="0"/>
              <a:t> </a:t>
            </a:r>
            <a:r>
              <a:rPr lang="en-US" dirty="0" err="1"/>
              <a:t>ada</a:t>
            </a:r>
            <a:r>
              <a:rPr lang="en-US" dirty="0"/>
              <a:t> </a:t>
            </a:r>
            <a:r>
              <a:rPr lang="en-US" dirty="0" err="1"/>
              <a:t>fitur</a:t>
            </a:r>
            <a:r>
              <a:rPr lang="en-US" dirty="0"/>
              <a:t> preview</a:t>
            </a:r>
          </a:p>
          <a:p>
            <a:r>
              <a:rPr lang="en-US" dirty="0"/>
              <a:t>Preview </a:t>
            </a:r>
            <a:r>
              <a:rPr lang="en-US" dirty="0" err="1"/>
              <a:t>sebelum</a:t>
            </a:r>
            <a:r>
              <a:rPr lang="en-US" dirty="0"/>
              <a:t> </a:t>
            </a:r>
            <a:r>
              <a:rPr lang="en-US" dirty="0" err="1"/>
              <a:t>melanjutkan</a:t>
            </a:r>
            <a:r>
              <a:rPr lang="en-US" dirty="0"/>
              <a:t> merge</a:t>
            </a:r>
          </a:p>
          <a:p>
            <a:pPr lvl="1"/>
            <a:r>
              <a:rPr lang="en-US" dirty="0"/>
              <a:t>Apakah </a:t>
            </a:r>
            <a:r>
              <a:rPr lang="en-US" dirty="0" err="1"/>
              <a:t>bagus</a:t>
            </a:r>
            <a:r>
              <a:rPr lang="en-US" dirty="0"/>
              <a:t>? Apakah conflict?</a:t>
            </a:r>
            <a:endParaRPr lang="en-ID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B435AC-C785-97FF-9407-33CDFF9620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D"/>
              <a:t>27/02/2026</a:t>
            </a:r>
            <a:endParaRPr lang="en-ID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901E06-47A2-4180-CD9D-6067C1007C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D"/>
              <a:t>Git</a:t>
            </a:r>
            <a:endParaRPr lang="en-ID" dirty="0"/>
          </a:p>
        </p:txBody>
      </p:sp>
    </p:spTree>
    <p:extLst>
      <p:ext uri="{BB962C8B-B14F-4D97-AF65-F5344CB8AC3E}">
        <p14:creationId xmlns:p14="http://schemas.microsoft.com/office/powerpoint/2010/main" val="123145634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E6AA0A-B99F-755A-BD2E-BD2A03F50B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00E079-A89B-8D95-8950-3DF87529C3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 Depth: </a:t>
            </a:r>
            <a:r>
              <a:rPr lang="en-US" dirty="0" err="1"/>
              <a:t>gitlab</a:t>
            </a:r>
            <a:r>
              <a:rPr lang="en-US" dirty="0"/>
              <a:t> Plan</a:t>
            </a:r>
            <a:endParaRPr lang="en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D6DD0A-51D5-E495-EE13-906702FA00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749413" cy="4351338"/>
          </a:xfrm>
        </p:spPr>
        <p:txBody>
          <a:bodyPr/>
          <a:lstStyle/>
          <a:p>
            <a:r>
              <a:rPr lang="en-US" dirty="0" err="1"/>
              <a:t>Tempat</a:t>
            </a:r>
            <a:r>
              <a:rPr lang="en-US" dirty="0"/>
              <a:t> </a:t>
            </a:r>
            <a:r>
              <a:rPr lang="en-US" dirty="0" err="1"/>
              <a:t>mengatur</a:t>
            </a:r>
            <a:r>
              <a:rPr lang="en-US" dirty="0"/>
              <a:t> planning </a:t>
            </a:r>
            <a:r>
              <a:rPr lang="en-US" dirty="0" err="1"/>
              <a:t>kedepannya</a:t>
            </a:r>
            <a:endParaRPr lang="en-US" dirty="0"/>
          </a:p>
          <a:p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visualisasi</a:t>
            </a:r>
            <a:r>
              <a:rPr lang="en-US" dirty="0"/>
              <a:t> mana </a:t>
            </a:r>
            <a:r>
              <a:rPr lang="en-US" dirty="0" err="1"/>
              <a:t>fitur</a:t>
            </a:r>
            <a:r>
              <a:rPr lang="en-US" dirty="0"/>
              <a:t>/task yang </a:t>
            </a:r>
            <a:r>
              <a:rPr lang="en-US" dirty="0" err="1"/>
              <a:t>sedang</a:t>
            </a:r>
            <a:r>
              <a:rPr lang="en-US" dirty="0"/>
              <a:t>/</a:t>
            </a:r>
            <a:r>
              <a:rPr lang="en-US" dirty="0" err="1"/>
              <a:t>akan</a:t>
            </a:r>
            <a:r>
              <a:rPr lang="en-US" dirty="0"/>
              <a:t> </a:t>
            </a:r>
            <a:r>
              <a:rPr lang="en-US" dirty="0" err="1"/>
              <a:t>dikerjakan</a:t>
            </a:r>
            <a:endParaRPr lang="en-US" dirty="0"/>
          </a:p>
          <a:p>
            <a:r>
              <a:rPr lang="en-US" dirty="0" err="1"/>
              <a:t>Mirip</a:t>
            </a:r>
            <a:r>
              <a:rPr lang="en-US" dirty="0"/>
              <a:t> Jira </a:t>
            </a:r>
            <a:r>
              <a:rPr lang="en-US" dirty="0" err="1"/>
              <a:t>tapi</a:t>
            </a:r>
            <a:r>
              <a:rPr lang="en-US" dirty="0"/>
              <a:t> integrated</a:t>
            </a:r>
          </a:p>
          <a:p>
            <a:r>
              <a:rPr lang="en-US" dirty="0"/>
              <a:t>Bisa </a:t>
            </a:r>
            <a:r>
              <a:rPr lang="en-US" dirty="0" err="1"/>
              <a:t>ada</a:t>
            </a:r>
            <a:r>
              <a:rPr lang="en-US" dirty="0"/>
              <a:t> chart </a:t>
            </a:r>
            <a:r>
              <a:rPr lang="en-US" dirty="0" err="1"/>
              <a:t>nya</a:t>
            </a:r>
            <a:r>
              <a:rPr lang="en-US" dirty="0"/>
              <a:t> juga</a:t>
            </a:r>
            <a:endParaRPr lang="en-ID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28F1D4-7A41-CE5F-0A06-11D1EFFA8B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D"/>
              <a:t>27/02/2026</a:t>
            </a:r>
            <a:endParaRPr lang="en-ID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8F6A18-7F8F-4948-B921-AFC2777058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D"/>
              <a:t>Git</a:t>
            </a:r>
            <a:endParaRPr lang="en-ID" dirty="0"/>
          </a:p>
        </p:txBody>
      </p:sp>
    </p:spTree>
    <p:extLst>
      <p:ext uri="{BB962C8B-B14F-4D97-AF65-F5344CB8AC3E}">
        <p14:creationId xmlns:p14="http://schemas.microsoft.com/office/powerpoint/2010/main" val="11153237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6D9B8B-11DD-A275-4D9F-1D6F10415A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469379-59C2-8539-1249-C3A60FCB72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 Depth: </a:t>
            </a:r>
            <a:r>
              <a:rPr lang="en-US" dirty="0" err="1"/>
              <a:t>gitlab</a:t>
            </a:r>
            <a:r>
              <a:rPr lang="en-US" dirty="0"/>
              <a:t> pages</a:t>
            </a:r>
            <a:endParaRPr lang="en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1FD0BC-0C58-95D2-7E93-12DF33E730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749413" cy="4351338"/>
          </a:xfrm>
        </p:spPr>
        <p:txBody>
          <a:bodyPr/>
          <a:lstStyle/>
          <a:p>
            <a:r>
              <a:rPr lang="en-US" dirty="0"/>
              <a:t>Free hosting </a:t>
            </a:r>
            <a:r>
              <a:rPr lang="en-US" dirty="0" err="1"/>
              <a:t>untuk</a:t>
            </a:r>
            <a:r>
              <a:rPr lang="en-US" dirty="0"/>
              <a:t> static website</a:t>
            </a:r>
            <a:endParaRPr lang="en-ID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91A228-66EE-B611-48A2-E84CCCFFA5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D"/>
              <a:t>27/02/2026</a:t>
            </a:r>
            <a:endParaRPr lang="en-ID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B70D7C-8809-2F68-9CFC-2A668D81C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D"/>
              <a:t>Git</a:t>
            </a:r>
            <a:endParaRPr lang="en-ID" dirty="0"/>
          </a:p>
        </p:txBody>
      </p:sp>
    </p:spTree>
    <p:extLst>
      <p:ext uri="{BB962C8B-B14F-4D97-AF65-F5344CB8AC3E}">
        <p14:creationId xmlns:p14="http://schemas.microsoft.com/office/powerpoint/2010/main" val="45052878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7B288B-7C0A-1062-BCC8-4418BBC28F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096B87-ACAC-7F63-01D7-B6E406E6B6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 Depth: </a:t>
            </a:r>
            <a:r>
              <a:rPr lang="en-US" dirty="0" err="1"/>
              <a:t>gitlab</a:t>
            </a:r>
            <a:r>
              <a:rPr lang="en-US" dirty="0"/>
              <a:t> job and pipeline</a:t>
            </a:r>
            <a:endParaRPr lang="en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7252E5-1221-D3BF-88BE-E31CD504B1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749413" cy="4351338"/>
          </a:xfrm>
        </p:spPr>
        <p:txBody>
          <a:bodyPr/>
          <a:lstStyle/>
          <a:p>
            <a:r>
              <a:rPr lang="en-US" dirty="0"/>
              <a:t>Automatic job yang di run </a:t>
            </a:r>
            <a:r>
              <a:rPr lang="en-US" dirty="0" err="1"/>
              <a:t>ketika</a:t>
            </a:r>
            <a:r>
              <a:rPr lang="en-US" dirty="0"/>
              <a:t> </a:t>
            </a:r>
            <a:r>
              <a:rPr lang="en-US" dirty="0" err="1"/>
              <a:t>ada</a:t>
            </a:r>
            <a:r>
              <a:rPr lang="en-US" dirty="0"/>
              <a:t> trigger</a:t>
            </a:r>
          </a:p>
          <a:p>
            <a:r>
              <a:rPr lang="en-US" dirty="0"/>
              <a:t>Misal:</a:t>
            </a:r>
          </a:p>
          <a:p>
            <a:pPr lvl="1"/>
            <a:r>
              <a:rPr lang="en-US" dirty="0"/>
              <a:t>Auto run test</a:t>
            </a:r>
          </a:p>
          <a:p>
            <a:pPr lvl="1"/>
            <a:r>
              <a:rPr lang="en-US" dirty="0"/>
              <a:t>Auto build</a:t>
            </a:r>
          </a:p>
          <a:p>
            <a:pPr lvl="1"/>
            <a:r>
              <a:rPr lang="en-US" dirty="0"/>
              <a:t>Auto deploy</a:t>
            </a:r>
          </a:p>
          <a:p>
            <a:pPr lvl="1"/>
            <a:r>
              <a:rPr lang="en-US" dirty="0" err="1"/>
              <a:t>etc</a:t>
            </a:r>
            <a:endParaRPr lang="en-ID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438C47-3671-6D97-E8D1-B0C1BFCC75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D"/>
              <a:t>27/02/2026</a:t>
            </a:r>
            <a:endParaRPr lang="en-ID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A80289-C28E-4782-4480-78ECE6CA32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D"/>
              <a:t>Git</a:t>
            </a:r>
            <a:endParaRPr lang="en-ID" dirty="0"/>
          </a:p>
        </p:txBody>
      </p:sp>
    </p:spTree>
    <p:extLst>
      <p:ext uri="{BB962C8B-B14F-4D97-AF65-F5344CB8AC3E}">
        <p14:creationId xmlns:p14="http://schemas.microsoft.com/office/powerpoint/2010/main" val="322569765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819686-7461-67A4-1B60-116286D7FF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F27890-29A8-312D-A05B-1CCCAC18D8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Art of merging</a:t>
            </a:r>
            <a:endParaRPr lang="en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02DC98-C7B0-6A8E-302A-673CBDA7E6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1147323" cy="1212543"/>
          </a:xfrm>
        </p:spPr>
        <p:txBody>
          <a:bodyPr/>
          <a:lstStyle/>
          <a:p>
            <a:r>
              <a:rPr lang="en-US" dirty="0"/>
              <a:t>Saat </a:t>
            </a:r>
            <a:r>
              <a:rPr lang="en-US" dirty="0" err="1"/>
              <a:t>melakukan</a:t>
            </a:r>
            <a:r>
              <a:rPr lang="en-US" dirty="0"/>
              <a:t> </a:t>
            </a:r>
            <a:r>
              <a:rPr lang="en-US" dirty="0" err="1"/>
              <a:t>mergin</a:t>
            </a:r>
            <a:r>
              <a:rPr lang="en-US" dirty="0"/>
              <a:t> </a:t>
            </a:r>
            <a:r>
              <a:rPr lang="en-US" dirty="0" err="1"/>
              <a:t>setelah</a:t>
            </a:r>
            <a:r>
              <a:rPr lang="en-US" dirty="0"/>
              <a:t> approve PR, </a:t>
            </a:r>
            <a:r>
              <a:rPr lang="en-US" dirty="0" err="1"/>
              <a:t>ada</a:t>
            </a:r>
            <a:r>
              <a:rPr lang="en-US" dirty="0"/>
              <a:t> 3 </a:t>
            </a:r>
            <a:r>
              <a:rPr lang="en-US" dirty="0" err="1"/>
              <a:t>jenis</a:t>
            </a:r>
            <a:r>
              <a:rPr lang="en-US" dirty="0"/>
              <a:t> commit yang </a:t>
            </a:r>
            <a:r>
              <a:rPr lang="en-US" dirty="0" err="1"/>
              <a:t>bisa</a:t>
            </a:r>
            <a:r>
              <a:rPr lang="en-US" dirty="0"/>
              <a:t> </a:t>
            </a:r>
            <a:r>
              <a:rPr lang="en-US" dirty="0" err="1"/>
              <a:t>terjadi</a:t>
            </a:r>
            <a:endParaRPr lang="en-ID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36C3C4-752C-51BC-104F-1DDD536B6D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D"/>
              <a:t>27/02/2026</a:t>
            </a:r>
            <a:endParaRPr lang="en-ID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7ECA0B-48AA-EF14-0458-076DDF5678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D"/>
              <a:t>Git</a:t>
            </a:r>
            <a:endParaRPr lang="en-ID" dirty="0"/>
          </a:p>
        </p:txBody>
      </p:sp>
      <p:pic>
        <p:nvPicPr>
          <p:cNvPr id="11266" name="Picture 2">
            <a:extLst>
              <a:ext uri="{FF2B5EF4-FFF2-40B4-BE49-F238E27FC236}">
                <a16:creationId xmlns:a16="http://schemas.microsoft.com/office/drawing/2014/main" id="{C337C9A2-51D5-1150-3DA2-E67E0AD64AB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43350" y="2831690"/>
            <a:ext cx="3598054" cy="26482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79913276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0DEFF-BDF1-8740-CEDE-EED6FE2C48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0385B8-F8D9-9C4C-0466-068F772027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Art of merging</a:t>
            </a:r>
            <a:endParaRPr lang="en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7B6673-8E1D-5E45-91FF-9384D24AC1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1147323" cy="2008956"/>
          </a:xfrm>
        </p:spPr>
        <p:txBody>
          <a:bodyPr>
            <a:normAutofit/>
          </a:bodyPr>
          <a:lstStyle/>
          <a:p>
            <a:r>
              <a:rPr lang="en-US" dirty="0"/>
              <a:t>Merge -&gt; paling basic</a:t>
            </a:r>
          </a:p>
          <a:p>
            <a:r>
              <a:rPr lang="en-US" dirty="0"/>
              <a:t>Squash -&gt; </a:t>
            </a:r>
            <a:r>
              <a:rPr lang="en-US" dirty="0" err="1"/>
              <a:t>semua</a:t>
            </a:r>
            <a:r>
              <a:rPr lang="en-US" dirty="0"/>
              <a:t> commit </a:t>
            </a:r>
            <a:r>
              <a:rPr lang="en-US" dirty="0" err="1"/>
              <a:t>jadi</a:t>
            </a:r>
            <a:r>
              <a:rPr lang="en-US" dirty="0"/>
              <a:t> </a:t>
            </a:r>
            <a:r>
              <a:rPr lang="en-US" dirty="0" err="1"/>
              <a:t>satu</a:t>
            </a:r>
            <a:r>
              <a:rPr lang="en-US" dirty="0"/>
              <a:t> “merge commit”</a:t>
            </a:r>
          </a:p>
          <a:p>
            <a:r>
              <a:rPr lang="en-US" dirty="0"/>
              <a:t>Rebase -&gt; </a:t>
            </a:r>
            <a:r>
              <a:rPr lang="en-US" dirty="0" err="1"/>
              <a:t>semua</a:t>
            </a:r>
            <a:r>
              <a:rPr lang="en-US" dirty="0"/>
              <a:t> </a:t>
            </a:r>
            <a:r>
              <a:rPr lang="en-US" dirty="0" err="1"/>
              <a:t>histori</a:t>
            </a:r>
            <a:r>
              <a:rPr lang="en-US" dirty="0"/>
              <a:t> di </a:t>
            </a:r>
            <a:r>
              <a:rPr lang="en-US" dirty="0" err="1"/>
              <a:t>pindah</a:t>
            </a:r>
            <a:r>
              <a:rPr lang="en-US" dirty="0"/>
              <a:t> </a:t>
            </a:r>
            <a:r>
              <a:rPr lang="en-US" dirty="0" err="1"/>
              <a:t>tanpa</a:t>
            </a:r>
            <a:r>
              <a:rPr lang="en-US" dirty="0"/>
              <a:t> “merge commit”</a:t>
            </a:r>
          </a:p>
          <a:p>
            <a:endParaRPr lang="en-ID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86C30A-E1AD-E3BC-B569-FA8D871324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D"/>
              <a:t>27/02/2026</a:t>
            </a:r>
            <a:endParaRPr lang="en-ID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57868F-4B11-DD39-921B-90099DCA9D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D"/>
              <a:t>Git</a:t>
            </a:r>
            <a:endParaRPr lang="en-ID" dirty="0"/>
          </a:p>
        </p:txBody>
      </p:sp>
      <p:pic>
        <p:nvPicPr>
          <p:cNvPr id="12290" name="Picture 2" descr="git - What is the difference between merge --squash and rebase? - Stack  Overflow">
            <a:extLst>
              <a:ext uri="{FF2B5EF4-FFF2-40B4-BE49-F238E27FC236}">
                <a16:creationId xmlns:a16="http://schemas.microsoft.com/office/drawing/2014/main" id="{C6564F48-51FD-F280-5C7F-A93010FCEC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49254" y="3811372"/>
            <a:ext cx="4904146" cy="25681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0592255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1B6C42-726B-0A35-560F-F582DFEAC0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Hosting: make your web visible</a:t>
            </a:r>
            <a:endParaRPr lang="en-ID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4EF19C2-D491-6787-9A17-F61C0BA85E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E78D67-24E6-B4DF-A042-C47A2E4E9B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D"/>
              <a:t>27/02/2026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1A4D02-7008-65CF-606D-583710BBF2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D"/>
              <a:t>Git</a:t>
            </a:r>
          </a:p>
        </p:txBody>
      </p:sp>
    </p:spTree>
    <p:extLst>
      <p:ext uri="{BB962C8B-B14F-4D97-AF65-F5344CB8AC3E}">
        <p14:creationId xmlns:p14="http://schemas.microsoft.com/office/powerpoint/2010/main" val="52111259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451</TotalTime>
  <Words>1396</Words>
  <Application>Microsoft Office PowerPoint</Application>
  <PresentationFormat>Widescreen</PresentationFormat>
  <Paragraphs>344</Paragraphs>
  <Slides>51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51</vt:i4>
      </vt:variant>
    </vt:vector>
  </HeadingPairs>
  <TitlesOfParts>
    <vt:vector size="55" baseType="lpstr">
      <vt:lpstr>Arial</vt:lpstr>
      <vt:lpstr>Calibri</vt:lpstr>
      <vt:lpstr>Calibri Light</vt:lpstr>
      <vt:lpstr>Office Theme</vt:lpstr>
      <vt:lpstr>Git dan Github</vt:lpstr>
      <vt:lpstr>Install terlebih dahulu</vt:lpstr>
      <vt:lpstr>Git: art of source control</vt:lpstr>
      <vt:lpstr>Question</vt:lpstr>
      <vt:lpstr>Kenapa ada Git?</vt:lpstr>
      <vt:lpstr>Kenapa ada Git?</vt:lpstr>
      <vt:lpstr>Kenapa ada Git?</vt:lpstr>
      <vt:lpstr>Alternative Git</vt:lpstr>
      <vt:lpstr>Konsep dasar Git: Terminology</vt:lpstr>
      <vt:lpstr>Konsep dasar Git: Terminology</vt:lpstr>
      <vt:lpstr>Konsep dasar Git: Terminology</vt:lpstr>
      <vt:lpstr>Git Workflow</vt:lpstr>
      <vt:lpstr>Kenapa workflow dan branch penting?</vt:lpstr>
      <vt:lpstr>PowerPoint Presentation</vt:lpstr>
      <vt:lpstr>Top git command (demo)</vt:lpstr>
      <vt:lpstr>Apakah harus selalu dihafal? Ngga juga</vt:lpstr>
      <vt:lpstr>Praktek</vt:lpstr>
      <vt:lpstr>Practice time</vt:lpstr>
      <vt:lpstr>In Depth: Git branch</vt:lpstr>
      <vt:lpstr>In Depth: Git merge</vt:lpstr>
      <vt:lpstr>In depth: Git log</vt:lpstr>
      <vt:lpstr>In depth: Git blame</vt:lpstr>
      <vt:lpstr>Git in terminal and GUI</vt:lpstr>
      <vt:lpstr>Github: the online git</vt:lpstr>
      <vt:lpstr>Github</vt:lpstr>
      <vt:lpstr>Buat akun github.com</vt:lpstr>
      <vt:lpstr>Fitur dasar github</vt:lpstr>
      <vt:lpstr>Alternative selain github?</vt:lpstr>
      <vt:lpstr>Git vs Github? Sebenernya gimana?</vt:lpstr>
      <vt:lpstr>In Depth: github repository</vt:lpstr>
      <vt:lpstr>In Depth: github issue</vt:lpstr>
      <vt:lpstr>In Depth: github Pull Request</vt:lpstr>
      <vt:lpstr>In Depth: github Project</vt:lpstr>
      <vt:lpstr>In Depth: github actions</vt:lpstr>
      <vt:lpstr>Art of merging</vt:lpstr>
      <vt:lpstr>Art of merging</vt:lpstr>
      <vt:lpstr>Gitlab: the online git</vt:lpstr>
      <vt:lpstr>Gitlab</vt:lpstr>
      <vt:lpstr>Tampilan gitlab</vt:lpstr>
      <vt:lpstr>Fitur dasar gitlab</vt:lpstr>
      <vt:lpstr>Alternative selain gitlab?</vt:lpstr>
      <vt:lpstr>Git vs Gitlab? Sebenernya gimana?</vt:lpstr>
      <vt:lpstr>In Depth: gitlab projects</vt:lpstr>
      <vt:lpstr>In Depth: gitlab issue</vt:lpstr>
      <vt:lpstr>In Depth: gitlab Merge request</vt:lpstr>
      <vt:lpstr>In Depth: gitlab Plan</vt:lpstr>
      <vt:lpstr>In Depth: gitlab pages</vt:lpstr>
      <vt:lpstr>In Depth: gitlab job and pipeline</vt:lpstr>
      <vt:lpstr>Art of merging</vt:lpstr>
      <vt:lpstr>Art of merging</vt:lpstr>
      <vt:lpstr>Hosting: make your web visible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Raymond Wangsa Putra</dc:creator>
  <cp:lastModifiedBy>Raymond Wangsa Putra</cp:lastModifiedBy>
  <cp:revision>128</cp:revision>
  <dcterms:created xsi:type="dcterms:W3CDTF">2026-02-24T15:47:48Z</dcterms:created>
  <dcterms:modified xsi:type="dcterms:W3CDTF">2026-02-26T17:14:29Z</dcterms:modified>
</cp:coreProperties>
</file>