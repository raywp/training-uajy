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1"/>
  </p:notesMasterIdLst>
  <p:sldIdLst>
    <p:sldId id="256" r:id="rId2"/>
    <p:sldId id="259" r:id="rId3"/>
    <p:sldId id="257" r:id="rId4"/>
    <p:sldId id="264" r:id="rId5"/>
    <p:sldId id="258" r:id="rId6"/>
    <p:sldId id="260" r:id="rId7"/>
    <p:sldId id="261" r:id="rId8"/>
    <p:sldId id="262" r:id="rId9"/>
    <p:sldId id="263" r:id="rId10"/>
    <p:sldId id="269" r:id="rId11"/>
    <p:sldId id="270" r:id="rId12"/>
    <p:sldId id="265" r:id="rId13"/>
    <p:sldId id="266" r:id="rId14"/>
    <p:sldId id="268" r:id="rId15"/>
    <p:sldId id="267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88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5" r:id="rId48"/>
    <p:sldId id="302" r:id="rId49"/>
    <p:sldId id="303" r:id="rId50"/>
    <p:sldId id="304" r:id="rId51"/>
    <p:sldId id="306" r:id="rId52"/>
    <p:sldId id="308" r:id="rId53"/>
    <p:sldId id="307" r:id="rId54"/>
    <p:sldId id="309" r:id="rId55"/>
    <p:sldId id="310" r:id="rId56"/>
    <p:sldId id="311" r:id="rId57"/>
    <p:sldId id="312" r:id="rId58"/>
    <p:sldId id="314" r:id="rId59"/>
    <p:sldId id="313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9F7027B-2B77-4E84-A834-732AECA0E7B7}">
          <p14:sldIdLst>
            <p14:sldId id="256"/>
            <p14:sldId id="259"/>
          </p14:sldIdLst>
        </p14:section>
        <p14:section name="Git" id="{EB624AA6-20D6-4A61-AA4B-A995921005C3}">
          <p14:sldIdLst>
            <p14:sldId id="257"/>
            <p14:sldId id="264"/>
            <p14:sldId id="258"/>
            <p14:sldId id="260"/>
            <p14:sldId id="261"/>
            <p14:sldId id="262"/>
            <p14:sldId id="263"/>
            <p14:sldId id="269"/>
            <p14:sldId id="270"/>
            <p14:sldId id="265"/>
            <p14:sldId id="266"/>
            <p14:sldId id="268"/>
            <p14:sldId id="267"/>
            <p14:sldId id="271"/>
            <p14:sldId id="273"/>
            <p14:sldId id="272"/>
            <p14:sldId id="274"/>
            <p14:sldId id="275"/>
            <p14:sldId id="276"/>
            <p14:sldId id="277"/>
            <p14:sldId id="278"/>
          </p14:sldIdLst>
        </p14:section>
        <p14:section name="Github" id="{0EE80F47-0A0D-4BCB-827D-6FC9113D1EEF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9"/>
            <p14:sldId id="288"/>
            <p14:sldId id="290"/>
            <p14:sldId id="291"/>
          </p14:sldIdLst>
        </p14:section>
        <p14:section name="Gitlab" id="{39944DDF-D3FC-42A6-BC6A-C9F89F4AE70E}">
          <p14:sldIdLst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5"/>
            <p14:sldId id="302"/>
            <p14:sldId id="303"/>
            <p14:sldId id="304"/>
          </p14:sldIdLst>
        </p14:section>
        <p14:section name="Hosting" id="{1C028AB8-67AB-4DA3-B6ED-EB3F2B4BAB6A}">
          <p14:sldIdLst>
            <p14:sldId id="306"/>
            <p14:sldId id="308"/>
            <p14:sldId id="307"/>
            <p14:sldId id="309"/>
            <p14:sldId id="310"/>
            <p14:sldId id="311"/>
            <p14:sldId id="312"/>
            <p14:sldId id="314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4ABFC-3074-413D-B7F9-A3C08E187088}" type="datetimeFigureOut">
              <a:rPr lang="en-ID" smtClean="0"/>
              <a:t>27/02/2026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E5EF3-203E-49A0-9DE7-FAA6818839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20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5344F-3A40-490B-0AC2-EA85E22BB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893C3-7654-6734-579F-39CB9B91A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61A30-3C97-0324-9802-A304BEA5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348F7-A545-D253-ED62-283212A5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070FA-29B5-08A6-E420-5B200FFAD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DEA-CC60-4CD4-ADAC-97362B65A046}" type="slidenum">
              <a:rPr lang="en-ID" smtClean="0"/>
              <a:t>‹#›</a:t>
            </a:fld>
            <a:endParaRPr lang="en-ID"/>
          </a:p>
        </p:txBody>
      </p:sp>
      <p:pic>
        <p:nvPicPr>
          <p:cNvPr id="7" name="Picture 2" descr="Academics - Universitas Atma Jaya Yogyakarta">
            <a:extLst>
              <a:ext uri="{FF2B5EF4-FFF2-40B4-BE49-F238E27FC236}">
                <a16:creationId xmlns:a16="http://schemas.microsoft.com/office/drawing/2014/main" id="{5335FECE-F42C-48B7-2ECE-F0FDF74D59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3" y="62886"/>
            <a:ext cx="588746" cy="58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osting dan Domain">
            <a:extLst>
              <a:ext uri="{FF2B5EF4-FFF2-40B4-BE49-F238E27FC236}">
                <a16:creationId xmlns:a16="http://schemas.microsoft.com/office/drawing/2014/main" id="{AAAF69F4-EE11-565F-9BA1-303BEC8CB0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8919" y="240723"/>
            <a:ext cx="1269762" cy="23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0787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40EF-F56E-6F45-9939-C9A61AF45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3B72E-83EE-C380-896A-A34971001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07330-C549-4239-7E34-5934639E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6705A-90DC-A802-1E2D-9237FE002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8E322-D996-E411-ACD1-93351E2A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DEA-CC60-4CD4-ADAC-97362B65A046}" type="slidenum">
              <a:rPr lang="en-ID" smtClean="0"/>
              <a:t>‹#›</a:t>
            </a:fld>
            <a:endParaRPr lang="en-ID" dirty="0"/>
          </a:p>
        </p:txBody>
      </p:sp>
      <p:pic>
        <p:nvPicPr>
          <p:cNvPr id="7" name="Picture 2" descr="Academics - Universitas Atma Jaya Yogyakarta">
            <a:extLst>
              <a:ext uri="{FF2B5EF4-FFF2-40B4-BE49-F238E27FC236}">
                <a16:creationId xmlns:a16="http://schemas.microsoft.com/office/drawing/2014/main" id="{69E3026C-852F-BC23-6B4A-C0F6D56223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3" y="62886"/>
            <a:ext cx="588746" cy="58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osting dan Domain">
            <a:extLst>
              <a:ext uri="{FF2B5EF4-FFF2-40B4-BE49-F238E27FC236}">
                <a16:creationId xmlns:a16="http://schemas.microsoft.com/office/drawing/2014/main" id="{6FB4BAC3-1DAC-09C3-7CB6-2D4F75C0D1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8919" y="240723"/>
            <a:ext cx="1269762" cy="23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6603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ACFF6-CF1E-107B-E18A-D95FC9D3F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0EC92-52B4-8E38-3749-2FD28DFDF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EB26F-69BA-5E7A-8848-BA8C9BBA6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85E1D-420D-8616-570B-8F39D70D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60F14-4033-4F6F-15D0-1A62BE7E5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DEA-CC60-4CD4-ADAC-97362B65A046}" type="slidenum">
              <a:rPr lang="en-ID" smtClean="0"/>
              <a:t>‹#›</a:t>
            </a:fld>
            <a:endParaRPr lang="en-ID"/>
          </a:p>
        </p:txBody>
      </p:sp>
      <p:pic>
        <p:nvPicPr>
          <p:cNvPr id="7" name="Picture 2" descr="Academics - Universitas Atma Jaya Yogyakarta">
            <a:extLst>
              <a:ext uri="{FF2B5EF4-FFF2-40B4-BE49-F238E27FC236}">
                <a16:creationId xmlns:a16="http://schemas.microsoft.com/office/drawing/2014/main" id="{ACB5C401-5D46-4CC9-5F18-093351CB89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3" y="62886"/>
            <a:ext cx="588746" cy="58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osting dan Domain">
            <a:extLst>
              <a:ext uri="{FF2B5EF4-FFF2-40B4-BE49-F238E27FC236}">
                <a16:creationId xmlns:a16="http://schemas.microsoft.com/office/drawing/2014/main" id="{88263CDD-76CA-8DAC-6C39-196780EE43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8919" y="240723"/>
            <a:ext cx="1269762" cy="23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9342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7500D-EA01-0115-6C1D-1D56BC810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B1695-9C05-107A-FACA-62AAEEF37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7E9BF-34EE-2C20-0EF6-0AE39A78C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6852E-5030-E9C9-FFEF-62F71EDC4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3A216-383B-46C2-328E-436FFC607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0D5FF-F2D8-7C21-7A0D-7D00C017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DEA-CC60-4CD4-ADAC-97362B65A046}" type="slidenum">
              <a:rPr lang="en-ID" smtClean="0"/>
              <a:t>‹#›</a:t>
            </a:fld>
            <a:endParaRPr lang="en-ID"/>
          </a:p>
        </p:txBody>
      </p:sp>
      <p:pic>
        <p:nvPicPr>
          <p:cNvPr id="8" name="Picture 2" descr="Academics - Universitas Atma Jaya Yogyakarta">
            <a:extLst>
              <a:ext uri="{FF2B5EF4-FFF2-40B4-BE49-F238E27FC236}">
                <a16:creationId xmlns:a16="http://schemas.microsoft.com/office/drawing/2014/main" id="{F7867AA6-47CF-BACD-9BCF-B5B5C565A5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3" y="62886"/>
            <a:ext cx="588746" cy="58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osting dan Domain">
            <a:extLst>
              <a:ext uri="{FF2B5EF4-FFF2-40B4-BE49-F238E27FC236}">
                <a16:creationId xmlns:a16="http://schemas.microsoft.com/office/drawing/2014/main" id="{E5F6DAD1-669F-72F5-C1DC-B80BBFD488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8919" y="240723"/>
            <a:ext cx="1269762" cy="23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1020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F2DD4-7BBC-EBC3-4DDC-FE93645AE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F3DB7-13DC-86D9-5122-542191FED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867E8-3A02-2B2A-4315-99E23E3A5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D92DB-88A1-77EE-32BC-0183ABA7F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D240BC-8D0C-C9E4-D431-C14DDCBB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C6AABA-03D2-BC3E-6B38-D42481DE3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8D8A7E-3E0F-B813-2AED-E39809DB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BD4C87-5CAD-C950-625B-9358DB99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DEA-CC60-4CD4-ADAC-97362B65A046}" type="slidenum">
              <a:rPr lang="en-ID" smtClean="0"/>
              <a:t>‹#›</a:t>
            </a:fld>
            <a:endParaRPr lang="en-ID"/>
          </a:p>
        </p:txBody>
      </p:sp>
      <p:pic>
        <p:nvPicPr>
          <p:cNvPr id="10" name="Picture 2" descr="Academics - Universitas Atma Jaya Yogyakarta">
            <a:extLst>
              <a:ext uri="{FF2B5EF4-FFF2-40B4-BE49-F238E27FC236}">
                <a16:creationId xmlns:a16="http://schemas.microsoft.com/office/drawing/2014/main" id="{7E653632-E6D5-3E49-E401-75B301E140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3" y="62886"/>
            <a:ext cx="588746" cy="58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Hosting dan Domain">
            <a:extLst>
              <a:ext uri="{FF2B5EF4-FFF2-40B4-BE49-F238E27FC236}">
                <a16:creationId xmlns:a16="http://schemas.microsoft.com/office/drawing/2014/main" id="{84D19DE7-C928-4BDD-202F-ECC2492EE3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8919" y="240723"/>
            <a:ext cx="1269762" cy="23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1705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2E1B-D64D-818F-A3BF-3B19C480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77F31-5EA6-0C7E-A44D-37F46B73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9B0BFD-9989-C7E0-12B4-166A02B82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29865-2401-A9BC-39DD-3333578E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DEA-CC60-4CD4-ADAC-97362B65A046}" type="slidenum">
              <a:rPr lang="en-ID" smtClean="0"/>
              <a:t>‹#›</a:t>
            </a:fld>
            <a:endParaRPr lang="en-ID"/>
          </a:p>
        </p:txBody>
      </p:sp>
      <p:pic>
        <p:nvPicPr>
          <p:cNvPr id="6" name="Picture 2" descr="Academics - Universitas Atma Jaya Yogyakarta">
            <a:extLst>
              <a:ext uri="{FF2B5EF4-FFF2-40B4-BE49-F238E27FC236}">
                <a16:creationId xmlns:a16="http://schemas.microsoft.com/office/drawing/2014/main" id="{B45F05D2-13CB-2BD5-CBAE-F87FDAA0CB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3" y="62886"/>
            <a:ext cx="588746" cy="58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osting dan Domain">
            <a:extLst>
              <a:ext uri="{FF2B5EF4-FFF2-40B4-BE49-F238E27FC236}">
                <a16:creationId xmlns:a16="http://schemas.microsoft.com/office/drawing/2014/main" id="{E8514F9C-0329-F4E5-03EA-714EF47900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8919" y="240723"/>
            <a:ext cx="1269762" cy="23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0457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CE16C-4B9D-5538-0BC2-3B76CBADA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82BB0E-566B-4773-F52D-C64FE40DD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B919A-CFC4-F658-838F-F2E41ACA1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DEA-CC60-4CD4-ADAC-97362B65A0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669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87E7-0EEF-16C6-196E-97ADA6B83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17E66-F04C-B638-70A2-775F24202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56ECD-DB8A-1873-5ECB-AFFC39FEA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752BC-910A-92CF-0F78-159A81005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43808-C382-87B4-FF0A-15023898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AD99F-596C-8B4E-4C2A-54E187C9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DEA-CC60-4CD4-ADAC-97362B65A046}" type="slidenum">
              <a:rPr lang="en-ID" smtClean="0"/>
              <a:t>‹#›</a:t>
            </a:fld>
            <a:endParaRPr lang="en-ID"/>
          </a:p>
        </p:txBody>
      </p:sp>
      <p:pic>
        <p:nvPicPr>
          <p:cNvPr id="8" name="Picture 2" descr="Academics - Universitas Atma Jaya Yogyakarta">
            <a:extLst>
              <a:ext uri="{FF2B5EF4-FFF2-40B4-BE49-F238E27FC236}">
                <a16:creationId xmlns:a16="http://schemas.microsoft.com/office/drawing/2014/main" id="{13A96389-BF7A-6DDD-4A33-709116E55D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3" y="62886"/>
            <a:ext cx="588746" cy="58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osting dan Domain">
            <a:extLst>
              <a:ext uri="{FF2B5EF4-FFF2-40B4-BE49-F238E27FC236}">
                <a16:creationId xmlns:a16="http://schemas.microsoft.com/office/drawing/2014/main" id="{4792FFD7-AEBC-9F20-20BF-612A45C60D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8919" y="240723"/>
            <a:ext cx="1269762" cy="23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0821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03E6E-93F8-D119-64F6-6CF1D101A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F90C8-C929-92E6-9584-532A0A6C1F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BE264-1494-DC8E-EA35-A28B5EF64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D337C-A93F-41FB-AFA6-40B6EF876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06E30-B98B-CF24-00EF-B972ED9C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4B9D8-FA75-AD95-D7A7-49FFB09F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DEA-CC60-4CD4-ADAC-97362B65A046}" type="slidenum">
              <a:rPr lang="en-ID" smtClean="0"/>
              <a:t>‹#›</a:t>
            </a:fld>
            <a:endParaRPr lang="en-ID"/>
          </a:p>
        </p:txBody>
      </p:sp>
      <p:pic>
        <p:nvPicPr>
          <p:cNvPr id="8" name="Picture 2" descr="Academics - Universitas Atma Jaya Yogyakarta">
            <a:extLst>
              <a:ext uri="{FF2B5EF4-FFF2-40B4-BE49-F238E27FC236}">
                <a16:creationId xmlns:a16="http://schemas.microsoft.com/office/drawing/2014/main" id="{BD0028B3-7834-2FCA-C78C-A16456AFAC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3" y="62886"/>
            <a:ext cx="588746" cy="58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osting dan Domain">
            <a:extLst>
              <a:ext uri="{FF2B5EF4-FFF2-40B4-BE49-F238E27FC236}">
                <a16:creationId xmlns:a16="http://schemas.microsoft.com/office/drawing/2014/main" id="{137BABA2-D8B7-B77F-632F-215327912D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8919" y="240723"/>
            <a:ext cx="1269762" cy="23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974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6FC0A-E688-521D-A9A5-973BBF839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0D7DD-B22A-7343-3682-C8A1B6C50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EA98C-BE43-0456-59FA-20585D8F7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A1C03-E5A4-BAD3-52C7-790AA041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186EB-1447-D24A-347B-8B783099B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DEA-CC60-4CD4-ADAC-97362B65A046}" type="slidenum">
              <a:rPr lang="en-ID" smtClean="0"/>
              <a:t>‹#›</a:t>
            </a:fld>
            <a:endParaRPr lang="en-ID"/>
          </a:p>
        </p:txBody>
      </p:sp>
      <p:pic>
        <p:nvPicPr>
          <p:cNvPr id="7" name="Picture 2" descr="Academics - Universitas Atma Jaya Yogyakarta">
            <a:extLst>
              <a:ext uri="{FF2B5EF4-FFF2-40B4-BE49-F238E27FC236}">
                <a16:creationId xmlns:a16="http://schemas.microsoft.com/office/drawing/2014/main" id="{5FE6BCF3-A680-8301-D737-B3993066DF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3" y="62886"/>
            <a:ext cx="588746" cy="58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osting dan Domain">
            <a:extLst>
              <a:ext uri="{FF2B5EF4-FFF2-40B4-BE49-F238E27FC236}">
                <a16:creationId xmlns:a16="http://schemas.microsoft.com/office/drawing/2014/main" id="{6214C68C-9254-AB2B-3E24-5F2C64AEA4C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8919" y="240723"/>
            <a:ext cx="1269762" cy="23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410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E1CF5D-14A4-920F-2C3A-FB14C67B6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BE63E-53FD-148E-A156-C8DDF3E38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FE5B9-95CD-D1F6-7A79-25828E11D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D1D6D-5019-F9A9-BA95-84297D0B0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AAC90-CD37-51B6-FCC2-3B5D683BD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DEA-CC60-4CD4-ADAC-97362B65A046}" type="slidenum">
              <a:rPr lang="en-ID" smtClean="0"/>
              <a:t>‹#›</a:t>
            </a:fld>
            <a:endParaRPr lang="en-ID"/>
          </a:p>
        </p:txBody>
      </p:sp>
      <p:pic>
        <p:nvPicPr>
          <p:cNvPr id="7" name="Picture 2" descr="Academics - Universitas Atma Jaya Yogyakarta">
            <a:extLst>
              <a:ext uri="{FF2B5EF4-FFF2-40B4-BE49-F238E27FC236}">
                <a16:creationId xmlns:a16="http://schemas.microsoft.com/office/drawing/2014/main" id="{E86BDB46-4FA1-36B1-AA4B-FE6ADF7E14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3" y="62886"/>
            <a:ext cx="588746" cy="58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osting dan Domain">
            <a:extLst>
              <a:ext uri="{FF2B5EF4-FFF2-40B4-BE49-F238E27FC236}">
                <a16:creationId xmlns:a16="http://schemas.microsoft.com/office/drawing/2014/main" id="{2ACE9CD3-5538-14B3-9B3A-124B988F4C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8919" y="240723"/>
            <a:ext cx="1269762" cy="23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0231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8E9810-CC04-78BA-5599-1EBB4617F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1026" name="Picture 2" descr="Academics - Universitas Atma Jaya Yogyakarta">
            <a:extLst>
              <a:ext uri="{FF2B5EF4-FFF2-40B4-BE49-F238E27FC236}">
                <a16:creationId xmlns:a16="http://schemas.microsoft.com/office/drawing/2014/main" id="{06D8099F-7C3B-7529-1DCB-6F1C569CEC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3" y="62886"/>
            <a:ext cx="588746" cy="58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sting dan Domain">
            <a:extLst>
              <a:ext uri="{FF2B5EF4-FFF2-40B4-BE49-F238E27FC236}">
                <a16:creationId xmlns:a16="http://schemas.microsoft.com/office/drawing/2014/main" id="{7D1E1690-C46C-FC00-F662-1A65191A408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8919" y="240723"/>
            <a:ext cx="1269762" cy="23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F71E85D3-C16D-E9B6-D21D-4CFF5F594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2343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5D9620E-8FE4-D0F6-07FC-7CB31551C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5EFB86C-F4C3-73A9-35D0-CE41337BC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1754FAB-4092-04A4-9CF3-4CAA9FB78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DEA-CC60-4CD4-ADAC-97362B65A0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8841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988CA-2A77-99D7-D27B-94FA5CB8A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FB3AE-7F98-9725-D8CF-41BBE6ACB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4120F-7619-1A65-2CF1-8F5AB39F9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AE76D-A7AC-0EA7-7EEA-FE6E6A321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8E1A9-C425-32EC-1C19-6AC9E6E2D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DEA-CC60-4CD4-ADAC-97362B65A046}" type="slidenum">
              <a:rPr lang="en-ID" smtClean="0"/>
              <a:t>‹#›</a:t>
            </a:fld>
            <a:endParaRPr lang="en-ID" dirty="0"/>
          </a:p>
        </p:txBody>
      </p:sp>
      <p:pic>
        <p:nvPicPr>
          <p:cNvPr id="7" name="Picture 2" descr="Academics - Universitas Atma Jaya Yogyakarta">
            <a:extLst>
              <a:ext uri="{FF2B5EF4-FFF2-40B4-BE49-F238E27FC236}">
                <a16:creationId xmlns:a16="http://schemas.microsoft.com/office/drawing/2014/main" id="{6462658C-3B3B-870E-5708-87B3D2BCD6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3" y="62886"/>
            <a:ext cx="588746" cy="58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osting dan Domain">
            <a:extLst>
              <a:ext uri="{FF2B5EF4-FFF2-40B4-BE49-F238E27FC236}">
                <a16:creationId xmlns:a16="http://schemas.microsoft.com/office/drawing/2014/main" id="{600AA7EA-8FF5-0FEC-D57F-092352D791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8919" y="240723"/>
            <a:ext cx="1269762" cy="23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182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06D2B3-13DF-FB43-88B0-F9219590A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210C8-48AD-38A2-F497-73B323C67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F4588-6AE0-E3BE-8BFD-9CE9A5890C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D"/>
              <a:t>27/02/2026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7AE4A-2298-F68E-FA92-00DD891F9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D"/>
              <a:t>Git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7D537-D3B9-510D-C0AF-25B4FBB1E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1DDEA-CC60-4CD4-ADAC-97362B65A046}" type="slidenum">
              <a:rPr lang="en-ID" smtClean="0"/>
              <a:t>‹#›</a:t>
            </a:fld>
            <a:endParaRPr lang="en-ID"/>
          </a:p>
        </p:txBody>
      </p:sp>
      <p:pic>
        <p:nvPicPr>
          <p:cNvPr id="7" name="Picture 2" descr="Academics - Universitas Atma Jaya Yogyakarta">
            <a:extLst>
              <a:ext uri="{FF2B5EF4-FFF2-40B4-BE49-F238E27FC236}">
                <a16:creationId xmlns:a16="http://schemas.microsoft.com/office/drawing/2014/main" id="{D82888BC-96B5-821B-1931-5AB466CC05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3" y="62886"/>
            <a:ext cx="588746" cy="58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osting dan Domain">
            <a:extLst>
              <a:ext uri="{FF2B5EF4-FFF2-40B4-BE49-F238E27FC236}">
                <a16:creationId xmlns:a16="http://schemas.microsoft.com/office/drawing/2014/main" id="{4DC87991-DCF9-8E67-FA47-4EAC662CFF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8919" y="240723"/>
            <a:ext cx="1269762" cy="23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8320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  <p:sldLayoutId id="2147483650" r:id="rId13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yWP/MyApp-demo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5D1B2-7D45-B5D1-2AAF-492B052D18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Git dan </a:t>
            </a:r>
            <a:r>
              <a:rPr lang="en-US" dirty="0" err="1"/>
              <a:t>Github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42BDD8-58B7-1ADD-0F10-69EEC0CF4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Raymond Wangsa Putra</a:t>
            </a:r>
          </a:p>
          <a:p>
            <a:r>
              <a:rPr lang="en-US" dirty="0"/>
              <a:t>UAJY – </a:t>
            </a:r>
            <a:r>
              <a:rPr lang="en-US" dirty="0" err="1"/>
              <a:t>Februari</a:t>
            </a:r>
            <a:r>
              <a:rPr lang="en-US" dirty="0"/>
              <a:t> 2026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661BA-BEB8-BB8B-1A1E-8C73A772E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0F293-C123-47F1-0782-58919ECA8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298765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F462751-54B6-6A7F-AA35-2BC6299EF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endParaRPr lang="en-ID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E9C2FDD-52C5-B147-8BF5-90A1568E7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(https://git-scm.com/install/)</a:t>
            </a:r>
          </a:p>
          <a:p>
            <a:endParaRPr lang="en-US" dirty="0"/>
          </a:p>
          <a:p>
            <a:r>
              <a:rPr lang="en-US" dirty="0" err="1"/>
              <a:t>Github</a:t>
            </a:r>
            <a:r>
              <a:rPr lang="en-US" dirty="0"/>
              <a:t> Desktop (https://desktop.github.com/download/)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13AB9-0C73-78AF-C0F2-1E1D6180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5B850-9A1D-6C60-F76E-7D0B5532D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09626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EC9887B-0E0B-249B-7BED-62FF380D7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Git: art of source control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381EB-9562-CEE2-51A3-B72B9BB3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CF7F4-269C-C20C-51A9-2C486810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99953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0762C-2AC8-AF7B-008A-2785D55C7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A9CA632-A7F4-480C-E976-18E8A83F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8785D-084E-319E-2824-298F8E048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 yang </a:t>
            </a:r>
            <a:r>
              <a:rPr lang="en-US" dirty="0" err="1"/>
              <a:t>nonton</a:t>
            </a:r>
            <a:r>
              <a:rPr lang="en-US" dirty="0"/>
              <a:t> Multiverse of Madness? Loki series? Umbrella Academy?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43EEA-97F8-AD1C-D332-AD7C1849C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00BD8-75E3-86A1-4EB3-5E4CF6A9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73127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F89DAC4-459F-E917-9275-EE68496F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Kenapa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Git?</a:t>
            </a:r>
            <a:endParaRPr lang="en-ID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B4626C93-91A1-C273-7E61-17E2C5009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160589"/>
          </a:xfrm>
        </p:spPr>
        <p:txBody>
          <a:bodyPr>
            <a:normAutofit/>
          </a:bodyPr>
          <a:lstStyle/>
          <a:p>
            <a:r>
              <a:rPr lang="en-US" dirty="0"/>
              <a:t>1 Orang 3 </a:t>
            </a:r>
            <a:r>
              <a:rPr lang="en-US" dirty="0" err="1"/>
              <a:t>tim</a:t>
            </a:r>
            <a:r>
              <a:rPr lang="en-US" dirty="0"/>
              <a:t>, masing </a:t>
            </a:r>
            <a:r>
              <a:rPr lang="en-US" dirty="0" err="1"/>
              <a:t>masing</a:t>
            </a:r>
            <a:r>
              <a:rPr lang="en-US" dirty="0"/>
              <a:t> </a:t>
            </a:r>
            <a:r>
              <a:rPr lang="en-US" dirty="0" err="1"/>
              <a:t>bikin</a:t>
            </a:r>
            <a:r>
              <a:rPr lang="en-US" dirty="0"/>
              <a:t> folder </a:t>
            </a:r>
            <a:r>
              <a:rPr lang="en-US" dirty="0" err="1"/>
              <a:t>mereka</a:t>
            </a:r>
            <a:r>
              <a:rPr lang="en-US" dirty="0"/>
              <a:t> </a:t>
            </a:r>
            <a:r>
              <a:rPr lang="en-US" dirty="0" err="1"/>
              <a:t>sendiri</a:t>
            </a:r>
            <a:endParaRPr lang="en-US" dirty="0"/>
          </a:p>
          <a:p>
            <a:pPr lvl="1"/>
            <a:r>
              <a:rPr lang="en-US" dirty="0" err="1"/>
              <a:t>Pelacakan</a:t>
            </a:r>
            <a:r>
              <a:rPr lang="en-US" dirty="0"/>
              <a:t> </a:t>
            </a:r>
            <a:r>
              <a:rPr lang="en-US" dirty="0" err="1"/>
              <a:t>sulit</a:t>
            </a:r>
            <a:r>
              <a:rPr lang="en-US" dirty="0"/>
              <a:t>, </a:t>
            </a:r>
            <a:r>
              <a:rPr lang="en-US" dirty="0" err="1"/>
              <a:t>penyatuan</a:t>
            </a:r>
            <a:r>
              <a:rPr lang="en-US" dirty="0"/>
              <a:t> </a:t>
            </a:r>
            <a:r>
              <a:rPr lang="en-US" dirty="0" err="1"/>
              <a:t>sulit</a:t>
            </a:r>
            <a:r>
              <a:rPr lang="en-US" dirty="0"/>
              <a:t>,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control </a:t>
            </a:r>
            <a:r>
              <a:rPr lang="en-US" dirty="0" err="1"/>
              <a:t>histori</a:t>
            </a:r>
            <a:endParaRPr lang="en-US" dirty="0"/>
          </a:p>
          <a:p>
            <a:r>
              <a:rPr lang="en-US" dirty="0"/>
              <a:t>Folder: </a:t>
            </a:r>
            <a:r>
              <a:rPr lang="en-US" dirty="0" err="1"/>
              <a:t>MyApp_Final</a:t>
            </a:r>
            <a:r>
              <a:rPr lang="en-US" dirty="0"/>
              <a:t>, </a:t>
            </a:r>
            <a:r>
              <a:rPr lang="en-US" dirty="0" err="1"/>
              <a:t>MyApp_final_revisi</a:t>
            </a:r>
            <a:r>
              <a:rPr lang="en-US" dirty="0"/>
              <a:t>, </a:t>
            </a:r>
            <a:r>
              <a:rPr lang="en-US" dirty="0" err="1"/>
              <a:t>MyApp_final_revisi_super_no_fix_pastisubmit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BB8B9-587F-5079-2B88-F5899CC0B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92ADA-2987-E41E-79F1-F0063553B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 dirty="0"/>
              <a:t>Git</a:t>
            </a:r>
          </a:p>
        </p:txBody>
      </p:sp>
      <p:pic>
        <p:nvPicPr>
          <p:cNvPr id="1030" name="Picture 6" descr="People - Free people icons">
            <a:extLst>
              <a:ext uri="{FF2B5EF4-FFF2-40B4-BE49-F238E27FC236}">
                <a16:creationId xmlns:a16="http://schemas.microsoft.com/office/drawing/2014/main" id="{98B8FADA-FF9B-957D-1C08-D8B6B9291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687" y="3690682"/>
            <a:ext cx="2278626" cy="227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D0D5544-16C6-B2C4-2BE1-ED816C4F9988}"/>
              </a:ext>
            </a:extLst>
          </p:cNvPr>
          <p:cNvCxnSpPr/>
          <p:nvPr/>
        </p:nvCxnSpPr>
        <p:spPr>
          <a:xfrm flipH="1" flipV="1">
            <a:off x="4504403" y="4555920"/>
            <a:ext cx="776749" cy="274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A7103470-F9E9-51BF-33F2-433D9A998EE8}"/>
              </a:ext>
            </a:extLst>
          </p:cNvPr>
          <p:cNvSpPr txBox="1">
            <a:spLocks/>
          </p:cNvSpPr>
          <p:nvPr/>
        </p:nvSpPr>
        <p:spPr>
          <a:xfrm>
            <a:off x="2038964" y="4035143"/>
            <a:ext cx="2853813" cy="569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MyApp_Raymond</a:t>
            </a:r>
            <a:endParaRPr lang="en-ID" dirty="0"/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20A5A6F8-D3F9-6577-9EFC-DFAEE38104AC}"/>
              </a:ext>
            </a:extLst>
          </p:cNvPr>
          <p:cNvSpPr txBox="1">
            <a:spLocks/>
          </p:cNvSpPr>
          <p:nvPr/>
        </p:nvSpPr>
        <p:spPr>
          <a:xfrm>
            <a:off x="2923866" y="5786744"/>
            <a:ext cx="2853813" cy="569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MyApp_Drian</a:t>
            </a:r>
            <a:endParaRPr lang="en-ID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441160-78FD-00E8-0306-8E2019762492}"/>
              </a:ext>
            </a:extLst>
          </p:cNvPr>
          <p:cNvCxnSpPr>
            <a:cxnSpLocks/>
          </p:cNvCxnSpPr>
          <p:nvPr/>
        </p:nvCxnSpPr>
        <p:spPr>
          <a:xfrm flipH="1">
            <a:off x="5182829" y="5399701"/>
            <a:ext cx="913171" cy="5696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F9BDFA12-0DF1-62E2-A901-3B20D1F357B0}"/>
              </a:ext>
            </a:extLst>
          </p:cNvPr>
          <p:cNvSpPr txBox="1">
            <a:spLocks/>
          </p:cNvSpPr>
          <p:nvPr/>
        </p:nvSpPr>
        <p:spPr>
          <a:xfrm>
            <a:off x="7342853" y="4774688"/>
            <a:ext cx="2853813" cy="569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MyApp_Nicki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6FB575-37DF-E3CB-9DD0-0FE60AD8894A}"/>
              </a:ext>
            </a:extLst>
          </p:cNvPr>
          <p:cNvCxnSpPr>
            <a:cxnSpLocks/>
          </p:cNvCxnSpPr>
          <p:nvPr/>
        </p:nvCxnSpPr>
        <p:spPr>
          <a:xfrm flipH="1" flipV="1">
            <a:off x="6854313" y="4853807"/>
            <a:ext cx="607142" cy="1588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251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1B6D2-AE14-33CF-AE30-8E440E4DA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EA3A955-1283-C9C3-08AB-6862AF0E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Kenapa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Git?</a:t>
            </a:r>
            <a:endParaRPr lang="en-ID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36129A5F-EB10-4A53-B8D6-0651DCE58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160589"/>
          </a:xfrm>
        </p:spPr>
        <p:txBody>
          <a:bodyPr>
            <a:normAutofit/>
          </a:bodyPr>
          <a:lstStyle/>
          <a:p>
            <a:r>
              <a:rPr lang="en-US" dirty="0" err="1"/>
              <a:t>Kegunaan</a:t>
            </a:r>
            <a:r>
              <a:rPr lang="en-US" dirty="0"/>
              <a:t> git:</a:t>
            </a:r>
          </a:p>
          <a:p>
            <a:pPr lvl="1"/>
            <a:r>
              <a:rPr lang="en-US" dirty="0" err="1"/>
              <a:t>Melacak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dan </a:t>
            </a:r>
            <a:r>
              <a:rPr lang="en-US" dirty="0" err="1"/>
              <a:t>histori</a:t>
            </a:r>
            <a:r>
              <a:rPr lang="en-US" dirty="0"/>
              <a:t> (</a:t>
            </a:r>
            <a:r>
              <a:rPr lang="en-US" dirty="0" err="1"/>
              <a:t>siapa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dan </a:t>
            </a:r>
            <a:r>
              <a:rPr lang="en-US" dirty="0" err="1"/>
              <a:t>kapan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Mempermudah</a:t>
            </a:r>
            <a:r>
              <a:rPr lang="en-US" dirty="0"/>
              <a:t> </a:t>
            </a:r>
            <a:r>
              <a:rPr lang="en-US" dirty="0" err="1"/>
              <a:t>kolaborasi</a:t>
            </a:r>
            <a:r>
              <a:rPr lang="en-US" dirty="0"/>
              <a:t> (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1 orang 1 folder)</a:t>
            </a:r>
          </a:p>
          <a:p>
            <a:pPr lvl="1"/>
            <a:r>
              <a:rPr lang="en-ID" dirty="0" err="1"/>
              <a:t>Mempermudah</a:t>
            </a:r>
            <a:r>
              <a:rPr lang="en-ID" dirty="0"/>
              <a:t> </a:t>
            </a:r>
            <a:r>
              <a:rPr lang="en-ID" dirty="0" err="1"/>
              <a:t>revisi</a:t>
            </a:r>
            <a:r>
              <a:rPr lang="en-ID" dirty="0"/>
              <a:t> (</a:t>
            </a:r>
            <a:r>
              <a:rPr lang="en-ID" dirty="0" err="1"/>
              <a:t>dibuat</a:t>
            </a:r>
            <a:r>
              <a:rPr lang="en-ID" dirty="0"/>
              <a:t> branch)</a:t>
            </a:r>
          </a:p>
          <a:p>
            <a:pPr lvl="1"/>
            <a:r>
              <a:rPr lang="en-ID" dirty="0" err="1"/>
              <a:t>Mempermudah</a:t>
            </a:r>
            <a:r>
              <a:rPr lang="en-ID" dirty="0"/>
              <a:t> rollback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versi</a:t>
            </a:r>
            <a:r>
              <a:rPr lang="en-ID" dirty="0"/>
              <a:t> </a:t>
            </a:r>
            <a:r>
              <a:rPr lang="en-ID" dirty="0" err="1"/>
              <a:t>sebelumnya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kendala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A790F-F373-F290-5A40-60639A071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AA8C8-557B-99C7-DA03-E525B74D0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 dirty="0"/>
              <a:t>Git</a:t>
            </a:r>
          </a:p>
        </p:txBody>
      </p:sp>
      <p:pic>
        <p:nvPicPr>
          <p:cNvPr id="1030" name="Picture 6" descr="People - Free people icons">
            <a:extLst>
              <a:ext uri="{FF2B5EF4-FFF2-40B4-BE49-F238E27FC236}">
                <a16:creationId xmlns:a16="http://schemas.microsoft.com/office/drawing/2014/main" id="{7F40F19C-5128-2FA5-9CB1-46A057D61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861" y="3827207"/>
            <a:ext cx="2278626" cy="227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C1C105-DD55-2840-DE8C-6D6F61AD1FE2}"/>
              </a:ext>
            </a:extLst>
          </p:cNvPr>
          <p:cNvCxnSpPr/>
          <p:nvPr/>
        </p:nvCxnSpPr>
        <p:spPr>
          <a:xfrm flipH="1" flipV="1">
            <a:off x="4435577" y="4692445"/>
            <a:ext cx="776749" cy="274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3A0CA121-334A-CE15-A3C7-F1E32C167EC5}"/>
              </a:ext>
            </a:extLst>
          </p:cNvPr>
          <p:cNvSpPr txBox="1">
            <a:spLocks/>
          </p:cNvSpPr>
          <p:nvPr/>
        </p:nvSpPr>
        <p:spPr>
          <a:xfrm>
            <a:off x="3512574" y="4171668"/>
            <a:ext cx="1311377" cy="569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MyApp</a:t>
            </a:r>
            <a:endParaRPr lang="en-ID" dirty="0"/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CAC17F67-06B8-B6BE-F194-8372EA53ACCE}"/>
              </a:ext>
            </a:extLst>
          </p:cNvPr>
          <p:cNvSpPr txBox="1">
            <a:spLocks/>
          </p:cNvSpPr>
          <p:nvPr/>
        </p:nvSpPr>
        <p:spPr>
          <a:xfrm>
            <a:off x="3974690" y="5923269"/>
            <a:ext cx="1734163" cy="569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MyApp</a:t>
            </a:r>
            <a:endParaRPr lang="en-ID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E0C9D7-EA6D-1C14-5056-710FAE54962F}"/>
              </a:ext>
            </a:extLst>
          </p:cNvPr>
          <p:cNvCxnSpPr>
            <a:cxnSpLocks/>
          </p:cNvCxnSpPr>
          <p:nvPr/>
        </p:nvCxnSpPr>
        <p:spPr>
          <a:xfrm flipH="1">
            <a:off x="5114003" y="5536226"/>
            <a:ext cx="913171" cy="5696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5F10F5B6-53D2-869E-2B9D-17F5B5FCD964}"/>
              </a:ext>
            </a:extLst>
          </p:cNvPr>
          <p:cNvSpPr txBox="1">
            <a:spLocks/>
          </p:cNvSpPr>
          <p:nvPr/>
        </p:nvSpPr>
        <p:spPr>
          <a:xfrm>
            <a:off x="7274027" y="4911213"/>
            <a:ext cx="2853813" cy="569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MyApp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2365D3-6B4B-B14E-CC0B-925AC7AF3642}"/>
              </a:ext>
            </a:extLst>
          </p:cNvPr>
          <p:cNvCxnSpPr>
            <a:cxnSpLocks/>
          </p:cNvCxnSpPr>
          <p:nvPr/>
        </p:nvCxnSpPr>
        <p:spPr>
          <a:xfrm flipH="1" flipV="1">
            <a:off x="6785487" y="4990332"/>
            <a:ext cx="607142" cy="1588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87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7DB0B-6A6C-664A-AB20-724C4A212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DF2B38E-E3EB-8337-F80D-B13569BEA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Kenapa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Git?</a:t>
            </a:r>
            <a:endParaRPr lang="en-ID" dirty="0"/>
          </a:p>
        </p:txBody>
      </p:sp>
      <p:pic>
        <p:nvPicPr>
          <p:cNvPr id="2050" name="Picture 2" descr="git log - Pretty Git branch graphs - Stack Overflow">
            <a:extLst>
              <a:ext uri="{FF2B5EF4-FFF2-40B4-BE49-F238E27FC236}">
                <a16:creationId xmlns:a16="http://schemas.microsoft.com/office/drawing/2014/main" id="{9B55A4DB-A7D5-6D5E-B234-22F04045A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085648" cy="386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he MCU Multiverse Explained">
            <a:extLst>
              <a:ext uri="{FF2B5EF4-FFF2-40B4-BE49-F238E27FC236}">
                <a16:creationId xmlns:a16="http://schemas.microsoft.com/office/drawing/2014/main" id="{40BC10DC-A002-24DC-2237-E9D931995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48231"/>
            <a:ext cx="5124473" cy="287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365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F7ECB-F2DF-FF91-691E-0C93C9889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B74CFDF-B81B-E0F8-D87C-75AE3EB34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Git</a:t>
            </a:r>
            <a:endParaRPr lang="en-ID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507EDE-C7C9-B394-ACA9-5CD49DC52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SVN</a:t>
            </a:r>
          </a:p>
          <a:p>
            <a:r>
              <a:rPr lang="en-US" dirty="0"/>
              <a:t>Mercurial</a:t>
            </a:r>
          </a:p>
          <a:p>
            <a:r>
              <a:rPr lang="en-US" dirty="0"/>
              <a:t>Perforce</a:t>
            </a:r>
          </a:p>
          <a:p>
            <a:endParaRPr lang="en-US" dirty="0"/>
          </a:p>
          <a:p>
            <a:r>
              <a:rPr lang="en-US" dirty="0"/>
              <a:t>Have I used it? No</a:t>
            </a:r>
          </a:p>
          <a:p>
            <a:endParaRPr lang="en-US" dirty="0"/>
          </a:p>
          <a:p>
            <a:r>
              <a:rPr lang="en-US" dirty="0"/>
              <a:t>Git -&gt; most widely used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31971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F149D-52A7-910F-A50C-43F3C9075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Git: Terminology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AF32A-9D71-2D8D-BF88-A74E66CCD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Repository</a:t>
            </a:r>
          </a:p>
          <a:p>
            <a:pPr lvl="1"/>
            <a:r>
              <a:rPr lang="en-US" dirty="0" err="1"/>
              <a:t>Intinya</a:t>
            </a:r>
            <a:r>
              <a:rPr lang="en-US" dirty="0"/>
              <a:t>: Folder </a:t>
            </a:r>
            <a:r>
              <a:rPr lang="en-US" dirty="0" err="1"/>
              <a:t>utama</a:t>
            </a:r>
            <a:r>
              <a:rPr lang="en-US" dirty="0"/>
              <a:t> (root)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bekerja</a:t>
            </a:r>
            <a:r>
              <a:rPr lang="en-US" dirty="0"/>
              <a:t> (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folder </a:t>
            </a:r>
            <a:r>
              <a:rPr lang="en-US" dirty="0" err="1"/>
              <a:t>biasa</a:t>
            </a:r>
            <a:r>
              <a:rPr lang="en-US" dirty="0"/>
              <a:t>)</a:t>
            </a:r>
          </a:p>
          <a:p>
            <a:r>
              <a:rPr lang="en-US" dirty="0"/>
              <a:t>Commit</a:t>
            </a:r>
          </a:p>
          <a:p>
            <a:pPr lvl="1"/>
            <a:r>
              <a:rPr lang="en-US" dirty="0" err="1"/>
              <a:t>Intinya</a:t>
            </a:r>
            <a:r>
              <a:rPr lang="en-US" dirty="0"/>
              <a:t>: </a:t>
            </a:r>
            <a:r>
              <a:rPr lang="en-US" dirty="0" err="1"/>
              <a:t>seperti</a:t>
            </a:r>
            <a:r>
              <a:rPr lang="en-US" dirty="0"/>
              <a:t> checkpoint </a:t>
            </a:r>
            <a:r>
              <a:rPr lang="en-US" dirty="0" err="1"/>
              <a:t>dalam</a:t>
            </a:r>
            <a:r>
              <a:rPr lang="en-US" dirty="0"/>
              <a:t> game, save </a:t>
            </a:r>
            <a:r>
              <a:rPr lang="en-US" dirty="0" err="1"/>
              <a:t>editan</a:t>
            </a:r>
            <a:r>
              <a:rPr lang="en-US" dirty="0"/>
              <a:t> up to that time</a:t>
            </a:r>
          </a:p>
          <a:p>
            <a:r>
              <a:rPr lang="en-US" dirty="0"/>
              <a:t>Branch</a:t>
            </a:r>
          </a:p>
          <a:p>
            <a:pPr lvl="1"/>
            <a:r>
              <a:rPr lang="en-US" dirty="0" err="1"/>
              <a:t>Intinya</a:t>
            </a:r>
            <a:r>
              <a:rPr lang="en-US" dirty="0"/>
              <a:t>: </a:t>
            </a:r>
            <a:r>
              <a:rPr lang="en-US" dirty="0" err="1"/>
              <a:t>jalur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terpisah</a:t>
            </a:r>
            <a:r>
              <a:rPr lang="en-US" dirty="0"/>
              <a:t>, </a:t>
            </a:r>
            <a:r>
              <a:rPr lang="en-US" dirty="0" err="1"/>
              <a:t>kodenya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multiverse</a:t>
            </a:r>
          </a:p>
          <a:p>
            <a:r>
              <a:rPr lang="en-US" dirty="0"/>
              <a:t>Merge</a:t>
            </a:r>
          </a:p>
          <a:p>
            <a:pPr lvl="1"/>
            <a:r>
              <a:rPr lang="en-US" dirty="0" err="1"/>
              <a:t>Intinya</a:t>
            </a:r>
            <a:r>
              <a:rPr lang="en-US" dirty="0"/>
              <a:t>: </a:t>
            </a:r>
            <a:r>
              <a:rPr lang="en-US" dirty="0" err="1"/>
              <a:t>menggabungkan</a:t>
            </a:r>
            <a:r>
              <a:rPr lang="en-US" dirty="0"/>
              <a:t> dua multiverse </a:t>
            </a:r>
            <a:r>
              <a:rPr lang="en-US" dirty="0" err="1"/>
              <a:t>codenya</a:t>
            </a:r>
            <a:endParaRPr lang="en-US" dirty="0"/>
          </a:p>
          <a:p>
            <a:r>
              <a:rPr lang="en-US" dirty="0"/>
              <a:t>Local dan Remote</a:t>
            </a:r>
          </a:p>
          <a:p>
            <a:pPr lvl="1"/>
            <a:r>
              <a:rPr lang="en-US" dirty="0"/>
              <a:t>Local: repository </a:t>
            </a:r>
            <a:r>
              <a:rPr lang="en-US" dirty="0" err="1"/>
              <a:t>berada</a:t>
            </a:r>
            <a:r>
              <a:rPr lang="en-US" dirty="0"/>
              <a:t> di PC </a:t>
            </a:r>
            <a:r>
              <a:rPr lang="en-US" dirty="0" err="1"/>
              <a:t>kita</a:t>
            </a:r>
            <a:endParaRPr lang="en-US" dirty="0"/>
          </a:p>
          <a:p>
            <a:pPr lvl="1"/>
            <a:r>
              <a:rPr lang="en-US" dirty="0"/>
              <a:t>Remote: repository </a:t>
            </a:r>
            <a:r>
              <a:rPr lang="en-US" dirty="0" err="1"/>
              <a:t>ada</a:t>
            </a:r>
            <a:r>
              <a:rPr lang="en-US" dirty="0"/>
              <a:t> di cloud </a:t>
            </a:r>
            <a:r>
              <a:rPr lang="en-US" dirty="0" err="1"/>
              <a:t>atau</a:t>
            </a:r>
            <a:r>
              <a:rPr lang="en-US" dirty="0"/>
              <a:t> Server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F609D-3EA0-36C1-6672-260D22807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A1333-2452-A76D-1F34-FA18B8640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69287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1AC67-049D-5259-9DB2-B390B361D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D96EB-4BFF-62FA-09B3-46C8A355E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Git: Terminology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49360-23B2-E9B7-FE9D-D2CBAF67E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Repository</a:t>
            </a:r>
          </a:p>
          <a:p>
            <a:pPr lvl="1"/>
            <a:r>
              <a:rPr lang="en-US" dirty="0" err="1"/>
              <a:t>Intinya</a:t>
            </a:r>
            <a:r>
              <a:rPr lang="en-US" dirty="0"/>
              <a:t>: Folder </a:t>
            </a:r>
            <a:r>
              <a:rPr lang="en-US" dirty="0" err="1"/>
              <a:t>utama</a:t>
            </a:r>
            <a:r>
              <a:rPr lang="en-US" dirty="0"/>
              <a:t> (root)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bekerja</a:t>
            </a:r>
            <a:r>
              <a:rPr lang="en-US" dirty="0"/>
              <a:t> (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folder </a:t>
            </a:r>
            <a:r>
              <a:rPr lang="en-US" dirty="0" err="1"/>
              <a:t>biasa</a:t>
            </a:r>
            <a:r>
              <a:rPr lang="en-US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6C06E-5839-961F-5EB4-236AF692C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24F7-B0DE-4327-98CF-1B4E2D3B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16E0CF-A82C-AE9C-AB16-4A8D6F676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977" y="3151188"/>
            <a:ext cx="4190934" cy="23722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49BAAD-7444-7578-16A3-BC4839445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347" y="3142289"/>
            <a:ext cx="5494907" cy="23811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687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8D30E-35D7-71D0-C203-6A30AD32E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B9709-A26B-ACA4-445A-0BB158CB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Git: Terminology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2F5A5-7282-802E-7338-B66382968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14220"/>
          </a:xfrm>
        </p:spPr>
        <p:txBody>
          <a:bodyPr>
            <a:normAutofit/>
          </a:bodyPr>
          <a:lstStyle/>
          <a:p>
            <a:r>
              <a:rPr lang="en-US" dirty="0"/>
              <a:t>Commit</a:t>
            </a:r>
          </a:p>
          <a:p>
            <a:pPr lvl="1"/>
            <a:r>
              <a:rPr lang="en-US" dirty="0" err="1"/>
              <a:t>Intinya</a:t>
            </a:r>
            <a:r>
              <a:rPr lang="en-US" dirty="0"/>
              <a:t>: </a:t>
            </a:r>
            <a:r>
              <a:rPr lang="en-US" dirty="0" err="1"/>
              <a:t>seperti</a:t>
            </a:r>
            <a:r>
              <a:rPr lang="en-US" dirty="0"/>
              <a:t> checkpoint </a:t>
            </a:r>
            <a:r>
              <a:rPr lang="en-US" dirty="0" err="1"/>
              <a:t>dalam</a:t>
            </a:r>
            <a:r>
              <a:rPr lang="en-US" dirty="0"/>
              <a:t> game, save </a:t>
            </a:r>
            <a:r>
              <a:rPr lang="en-US" dirty="0" err="1"/>
              <a:t>editan</a:t>
            </a:r>
            <a:r>
              <a:rPr lang="en-US" dirty="0"/>
              <a:t> up to that time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45E12-7C57-1BA2-C591-CCD3374B0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EF5C4-3E61-0FAE-D594-EAD41232C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FE73B3-9753-43ED-D99B-82F2C8C3A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104" y="2734232"/>
            <a:ext cx="6029632" cy="343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392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BA167-C303-5F5E-F197-74E7C2BA1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Workflow</a:t>
            </a:r>
            <a:endParaRPr lang="en-ID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DBD67E3-4A8E-62A4-8A71-749ADAD11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36" y="1825625"/>
            <a:ext cx="4667864" cy="4351338"/>
          </a:xfrm>
        </p:spPr>
        <p:txBody>
          <a:bodyPr/>
          <a:lstStyle/>
          <a:p>
            <a:r>
              <a:rPr lang="en-US" dirty="0"/>
              <a:t>Workflow </a:t>
            </a:r>
            <a:r>
              <a:rPr lang="en-US" dirty="0" err="1"/>
              <a:t>dasar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Git branch (</a:t>
            </a:r>
            <a:r>
              <a:rPr lang="en-US" dirty="0" err="1"/>
              <a:t>membuat</a:t>
            </a:r>
            <a:r>
              <a:rPr lang="en-US" dirty="0"/>
              <a:t> branch </a:t>
            </a:r>
            <a:r>
              <a:rPr lang="en-US" dirty="0" err="1"/>
              <a:t>baru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&lt;edit file&gt;</a:t>
            </a:r>
          </a:p>
          <a:p>
            <a:pPr lvl="1"/>
            <a:r>
              <a:rPr lang="en-US" dirty="0"/>
              <a:t>Git add (</a:t>
            </a:r>
            <a:r>
              <a:rPr lang="en-US" dirty="0" err="1"/>
              <a:t>mempersiapkan</a:t>
            </a:r>
            <a:r>
              <a:rPr lang="en-US" dirty="0"/>
              <a:t> checkpoint)</a:t>
            </a:r>
          </a:p>
          <a:p>
            <a:pPr lvl="1"/>
            <a:r>
              <a:rPr lang="en-US" dirty="0"/>
              <a:t>Git commit (me-save checkpoint + message)</a:t>
            </a:r>
          </a:p>
          <a:p>
            <a:pPr lvl="1"/>
            <a:r>
              <a:rPr lang="en-US" dirty="0"/>
              <a:t>Git push</a:t>
            </a:r>
          </a:p>
          <a:p>
            <a:pPr lvl="1"/>
            <a:r>
              <a:rPr lang="en-US" dirty="0"/>
              <a:t>Git merge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30707-08DF-C89C-AE04-12E353599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1B2E7-0C60-59F2-2B89-7BFFCE50B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3080" name="Picture 8" descr="Mastering Git Workflows: The Enterprise Developer's Guide to Shipping Code  That Actually Works | by JIN | DevOps.dev">
            <a:extLst>
              <a:ext uri="{FF2B5EF4-FFF2-40B4-BE49-F238E27FC236}">
                <a16:creationId xmlns:a16="http://schemas.microsoft.com/office/drawing/2014/main" id="{C0A71031-55B8-19D2-ADB5-F0398F7F5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68" y="1196117"/>
            <a:ext cx="5933768" cy="476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5092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771FA-5067-1EB5-654B-8E7BE8FEA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69334-3AEC-5802-4202-60D6DAA48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Kenapa</a:t>
            </a:r>
            <a:r>
              <a:rPr lang="en-US" dirty="0"/>
              <a:t> workflow dan branch </a:t>
            </a:r>
            <a:r>
              <a:rPr lang="en-US" dirty="0" err="1"/>
              <a:t>penting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0636958-CE02-9E86-BC80-624250729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terisolasi</a:t>
            </a:r>
            <a:r>
              <a:rPr lang="en-US" dirty="0"/>
              <a:t> (</a:t>
            </a:r>
            <a:r>
              <a:rPr lang="en-US" dirty="0" err="1"/>
              <a:t>dengan</a:t>
            </a:r>
            <a:r>
              <a:rPr lang="en-US" dirty="0"/>
              <a:t> branch)</a:t>
            </a:r>
          </a:p>
          <a:p>
            <a:r>
              <a:rPr lang="en-US" dirty="0" err="1"/>
              <a:t>Memudahkan</a:t>
            </a:r>
            <a:r>
              <a:rPr lang="en-US" dirty="0"/>
              <a:t> review (</a:t>
            </a:r>
            <a:r>
              <a:rPr lang="en-US" dirty="0" err="1"/>
              <a:t>dengan</a:t>
            </a:r>
            <a:r>
              <a:rPr lang="en-US" dirty="0"/>
              <a:t> pull request, merge request)</a:t>
            </a:r>
          </a:p>
          <a:p>
            <a:r>
              <a:rPr lang="en-US" dirty="0" err="1"/>
              <a:t>Mencegah</a:t>
            </a:r>
            <a:r>
              <a:rPr lang="en-US" dirty="0"/>
              <a:t> </a:t>
            </a:r>
            <a:r>
              <a:rPr lang="en-US" dirty="0" err="1"/>
              <a:t>konflik</a:t>
            </a:r>
            <a:r>
              <a:rPr lang="en-US" dirty="0"/>
              <a:t> (dua orang </a:t>
            </a:r>
            <a:r>
              <a:rPr lang="en-US" dirty="0" err="1"/>
              <a:t>ngedit</a:t>
            </a:r>
            <a:r>
              <a:rPr lang="en-US" dirty="0"/>
              <a:t> 1 file yang </a:t>
            </a:r>
            <a:r>
              <a:rPr lang="en-US" dirty="0" err="1"/>
              <a:t>sama</a:t>
            </a:r>
            <a:r>
              <a:rPr lang="en-US" dirty="0"/>
              <a:t>)</a:t>
            </a:r>
          </a:p>
          <a:p>
            <a:r>
              <a:rPr lang="en-US" dirty="0" err="1"/>
              <a:t>Memudahkan</a:t>
            </a:r>
            <a:r>
              <a:rPr lang="en-US" dirty="0"/>
              <a:t> </a:t>
            </a:r>
            <a:r>
              <a:rPr lang="en-US" dirty="0" err="1"/>
              <a:t>integrasi</a:t>
            </a:r>
            <a:r>
              <a:rPr lang="en-US" dirty="0"/>
              <a:t> (git merge, instead of copy-paste)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B55CD-EBFF-8A33-F9B1-583A7E75F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FF164-94D6-2602-1252-049AABDA9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94824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EC534-FFBE-6F7D-5928-ED8E91F0F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05A71-940C-66BE-3C33-D8B5EEB84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6DC99-4BBF-5C24-AACF-6CF9C7B11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sp>
        <p:nvSpPr>
          <p:cNvPr id="3" name="AutoShape 2" descr="Generated image">
            <a:extLst>
              <a:ext uri="{FF2B5EF4-FFF2-40B4-BE49-F238E27FC236}">
                <a16:creationId xmlns:a16="http://schemas.microsoft.com/office/drawing/2014/main" id="{665529A8-3CD9-B8AE-7A00-8A4006C1C0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6" name="AutoShape 4" descr="Generated image">
            <a:extLst>
              <a:ext uri="{FF2B5EF4-FFF2-40B4-BE49-F238E27FC236}">
                <a16:creationId xmlns:a16="http://schemas.microsoft.com/office/drawing/2014/main" id="{29846579-E94C-E34E-B3EB-CA3BC37230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04900" y="2349910"/>
            <a:ext cx="6990735" cy="4660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38DF29-CBF3-1E84-406B-BED11337C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165" y="1577887"/>
            <a:ext cx="5771706" cy="34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066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1506F-2AE2-D854-8570-B19E58AB8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19396-A51F-D8B5-8C22-38D6E2BF3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git command (demo)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1643C-03F1-4F8E-4C49-EA3A4BBEF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D81E0-B52F-3FA3-A58B-1A524235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C4EC00D8-EAB5-D046-2F97-E908285A7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0000" lnSpcReduction="20000"/>
          </a:bodyPr>
          <a:lstStyle/>
          <a:p>
            <a:r>
              <a:rPr lang="en-ID" dirty="0"/>
              <a:t>`git </a:t>
            </a:r>
            <a:r>
              <a:rPr lang="en-ID" dirty="0" err="1"/>
              <a:t>init</a:t>
            </a:r>
            <a:r>
              <a:rPr lang="en-ID" dirty="0"/>
              <a:t>` </a:t>
            </a:r>
            <a:r>
              <a:rPr lang="en-ID" dirty="0" err="1"/>
              <a:t>membuat</a:t>
            </a:r>
            <a:r>
              <a:rPr lang="en-ID" dirty="0"/>
              <a:t> repo git </a:t>
            </a:r>
            <a:r>
              <a:rPr lang="en-ID" dirty="0" err="1"/>
              <a:t>baru</a:t>
            </a:r>
            <a:r>
              <a:rPr lang="en-ID" dirty="0"/>
              <a:t> di folder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.</a:t>
            </a:r>
          </a:p>
          <a:p>
            <a:r>
              <a:rPr lang="en-ID" dirty="0"/>
              <a:t>`git clone &lt;URL&gt;` </a:t>
            </a:r>
            <a:r>
              <a:rPr lang="en-ID" dirty="0" err="1"/>
              <a:t>menyalin</a:t>
            </a:r>
            <a:r>
              <a:rPr lang="en-ID" dirty="0"/>
              <a:t> repo </a:t>
            </a:r>
            <a:r>
              <a:rPr lang="en-ID" dirty="0" err="1"/>
              <a:t>dari</a:t>
            </a:r>
            <a:r>
              <a:rPr lang="en-ID" dirty="0"/>
              <a:t> remote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lokal</a:t>
            </a:r>
            <a:r>
              <a:rPr lang="en-ID" dirty="0"/>
              <a:t>.</a:t>
            </a:r>
          </a:p>
          <a:p>
            <a:r>
              <a:rPr lang="en-ID" dirty="0"/>
              <a:t>`git status` </a:t>
            </a:r>
            <a:r>
              <a:rPr lang="en-ID" dirty="0" err="1"/>
              <a:t>melihat</a:t>
            </a:r>
            <a:r>
              <a:rPr lang="en-ID" dirty="0"/>
              <a:t> status </a:t>
            </a:r>
            <a:r>
              <a:rPr lang="en-ID" dirty="0" err="1"/>
              <a:t>perubahan</a:t>
            </a:r>
            <a:r>
              <a:rPr lang="en-ID" dirty="0"/>
              <a:t> file.</a:t>
            </a:r>
          </a:p>
          <a:p>
            <a:r>
              <a:rPr lang="en-ID" dirty="0"/>
              <a:t>`git add &lt;file&gt;` </a:t>
            </a:r>
            <a:r>
              <a:rPr lang="en-ID" dirty="0" err="1"/>
              <a:t>memasukkan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staging.</a:t>
            </a:r>
          </a:p>
          <a:p>
            <a:r>
              <a:rPr lang="en-ID" dirty="0"/>
              <a:t>`git commit -m "</a:t>
            </a:r>
            <a:r>
              <a:rPr lang="en-ID" dirty="0" err="1"/>
              <a:t>pesan</a:t>
            </a:r>
            <a:r>
              <a:rPr lang="en-ID" dirty="0"/>
              <a:t>"` </a:t>
            </a:r>
            <a:r>
              <a:rPr lang="en-ID" dirty="0" err="1"/>
              <a:t>menyimpan</a:t>
            </a:r>
            <a:r>
              <a:rPr lang="en-ID" dirty="0"/>
              <a:t> snapshot </a:t>
            </a:r>
            <a:r>
              <a:rPr lang="en-ID" dirty="0" err="1"/>
              <a:t>perubahan</a:t>
            </a:r>
            <a:r>
              <a:rPr lang="en-ID" dirty="0"/>
              <a:t>.</a:t>
            </a:r>
          </a:p>
          <a:p>
            <a:r>
              <a:rPr lang="en-ID" dirty="0"/>
              <a:t>`git log`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histori</a:t>
            </a:r>
            <a:r>
              <a:rPr lang="en-ID" dirty="0"/>
              <a:t> commit.</a:t>
            </a:r>
          </a:p>
          <a:p>
            <a:r>
              <a:rPr lang="en-ID" dirty="0"/>
              <a:t>`git branch`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daftar branch.</a:t>
            </a:r>
          </a:p>
          <a:p>
            <a:r>
              <a:rPr lang="en-ID" dirty="0"/>
              <a:t>`git checkout` </a:t>
            </a:r>
            <a:r>
              <a:rPr lang="en-ID" dirty="0" err="1"/>
              <a:t>berpindah</a:t>
            </a:r>
            <a:r>
              <a:rPr lang="en-ID" dirty="0"/>
              <a:t> branch</a:t>
            </a:r>
          </a:p>
          <a:p>
            <a:r>
              <a:rPr lang="en-ID" dirty="0"/>
              <a:t>`git switch &lt;branch&gt;` </a:t>
            </a:r>
            <a:r>
              <a:rPr lang="en-ID" dirty="0" err="1"/>
              <a:t>berpindah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branch </a:t>
            </a:r>
            <a:r>
              <a:rPr lang="en-ID" dirty="0" err="1"/>
              <a:t>tertentu</a:t>
            </a:r>
            <a:r>
              <a:rPr lang="en-ID" dirty="0"/>
              <a:t>.</a:t>
            </a:r>
          </a:p>
          <a:p>
            <a:r>
              <a:rPr lang="en-ID" dirty="0"/>
              <a:t>`git merge &lt;branch&gt;` </a:t>
            </a:r>
            <a:r>
              <a:rPr lang="en-ID" dirty="0" err="1"/>
              <a:t>menggabungkan</a:t>
            </a:r>
            <a:r>
              <a:rPr lang="en-ID" dirty="0"/>
              <a:t> branch </a:t>
            </a:r>
            <a:r>
              <a:rPr lang="en-ID" dirty="0" err="1"/>
              <a:t>ke</a:t>
            </a:r>
            <a:r>
              <a:rPr lang="en-ID" dirty="0"/>
              <a:t> branch </a:t>
            </a:r>
            <a:r>
              <a:rPr lang="en-ID" dirty="0" err="1"/>
              <a:t>aktif</a:t>
            </a:r>
            <a:r>
              <a:rPr lang="en-ID" dirty="0"/>
              <a:t>.</a:t>
            </a:r>
          </a:p>
          <a:p>
            <a:r>
              <a:rPr lang="en-ID" dirty="0"/>
              <a:t>`git pull`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remote. (download patch </a:t>
            </a:r>
            <a:r>
              <a:rPr lang="en-ID" dirty="0" err="1"/>
              <a:t>terbaru</a:t>
            </a:r>
            <a:r>
              <a:rPr lang="en-ID" dirty="0"/>
              <a:t>)</a:t>
            </a:r>
          </a:p>
          <a:p>
            <a:r>
              <a:rPr lang="en-ID" dirty="0"/>
              <a:t>`git push` </a:t>
            </a:r>
            <a:r>
              <a:rPr lang="en-ID" dirty="0" err="1"/>
              <a:t>mengirim</a:t>
            </a:r>
            <a:r>
              <a:rPr lang="en-ID" dirty="0"/>
              <a:t> update </a:t>
            </a:r>
            <a:r>
              <a:rPr lang="en-ID" dirty="0" err="1"/>
              <a:t>lokal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remote. (</a:t>
            </a:r>
            <a:r>
              <a:rPr lang="en-ID" dirty="0" err="1"/>
              <a:t>seperti</a:t>
            </a:r>
            <a:r>
              <a:rPr lang="en-ID" dirty="0"/>
              <a:t> upload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Gdrive</a:t>
            </a:r>
            <a:r>
              <a:rPr lang="en-ID" dirty="0"/>
              <a:t>)</a:t>
            </a:r>
            <a:br>
              <a:rPr lang="en-ID" dirty="0"/>
            </a:br>
            <a:endParaRPr lang="en-ID" dirty="0"/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47512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0AC13-A5D7-B300-83E7-31C492092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Apakah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dihafal</a:t>
            </a:r>
            <a:r>
              <a:rPr lang="en-US" dirty="0"/>
              <a:t>? </a:t>
            </a:r>
            <a:r>
              <a:rPr lang="en-US" dirty="0" err="1"/>
              <a:t>Ngga</a:t>
            </a:r>
            <a:r>
              <a:rPr lang="en-US" dirty="0"/>
              <a:t> juga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D4E5B-5EA2-F4AE-4E93-6893797E0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70091"/>
          </a:xfrm>
        </p:spPr>
        <p:txBody>
          <a:bodyPr/>
          <a:lstStyle/>
          <a:p>
            <a:r>
              <a:rPr lang="en-US" dirty="0"/>
              <a:t>Selain Git Cli,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pakai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 desktop </a:t>
            </a:r>
            <a:r>
              <a:rPr lang="en-US" dirty="0" err="1"/>
              <a:t>atau</a:t>
            </a:r>
            <a:r>
              <a:rPr lang="en-US" dirty="0"/>
              <a:t> integrated </a:t>
            </a:r>
            <a:r>
              <a:rPr lang="en-US" dirty="0" err="1"/>
              <a:t>ke</a:t>
            </a:r>
            <a:r>
              <a:rPr lang="en-US" dirty="0"/>
              <a:t> IDE kalian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C13F5-049F-2785-A9FC-6BA30BEE0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5BD21-1083-8739-4EF1-298366253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C2F833-D9E3-594C-1DD0-AB20BAB09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194" y="2730653"/>
            <a:ext cx="5599364" cy="21673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1AC52D-6288-A83F-BC07-38045D97C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26" y="2730653"/>
            <a:ext cx="5109080" cy="290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558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B9F3F-2359-BCB5-92B5-A4703E246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AFE4B-DDC2-AA06-66D5-1B585CF4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Praktek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CF3EE-8400-042C-6294-74394135E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02014"/>
          </a:xfrm>
        </p:spPr>
        <p:txBody>
          <a:bodyPr>
            <a:normAutofit/>
          </a:bodyPr>
          <a:lstStyle/>
          <a:p>
            <a:r>
              <a:rPr lang="en-US" dirty="0"/>
              <a:t>Git clone </a:t>
            </a:r>
            <a:r>
              <a:rPr lang="en-US" dirty="0">
                <a:hlinkClick r:id="rId2"/>
              </a:rPr>
              <a:t>https://github.com/RayWP/MyApp-demo</a:t>
            </a:r>
            <a:endParaRPr lang="en-US" dirty="0"/>
          </a:p>
          <a:p>
            <a:r>
              <a:rPr lang="en-US" dirty="0"/>
              <a:t>Git checkout –b “</a:t>
            </a:r>
            <a:r>
              <a:rPr lang="en-US" dirty="0" err="1"/>
              <a:t>my_branch</a:t>
            </a:r>
            <a:r>
              <a:rPr lang="en-US" dirty="0"/>
              <a:t>”</a:t>
            </a:r>
          </a:p>
          <a:p>
            <a:r>
              <a:rPr lang="en-US" dirty="0"/>
              <a:t>(</a:t>
            </a:r>
            <a:r>
              <a:rPr lang="en-US" dirty="0" err="1"/>
              <a:t>coba</a:t>
            </a:r>
            <a:r>
              <a:rPr lang="en-US" dirty="0"/>
              <a:t> edit file)</a:t>
            </a:r>
          </a:p>
          <a:p>
            <a:r>
              <a:rPr lang="en-US" dirty="0"/>
              <a:t>Git add .</a:t>
            </a:r>
          </a:p>
          <a:p>
            <a:r>
              <a:rPr lang="en-US" dirty="0"/>
              <a:t>Git commit –m “my first edit”</a:t>
            </a:r>
          </a:p>
          <a:p>
            <a:pPr marL="0" indent="0">
              <a:buNone/>
            </a:pP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A3FD9-7614-FFC8-764C-50851927E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8A1EE-4151-1C77-770C-793A93CB8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22139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2BF4C-162F-622D-39F3-90EC57B93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59187-199F-158F-3831-5F0AEB25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time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64222-7859-264E-FA82-E1465D1A2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978D8-CBFC-2E0D-6279-A3FAC287A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99D805E-22FE-050F-8A7D-854780A70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clone </a:t>
            </a:r>
          </a:p>
          <a:p>
            <a:r>
              <a:rPr lang="en-US" dirty="0"/>
              <a:t>Git branch</a:t>
            </a:r>
          </a:p>
          <a:p>
            <a:r>
              <a:rPr lang="en-US" dirty="0"/>
              <a:t>Git add</a:t>
            </a:r>
          </a:p>
          <a:p>
            <a:r>
              <a:rPr lang="en-US" dirty="0"/>
              <a:t>Git commit</a:t>
            </a:r>
          </a:p>
          <a:p>
            <a:r>
              <a:rPr lang="en-US" dirty="0"/>
              <a:t>Git log</a:t>
            </a:r>
          </a:p>
          <a:p>
            <a:r>
              <a:rPr lang="en-US" dirty="0"/>
              <a:t>Git branch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55941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CBF79E1-5C98-D2D6-C0C7-419B28819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Depth: Git branch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3F4BA-7F95-00D8-9B42-090B4EB04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516A6-B314-DF32-487A-A8212606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5122" name="Picture 2" descr="An illustration of branching in Git. There are four branches shown named main, Feature A, Feature B, and Feature A-1. Feature A and B are branches of the main branch, while Feature A-1 is a branch made from Feature A.">
            <a:extLst>
              <a:ext uri="{FF2B5EF4-FFF2-40B4-BE49-F238E27FC236}">
                <a16:creationId xmlns:a16="http://schemas.microsoft.com/office/drawing/2014/main" id="{2DB77B75-BD8B-6B42-D229-63632728E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148" y="4418874"/>
            <a:ext cx="5319252" cy="1819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A90C21-2629-F272-3E84-593E09C40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7778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Basically time-</a:t>
            </a:r>
            <a:r>
              <a:rPr lang="en-US" dirty="0" err="1"/>
              <a:t>traveller</a:t>
            </a:r>
            <a:r>
              <a:rPr lang="en-US" dirty="0"/>
              <a:t>, </a:t>
            </a:r>
            <a:r>
              <a:rPr lang="en-US" dirty="0" err="1"/>
              <a:t>berpindah</a:t>
            </a:r>
            <a:r>
              <a:rPr lang="en-US" dirty="0"/>
              <a:t> </a:t>
            </a:r>
            <a:r>
              <a:rPr lang="en-US" dirty="0" err="1"/>
              <a:t>pindah</a:t>
            </a:r>
            <a:r>
              <a:rPr lang="en-US" dirty="0"/>
              <a:t> multiverse</a:t>
            </a:r>
          </a:p>
          <a:p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dipisah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per role orang</a:t>
            </a:r>
          </a:p>
          <a:p>
            <a:pPr lvl="1"/>
            <a:r>
              <a:rPr lang="en-US" dirty="0"/>
              <a:t>Branch_Raymond#Task1</a:t>
            </a:r>
          </a:p>
          <a:p>
            <a:pPr lvl="1"/>
            <a:r>
              <a:rPr lang="en-US" dirty="0"/>
              <a:t>Branch_Nicki#Task2</a:t>
            </a:r>
          </a:p>
          <a:p>
            <a:r>
              <a:rPr lang="en-US" dirty="0"/>
              <a:t>Common command: git checkout, git switch</a:t>
            </a:r>
          </a:p>
          <a:p>
            <a:r>
              <a:rPr lang="en-US" dirty="0"/>
              <a:t>Demo: dua </a:t>
            </a:r>
            <a:r>
              <a:rPr lang="en-US" dirty="0" err="1"/>
              <a:t>fitur</a:t>
            </a:r>
            <a:r>
              <a:rPr lang="en-US" dirty="0"/>
              <a:t>, </a:t>
            </a:r>
            <a:r>
              <a:rPr lang="en-US" dirty="0" err="1"/>
              <a:t>mengedit</a:t>
            </a:r>
            <a:r>
              <a:rPr lang="en-US" dirty="0"/>
              <a:t> CSS dan Index.html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35494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8633-4009-5087-C927-5048E7D12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DD936E5-11F6-03BB-59EB-8769E31E4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Depth: Git merge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451A2-6C89-462D-3903-24C1FDED8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EAA92-5CCA-4F69-F3C4-B1C9C1965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7275955-4F69-8F95-5AFA-22D58B807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58781" cy="3621446"/>
          </a:xfrm>
        </p:spPr>
        <p:txBody>
          <a:bodyPr>
            <a:normAutofit/>
          </a:bodyPr>
          <a:lstStyle/>
          <a:p>
            <a:r>
              <a:rPr lang="en-US" dirty="0" err="1"/>
              <a:t>Menyatukan</a:t>
            </a:r>
            <a:r>
              <a:rPr lang="en-US" dirty="0"/>
              <a:t> dua </a:t>
            </a:r>
            <a:r>
              <a:rPr lang="en-US" dirty="0" err="1"/>
              <a:t>kodingan</a:t>
            </a:r>
            <a:r>
              <a:rPr lang="en-US" dirty="0"/>
              <a:t> parallel</a:t>
            </a:r>
          </a:p>
          <a:p>
            <a:r>
              <a:rPr lang="en-US" dirty="0" err="1"/>
              <a:t>Memudahkan</a:t>
            </a:r>
            <a:r>
              <a:rPr lang="en-US" dirty="0"/>
              <a:t> </a:t>
            </a:r>
            <a:r>
              <a:rPr lang="en-US" dirty="0" err="1"/>
              <a:t>daripada</a:t>
            </a:r>
            <a:r>
              <a:rPr lang="en-US" dirty="0"/>
              <a:t> copy paste</a:t>
            </a:r>
          </a:p>
          <a:p>
            <a:r>
              <a:rPr lang="en-US" dirty="0"/>
              <a:t>Ada </a:t>
            </a:r>
            <a:r>
              <a:rPr lang="en-US" dirty="0" err="1"/>
              <a:t>kemungkinan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konflik</a:t>
            </a:r>
            <a:endParaRPr lang="en-US" dirty="0"/>
          </a:p>
          <a:p>
            <a:r>
              <a:rPr lang="en-US" dirty="0"/>
              <a:t>Demo: git merge </a:t>
            </a:r>
            <a:r>
              <a:rPr lang="en-US" dirty="0" err="1"/>
              <a:t>sederhana</a:t>
            </a:r>
            <a:endParaRPr lang="en-US" dirty="0"/>
          </a:p>
          <a:p>
            <a:r>
              <a:rPr lang="en-US" dirty="0"/>
              <a:t>Demo: git conflict dan resolve</a:t>
            </a:r>
            <a:endParaRPr lang="en-ID" dirty="0"/>
          </a:p>
        </p:txBody>
      </p:sp>
      <p:pic>
        <p:nvPicPr>
          <p:cNvPr id="6148" name="Picture 4" descr="Dragon Ball FighterZ DLC - NEW Goku &amp; Vegeta Fuse Into Gogeta Blue DLC  Gameplay Screenshots">
            <a:extLst>
              <a:ext uri="{FF2B5EF4-FFF2-40B4-BE49-F238E27FC236}">
                <a16:creationId xmlns:a16="http://schemas.microsoft.com/office/drawing/2014/main" id="{4DBF4A2D-8D3E-3491-8B4C-E318E04CD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464" y="1927121"/>
            <a:ext cx="4223771" cy="2376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586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AC9C2-02DA-3C30-C5A9-0661ED8BA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depth: Git log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365F3-6629-C12C-D4D8-1DD3795A5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65723" cy="4351338"/>
          </a:xfrm>
        </p:spPr>
        <p:txBody>
          <a:bodyPr/>
          <a:lstStyle/>
          <a:p>
            <a:r>
              <a:rPr lang="en-US" dirty="0" err="1"/>
              <a:t>Melihat</a:t>
            </a:r>
            <a:r>
              <a:rPr lang="en-US" dirty="0"/>
              <a:t> full </a:t>
            </a:r>
            <a:r>
              <a:rPr lang="en-US" dirty="0" err="1"/>
              <a:t>histori</a:t>
            </a:r>
            <a:r>
              <a:rPr lang="en-US" dirty="0"/>
              <a:t> checkpoint </a:t>
            </a:r>
            <a:r>
              <a:rPr lang="en-US" dirty="0" err="1"/>
              <a:t>kodingan</a:t>
            </a:r>
            <a:endParaRPr lang="en-US" dirty="0"/>
          </a:p>
          <a:p>
            <a:r>
              <a:rPr lang="en-US" dirty="0" err="1"/>
              <a:t>Memungkinan</a:t>
            </a:r>
            <a:r>
              <a:rPr lang="en-US" dirty="0"/>
              <a:t> review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siapa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apa</a:t>
            </a:r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 command:</a:t>
            </a:r>
          </a:p>
          <a:p>
            <a:pPr lvl="1"/>
            <a:r>
              <a:rPr lang="en-US" dirty="0"/>
              <a:t>Git log –graph</a:t>
            </a:r>
          </a:p>
          <a:p>
            <a:pPr lvl="1"/>
            <a:r>
              <a:rPr lang="en-US" dirty="0"/>
              <a:t>Git log –name-only</a:t>
            </a:r>
          </a:p>
          <a:p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98A78-E3A9-3A7D-D0A1-823A0CCD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AC201-5E66-AF1C-B193-DBC0B7FCE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7170" name="Picture 2" descr="Doctor Strange Lived All 14,000,605 Avengers: Endgame Scenarios">
            <a:extLst>
              <a:ext uri="{FF2B5EF4-FFF2-40B4-BE49-F238E27FC236}">
                <a16:creationId xmlns:a16="http://schemas.microsoft.com/office/drawing/2014/main" id="{8FA5D6AA-396D-C6DF-EDD7-81D909395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013" y="2290916"/>
            <a:ext cx="3613354" cy="1806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9715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66EC8-F561-E913-7749-2D662D93C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B54A9-4B27-502D-349E-EB63FBE0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depth: Git blame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776C0-8645-736C-38C5-668BD61C3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65723" cy="4351338"/>
          </a:xfrm>
        </p:spPr>
        <p:txBody>
          <a:bodyPr/>
          <a:lstStyle/>
          <a:p>
            <a:r>
              <a:rPr lang="en-US" dirty="0"/>
              <a:t>Gak Cuma di ML, di git juga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ngeblame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editan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line</a:t>
            </a:r>
          </a:p>
          <a:p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FF36-D1B3-6951-3FE1-46B1041CE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DE5C1-261F-35E7-06EC-AF2E51800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7170" name="Picture 2" descr="Doctor Strange Lived All 14,000,605 Avengers: Endgame Scenarios">
            <a:extLst>
              <a:ext uri="{FF2B5EF4-FFF2-40B4-BE49-F238E27FC236}">
                <a16:creationId xmlns:a16="http://schemas.microsoft.com/office/drawing/2014/main" id="{E73170EF-6475-0ED2-FE2C-8998D6B08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013" y="2290916"/>
            <a:ext cx="3613354" cy="1806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4741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30E12-A016-8AA4-67AC-3E8B1A27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in terminal and GUI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61A44-20FE-D299-4776-D7044E5FA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 err="1"/>
              <a:t>Hampir</a:t>
            </a:r>
            <a:r>
              <a:rPr lang="en-US" dirty="0"/>
              <a:t> gak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bedanya</a:t>
            </a:r>
            <a:endParaRPr lang="en-US" dirty="0"/>
          </a:p>
          <a:p>
            <a:r>
              <a:rPr lang="en-US" dirty="0" err="1"/>
              <a:t>Bedanya</a:t>
            </a:r>
            <a:r>
              <a:rPr lang="en-US" dirty="0"/>
              <a:t> Cuma di CLI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ngetik</a:t>
            </a:r>
            <a:r>
              <a:rPr lang="en-US" dirty="0"/>
              <a:t>, dan GUI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klik</a:t>
            </a:r>
            <a:endParaRPr lang="en-US" dirty="0"/>
          </a:p>
          <a:p>
            <a:r>
              <a:rPr lang="en-US" dirty="0"/>
              <a:t>Suka yang mana? </a:t>
            </a:r>
            <a:r>
              <a:rPr lang="en-US" dirty="0" err="1"/>
              <a:t>bebas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56955-2C93-E05C-2164-2C6A31133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27A22-13E1-2731-4F15-77EDAF7A9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7647E6C-5D8F-CD81-5876-89B8BC48C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29000"/>
            <a:ext cx="4808897" cy="270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76E7B1BA-2CB7-10CF-BB75-3149BF95C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586" y="3563937"/>
            <a:ext cx="4449216" cy="245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1041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2B54D-7C84-7B70-5164-4C446F59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: the online git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698B2-E286-0870-14FF-C9276A572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D9D46-79B7-FD97-9FFB-60E83076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E2B88-8B46-6D06-B8C9-7BC4F13E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25078555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DD38-875A-530B-8D0F-3E87FFD20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9BA76-D47C-E773-6D52-DE13EDA1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31658" cy="4351338"/>
          </a:xfrm>
        </p:spPr>
        <p:txBody>
          <a:bodyPr/>
          <a:lstStyle/>
          <a:p>
            <a:r>
              <a:rPr lang="en-US" dirty="0"/>
              <a:t>Kayak google drive </a:t>
            </a:r>
            <a:r>
              <a:rPr lang="en-US" dirty="0" err="1"/>
              <a:t>nya</a:t>
            </a:r>
            <a:r>
              <a:rPr lang="en-US" dirty="0"/>
              <a:t> for coding</a:t>
            </a:r>
          </a:p>
          <a:p>
            <a:r>
              <a:rPr lang="en-US" dirty="0" err="1"/>
              <a:t>Serupa</a:t>
            </a:r>
            <a:r>
              <a:rPr lang="en-US" dirty="0"/>
              <a:t> </a:t>
            </a:r>
            <a:r>
              <a:rPr lang="en-US" dirty="0" err="1"/>
              <a:t>tapi</a:t>
            </a:r>
            <a:r>
              <a:rPr lang="en-US" dirty="0"/>
              <a:t>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sama</a:t>
            </a:r>
            <a:endParaRPr lang="en-US" dirty="0"/>
          </a:p>
          <a:p>
            <a:r>
              <a:rPr lang="en-ID" dirty="0" err="1"/>
              <a:t>Nggak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langusng</a:t>
            </a:r>
            <a:r>
              <a:rPr lang="en-ID" dirty="0"/>
              <a:t> upload file </a:t>
            </a:r>
            <a:r>
              <a:rPr lang="en-ID" dirty="0" err="1"/>
              <a:t>gitu</a:t>
            </a:r>
            <a:r>
              <a:rPr lang="en-ID" dirty="0"/>
              <a:t> </a:t>
            </a:r>
            <a:r>
              <a:rPr lang="en-ID" dirty="0" err="1"/>
              <a:t>aja</a:t>
            </a:r>
            <a:r>
              <a:rPr lang="en-ID" dirty="0"/>
              <a:t> (well you can, but don’t)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A7901-52DB-EC9F-B12D-FECF71B45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BD22C-4429-CD7F-BF9B-1776E85F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9218" name="Picture 2" descr="Google drive Memes · ProgrammerHumor.io">
            <a:extLst>
              <a:ext uri="{FF2B5EF4-FFF2-40B4-BE49-F238E27FC236}">
                <a16:creationId xmlns:a16="http://schemas.microsoft.com/office/drawing/2014/main" id="{88970229-206C-3D23-0930-86E9825E4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890" y="967490"/>
            <a:ext cx="3677813" cy="506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945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CB08-5D70-C39F-5D44-0BDE68837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akun</a:t>
            </a:r>
            <a:r>
              <a:rPr lang="en-US" dirty="0"/>
              <a:t> github.com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54648-38C7-5109-3172-2F0A6B067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Github.com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CCEEB-3290-0915-30B9-2ACCA5A64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72BB8-496A-ECDF-D7EE-77B98E543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CE1188-F54F-9AE8-826B-943459828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097" y="2320495"/>
            <a:ext cx="7981338" cy="386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89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C0499-A9AE-B5FF-29D5-5A66ECC8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2319-058C-742B-FCF6-C93B36314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Fitur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github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D4E38-A073-1AED-7A33-B1DC033D7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Repository management</a:t>
            </a:r>
          </a:p>
          <a:p>
            <a:r>
              <a:rPr lang="en-US" dirty="0"/>
              <a:t>Issues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pencatatan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/bug</a:t>
            </a:r>
          </a:p>
          <a:p>
            <a:r>
              <a:rPr lang="en-US" dirty="0"/>
              <a:t>Pull request (review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dimerge</a:t>
            </a:r>
            <a:r>
              <a:rPr lang="en-US" dirty="0"/>
              <a:t>)</a:t>
            </a:r>
          </a:p>
          <a:p>
            <a:r>
              <a:rPr lang="en-ID" dirty="0"/>
              <a:t>Multi-person collaboration</a:t>
            </a:r>
          </a:p>
          <a:p>
            <a:r>
              <a:rPr lang="en-ID" dirty="0" err="1"/>
              <a:t>Github</a:t>
            </a:r>
            <a:r>
              <a:rPr lang="en-ID" dirty="0"/>
              <a:t> Projects</a:t>
            </a:r>
          </a:p>
          <a:p>
            <a:r>
              <a:rPr lang="en-ID" dirty="0"/>
              <a:t>Deploy website statis (</a:t>
            </a:r>
            <a:r>
              <a:rPr lang="en-ID" dirty="0" err="1"/>
              <a:t>github</a:t>
            </a:r>
            <a:r>
              <a:rPr lang="en-ID" dirty="0"/>
              <a:t> pages)</a:t>
            </a:r>
          </a:p>
          <a:p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B7A18-D0F1-3759-6543-55E95130C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FC889-4F36-3711-03DE-A958F555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65026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9A97E-3A53-EB1D-705E-B7D868D6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DD54B-58CC-2562-DCB6-FE9DA5F48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</a:t>
            </a:r>
            <a:r>
              <a:rPr lang="en-US" dirty="0" err="1"/>
              <a:t>selain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B5635-D2FD-332B-D94B-C4011A8F0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Gitlab</a:t>
            </a:r>
          </a:p>
          <a:p>
            <a:r>
              <a:rPr lang="en-US" dirty="0" err="1"/>
              <a:t>Gittea</a:t>
            </a:r>
            <a:endParaRPr lang="en-US" dirty="0"/>
          </a:p>
          <a:p>
            <a:r>
              <a:rPr lang="en-US" dirty="0"/>
              <a:t>Atlassian</a:t>
            </a:r>
          </a:p>
          <a:p>
            <a:r>
              <a:rPr lang="en-US" dirty="0" err="1"/>
              <a:t>BitBucket</a:t>
            </a:r>
            <a:endParaRPr lang="en-US" dirty="0"/>
          </a:p>
          <a:p>
            <a:r>
              <a:rPr lang="en-US" dirty="0" err="1"/>
              <a:t>AzureRepos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66E7E-847B-A461-DE23-B92D51AF8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86BFC-0242-74CC-783C-66465579F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989741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7E7A3-578E-E2B0-74DD-798837D8A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0EA1A-365B-85E9-763F-60FC044A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vs </a:t>
            </a:r>
            <a:r>
              <a:rPr lang="en-US" dirty="0" err="1"/>
              <a:t>Github</a:t>
            </a:r>
            <a:r>
              <a:rPr lang="en-US" dirty="0"/>
              <a:t>? </a:t>
            </a:r>
            <a:r>
              <a:rPr lang="en-US" dirty="0" err="1"/>
              <a:t>Sebenernya</a:t>
            </a:r>
            <a:r>
              <a:rPr lang="en-US" dirty="0"/>
              <a:t> </a:t>
            </a:r>
            <a:r>
              <a:rPr lang="en-US" dirty="0" err="1"/>
              <a:t>gimana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A58CF-C0CA-749C-A831-409493F79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37596" cy="4351338"/>
          </a:xfrm>
        </p:spPr>
        <p:txBody>
          <a:bodyPr/>
          <a:lstStyle/>
          <a:p>
            <a:r>
              <a:rPr lang="en-US" dirty="0"/>
              <a:t>Git -&gt; Air Mineral</a:t>
            </a:r>
          </a:p>
          <a:p>
            <a:r>
              <a:rPr lang="en-US" dirty="0" err="1"/>
              <a:t>Github</a:t>
            </a:r>
            <a:r>
              <a:rPr lang="en-US" dirty="0"/>
              <a:t> -&gt; Aqua</a:t>
            </a:r>
          </a:p>
          <a:p>
            <a:endParaRPr lang="en-US" dirty="0"/>
          </a:p>
          <a:p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en-US" dirty="0" err="1"/>
              <a:t>memungkinkan</a:t>
            </a:r>
            <a:r>
              <a:rPr lang="en-US" dirty="0"/>
              <a:t> remote storage </a:t>
            </a:r>
            <a:r>
              <a:rPr lang="en-US" dirty="0" err="1"/>
              <a:t>untuk</a:t>
            </a:r>
            <a:r>
              <a:rPr lang="en-US" dirty="0"/>
              <a:t> repository</a:t>
            </a:r>
          </a:p>
          <a:p>
            <a:endParaRPr lang="en-US" dirty="0"/>
          </a:p>
          <a:p>
            <a:r>
              <a:rPr lang="en-US" dirty="0"/>
              <a:t>Coba run:</a:t>
            </a:r>
          </a:p>
          <a:p>
            <a:pPr lvl="1"/>
            <a:r>
              <a:rPr lang="en-US" dirty="0"/>
              <a:t>Git remote get-</a:t>
            </a:r>
            <a:r>
              <a:rPr lang="en-US" dirty="0" err="1"/>
              <a:t>url</a:t>
            </a:r>
            <a:r>
              <a:rPr lang="en-US" dirty="0"/>
              <a:t> origin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1A245-7424-182F-89AD-80AE897E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902DF-61D1-A749-7BD3-89A34C718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70AFC60D-435B-2A6F-3F52-A25F1CEE2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205" y="1870075"/>
            <a:ext cx="4261360" cy="3199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1685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254F-FEDF-FB04-2DB7-CBABF9D4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Depth: </a:t>
            </a:r>
            <a:r>
              <a:rPr lang="en-US" dirty="0" err="1"/>
              <a:t>github</a:t>
            </a:r>
            <a:r>
              <a:rPr lang="en-US" dirty="0"/>
              <a:t> repository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22A81-7D09-B564-69A5-57A9969DA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Seperti</a:t>
            </a:r>
            <a:r>
              <a:rPr lang="en-US" dirty="0"/>
              <a:t> folder drive</a:t>
            </a:r>
          </a:p>
          <a:p>
            <a:r>
              <a:rPr lang="en-US" dirty="0" err="1"/>
              <a:t>Pokok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segala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github</a:t>
            </a:r>
            <a:endParaRPr lang="en-US" dirty="0"/>
          </a:p>
          <a:p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naruh</a:t>
            </a:r>
            <a:r>
              <a:rPr lang="en-US" dirty="0"/>
              <a:t> code</a:t>
            </a:r>
          </a:p>
          <a:p>
            <a:r>
              <a:rPr lang="en-US" dirty="0"/>
              <a:t>Coba </a:t>
            </a:r>
            <a:r>
              <a:rPr lang="en-US" dirty="0" err="1"/>
              <a:t>buat</a:t>
            </a:r>
            <a:r>
              <a:rPr lang="en-US" dirty="0"/>
              <a:t>: new Repository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B65A6-50F1-CE8A-BC81-2B559087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CD939-FFAA-E9CA-E7E1-2B9661B94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72FADF-633A-161D-A738-86AC6636A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890" y="1825625"/>
            <a:ext cx="5397910" cy="261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266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A3EF7-36AA-3C8B-5D74-FA183C328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F4E46-C711-9764-E7E3-6A572AAD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Depth: </a:t>
            </a:r>
            <a:r>
              <a:rPr lang="en-US" dirty="0" err="1"/>
              <a:t>github</a:t>
            </a:r>
            <a:r>
              <a:rPr lang="en-US" dirty="0"/>
              <a:t> issue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9ECCF-75B3-476B-4B20-3FD34D716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9413" cy="4351338"/>
          </a:xfrm>
        </p:spPr>
        <p:txBody>
          <a:bodyPr/>
          <a:lstStyle/>
          <a:p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task</a:t>
            </a:r>
          </a:p>
          <a:p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“ticket”</a:t>
            </a:r>
          </a:p>
          <a:p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protes</a:t>
            </a:r>
            <a:r>
              <a:rPr lang="en-US" dirty="0"/>
              <a:t> (</a:t>
            </a:r>
            <a:r>
              <a:rPr lang="en-US" dirty="0" err="1"/>
              <a:t>ke</a:t>
            </a:r>
            <a:r>
              <a:rPr lang="en-US" dirty="0"/>
              <a:t> open source project)</a:t>
            </a:r>
          </a:p>
          <a:p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bertanya</a:t>
            </a:r>
            <a:r>
              <a:rPr lang="en-US" dirty="0"/>
              <a:t> (</a:t>
            </a:r>
            <a:r>
              <a:rPr lang="en-US" dirty="0" err="1"/>
              <a:t>ke</a:t>
            </a:r>
            <a:r>
              <a:rPr lang="en-US" dirty="0"/>
              <a:t> OSS)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B4E22-C26C-087E-674B-40BEB1D21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C0DC8-85F2-E830-5074-A8F45EEEB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25DCAF-0B1B-248F-7E88-52DC26D6B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505" y="1578912"/>
            <a:ext cx="4854295" cy="312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621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4336E-3EA6-01B4-3612-ECE45037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C3981-EDCC-3A50-581E-68F47D3CD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Depth: </a:t>
            </a:r>
            <a:r>
              <a:rPr lang="en-US" dirty="0" err="1"/>
              <a:t>github</a:t>
            </a:r>
            <a:r>
              <a:rPr lang="en-US" dirty="0"/>
              <a:t> Pull Request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56CC5-14A5-9D73-BB1F-BB463F4B3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9413" cy="4351338"/>
          </a:xfrm>
        </p:spPr>
        <p:txBody>
          <a:bodyPr/>
          <a:lstStyle/>
          <a:p>
            <a:r>
              <a:rPr lang="en-US" dirty="0"/>
              <a:t>Proses </a:t>
            </a:r>
            <a:r>
              <a:rPr lang="en-US" dirty="0" err="1"/>
              <a:t>sebelum</a:t>
            </a:r>
            <a:r>
              <a:rPr lang="en-US" dirty="0"/>
              <a:t> Merge</a:t>
            </a:r>
          </a:p>
          <a:p>
            <a:r>
              <a:rPr lang="en-US" dirty="0"/>
              <a:t>Kalau di local </a:t>
            </a:r>
            <a:r>
              <a:rPr lang="en-US" dirty="0" err="1"/>
              <a:t>ngga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preview</a:t>
            </a:r>
          </a:p>
          <a:p>
            <a:r>
              <a:rPr lang="en-US" dirty="0"/>
              <a:t>Di </a:t>
            </a:r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en-US" dirty="0" err="1"/>
              <a:t>ada</a:t>
            </a:r>
            <a:endParaRPr lang="en-US" dirty="0"/>
          </a:p>
          <a:p>
            <a:r>
              <a:rPr lang="en-US" dirty="0"/>
              <a:t>Preview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melanjutkan</a:t>
            </a:r>
            <a:r>
              <a:rPr lang="en-US" dirty="0"/>
              <a:t> merge</a:t>
            </a:r>
          </a:p>
          <a:p>
            <a:pPr lvl="1"/>
            <a:r>
              <a:rPr lang="en-US" dirty="0"/>
              <a:t>Apakah </a:t>
            </a:r>
            <a:r>
              <a:rPr lang="en-US" dirty="0" err="1"/>
              <a:t>bagus</a:t>
            </a:r>
            <a:r>
              <a:rPr lang="en-US" dirty="0"/>
              <a:t>? Apakah conflict?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04725-990F-E55B-9CFA-3570A8CF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7DD61-52F9-F042-E272-98457FE60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843B13-5A12-3887-ECF1-FA6FEA08B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297" y="2109790"/>
            <a:ext cx="5555226" cy="242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208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6AA78-3C13-2C82-EAC3-D5A4A261E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0D30B-45C6-BB23-D798-B29F47A47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Depth: </a:t>
            </a:r>
            <a:r>
              <a:rPr lang="en-US" dirty="0" err="1"/>
              <a:t>github</a:t>
            </a:r>
            <a:r>
              <a:rPr lang="en-US" dirty="0"/>
              <a:t> Project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AC9DA-4B89-F031-E67F-7571C18D0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9413" cy="4351338"/>
          </a:xfrm>
        </p:spPr>
        <p:txBody>
          <a:bodyPr/>
          <a:lstStyle/>
          <a:p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mengatur</a:t>
            </a:r>
            <a:r>
              <a:rPr lang="en-US" dirty="0"/>
              <a:t> planning </a:t>
            </a:r>
            <a:r>
              <a:rPr lang="en-US" dirty="0" err="1"/>
              <a:t>kedepannya</a:t>
            </a:r>
            <a:endParaRPr lang="en-US" dirty="0"/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mana </a:t>
            </a:r>
            <a:r>
              <a:rPr lang="en-US" dirty="0" err="1"/>
              <a:t>fitur</a:t>
            </a:r>
            <a:r>
              <a:rPr lang="en-US" dirty="0"/>
              <a:t>/task yang </a:t>
            </a:r>
            <a:r>
              <a:rPr lang="en-US" dirty="0" err="1"/>
              <a:t>sedang</a:t>
            </a:r>
            <a:r>
              <a:rPr lang="en-US" dirty="0"/>
              <a:t>/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dikerjakan</a:t>
            </a:r>
            <a:endParaRPr lang="en-US" dirty="0"/>
          </a:p>
          <a:p>
            <a:r>
              <a:rPr lang="en-US" dirty="0" err="1"/>
              <a:t>Mirip</a:t>
            </a:r>
            <a:r>
              <a:rPr lang="en-US" dirty="0"/>
              <a:t> Jira </a:t>
            </a:r>
            <a:r>
              <a:rPr lang="en-US" dirty="0" err="1"/>
              <a:t>tapi</a:t>
            </a:r>
            <a:r>
              <a:rPr lang="en-US" dirty="0"/>
              <a:t> integrated</a:t>
            </a:r>
          </a:p>
          <a:p>
            <a:r>
              <a:rPr lang="en-US" dirty="0"/>
              <a:t>Bisa </a:t>
            </a:r>
            <a:r>
              <a:rPr lang="en-US" dirty="0" err="1"/>
              <a:t>ada</a:t>
            </a:r>
            <a:r>
              <a:rPr lang="en-US" dirty="0"/>
              <a:t> chart </a:t>
            </a:r>
            <a:r>
              <a:rPr lang="en-US" dirty="0" err="1"/>
              <a:t>nya</a:t>
            </a:r>
            <a:r>
              <a:rPr lang="en-US" dirty="0"/>
              <a:t> juga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6D008-063F-6893-611F-28E193C6F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7DA90-741C-733C-353C-5FFD9B41C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593209-8C5D-4C5B-9292-7400E0A5B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071" y="2222089"/>
            <a:ext cx="4954769" cy="223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955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19F34-A607-4C36-40A8-8F40FE58F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F414-1C9C-A685-21E6-9B18EB3B5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Depth: </a:t>
            </a:r>
            <a:r>
              <a:rPr lang="en-US" dirty="0" err="1"/>
              <a:t>github</a:t>
            </a:r>
            <a:r>
              <a:rPr lang="en-US" dirty="0"/>
              <a:t> actions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E46DC-CA9B-AC77-4725-47A2DD698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9413" cy="4351338"/>
          </a:xfrm>
        </p:spPr>
        <p:txBody>
          <a:bodyPr/>
          <a:lstStyle/>
          <a:p>
            <a:r>
              <a:rPr lang="en-US" dirty="0"/>
              <a:t>Automatic job yang di run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trigger</a:t>
            </a:r>
          </a:p>
          <a:p>
            <a:r>
              <a:rPr lang="en-US" dirty="0"/>
              <a:t>Misal:</a:t>
            </a:r>
          </a:p>
          <a:p>
            <a:pPr lvl="1"/>
            <a:r>
              <a:rPr lang="en-US" dirty="0"/>
              <a:t>Auto run test</a:t>
            </a:r>
          </a:p>
          <a:p>
            <a:pPr lvl="1"/>
            <a:r>
              <a:rPr lang="en-US" dirty="0"/>
              <a:t>Auto build</a:t>
            </a:r>
          </a:p>
          <a:p>
            <a:pPr lvl="1"/>
            <a:r>
              <a:rPr lang="en-US" dirty="0"/>
              <a:t>Auto deploy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B57A4-EBE7-B146-51BC-785FB39C8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DF08D-EFB7-910F-2E39-92E02C1E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160038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4F346-7A88-2206-FDFC-819B7272D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F99B7-CAC6-8CCF-8997-CE64625A0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 of merging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1B846-BCCC-E39C-1BD8-75153A96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47323" cy="1212543"/>
          </a:xfrm>
        </p:spPr>
        <p:txBody>
          <a:bodyPr/>
          <a:lstStyle/>
          <a:p>
            <a:r>
              <a:rPr lang="en-US" dirty="0"/>
              <a:t>Saat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mergin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approve PR, </a:t>
            </a:r>
            <a:r>
              <a:rPr lang="en-US" dirty="0" err="1"/>
              <a:t>ada</a:t>
            </a:r>
            <a:r>
              <a:rPr lang="en-US" dirty="0"/>
              <a:t> 3 </a:t>
            </a:r>
            <a:r>
              <a:rPr lang="en-US" dirty="0" err="1"/>
              <a:t>jenis</a:t>
            </a:r>
            <a:r>
              <a:rPr lang="en-US" dirty="0"/>
              <a:t> commit yang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terjadi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94DDD-CC55-25BD-40A7-645565392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4E28A-FD92-12F9-5A66-40BB620CF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C469174E-594F-5CBF-E056-E5190B67E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350" y="2831690"/>
            <a:ext cx="3598054" cy="264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3581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AB54B-3D17-8181-F268-94851D7B5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90444-D4C3-2B04-2055-E5A4B026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 of merging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F442E-D73A-E37B-289D-C4882751C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47323" cy="2008956"/>
          </a:xfrm>
        </p:spPr>
        <p:txBody>
          <a:bodyPr>
            <a:normAutofit/>
          </a:bodyPr>
          <a:lstStyle/>
          <a:p>
            <a:r>
              <a:rPr lang="en-US" dirty="0"/>
              <a:t>Merge -&gt; paling basic</a:t>
            </a:r>
          </a:p>
          <a:p>
            <a:r>
              <a:rPr lang="en-US" dirty="0"/>
              <a:t>Squash -&gt; </a:t>
            </a:r>
            <a:r>
              <a:rPr lang="en-US" dirty="0" err="1"/>
              <a:t>semua</a:t>
            </a:r>
            <a:r>
              <a:rPr lang="en-US" dirty="0"/>
              <a:t> commit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“merge commit”</a:t>
            </a:r>
          </a:p>
          <a:p>
            <a:r>
              <a:rPr lang="en-US" dirty="0"/>
              <a:t>Rebase -&gt;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histori</a:t>
            </a:r>
            <a:r>
              <a:rPr lang="en-US" dirty="0"/>
              <a:t> di </a:t>
            </a:r>
            <a:r>
              <a:rPr lang="en-US" dirty="0" err="1"/>
              <a:t>pindah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“merge commit”</a:t>
            </a:r>
          </a:p>
          <a:p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711FD-5745-6FEA-A87E-5AF50E4A1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9BB6D-360A-DBFA-BAE1-6F7F40C09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12290" name="Picture 2" descr="git - What is the difference between merge --squash and rebase? - Stack  Overflow">
            <a:extLst>
              <a:ext uri="{FF2B5EF4-FFF2-40B4-BE49-F238E27FC236}">
                <a16:creationId xmlns:a16="http://schemas.microsoft.com/office/drawing/2014/main" id="{39CA6888-AEC3-4414-3583-A13D6BA36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254" y="3811372"/>
            <a:ext cx="4904146" cy="2568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776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D8A47-0D73-5273-3516-0C765BF0E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C6800-77FC-315A-6CA3-721C2A7A1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Gitlab: the online git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D7F81-D4C6-C8A8-96A5-098B68E13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9686A-8672-5401-A4B3-FF34CDBA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BB76B-CED0-40E2-C641-2D090E0DC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11458193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2C84E-BA9C-8FC7-F58D-30BBC3AC7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22DC7-165A-18BE-CD30-249682B91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Gitlab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D423C-A0D8-0184-51D0-70ECBC85D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31658" cy="4351338"/>
          </a:xfrm>
        </p:spPr>
        <p:txBody>
          <a:bodyPr/>
          <a:lstStyle/>
          <a:p>
            <a:r>
              <a:rPr lang="en-US" dirty="0"/>
              <a:t>Kayak google drive </a:t>
            </a:r>
            <a:r>
              <a:rPr lang="en-US" dirty="0" err="1"/>
              <a:t>nya</a:t>
            </a:r>
            <a:r>
              <a:rPr lang="en-US" dirty="0"/>
              <a:t> for coding</a:t>
            </a:r>
          </a:p>
          <a:p>
            <a:r>
              <a:rPr lang="en-US" dirty="0" err="1"/>
              <a:t>Serupa</a:t>
            </a:r>
            <a:r>
              <a:rPr lang="en-US" dirty="0"/>
              <a:t> </a:t>
            </a:r>
            <a:r>
              <a:rPr lang="en-US" dirty="0" err="1"/>
              <a:t>tapi</a:t>
            </a:r>
            <a:r>
              <a:rPr lang="en-US" dirty="0"/>
              <a:t>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sama</a:t>
            </a:r>
            <a:endParaRPr lang="en-US" dirty="0"/>
          </a:p>
          <a:p>
            <a:r>
              <a:rPr lang="en-ID" dirty="0" err="1"/>
              <a:t>Nggak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langusng</a:t>
            </a:r>
            <a:r>
              <a:rPr lang="en-ID" dirty="0"/>
              <a:t> upload file </a:t>
            </a:r>
            <a:r>
              <a:rPr lang="en-ID" dirty="0" err="1"/>
              <a:t>gitu</a:t>
            </a:r>
            <a:r>
              <a:rPr lang="en-ID" dirty="0"/>
              <a:t> </a:t>
            </a:r>
            <a:r>
              <a:rPr lang="en-ID" dirty="0" err="1"/>
              <a:t>aja</a:t>
            </a:r>
            <a:r>
              <a:rPr lang="en-ID" dirty="0"/>
              <a:t> (well you can, but don’t)</a:t>
            </a:r>
          </a:p>
          <a:p>
            <a:r>
              <a:rPr lang="en-ID" dirty="0" err="1"/>
              <a:t>Alternatif</a:t>
            </a:r>
            <a:r>
              <a:rPr lang="en-ID" dirty="0"/>
              <a:t> lain:</a:t>
            </a:r>
          </a:p>
          <a:p>
            <a:pPr lvl="1"/>
            <a:r>
              <a:rPr lang="en-ID" dirty="0" err="1"/>
              <a:t>Github</a:t>
            </a:r>
            <a:r>
              <a:rPr lang="en-ID" dirty="0"/>
              <a:t>, </a:t>
            </a:r>
            <a:r>
              <a:rPr lang="en-ID" dirty="0" err="1"/>
              <a:t>gittea</a:t>
            </a:r>
            <a:r>
              <a:rPr lang="en-ID" dirty="0"/>
              <a:t>, </a:t>
            </a:r>
            <a:r>
              <a:rPr lang="en-ID" dirty="0" err="1"/>
              <a:t>atlassian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90CB1-6793-DD86-4A1D-3929EAD3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3F212-37E6-EC5F-818B-DD6EFB1A8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1026" name="Picture 2" descr="gitlab - Gitlab works great actually! - devRant">
            <a:extLst>
              <a:ext uri="{FF2B5EF4-FFF2-40B4-BE49-F238E27FC236}">
                <a16:creationId xmlns:a16="http://schemas.microsoft.com/office/drawing/2014/main" id="{C0DEF424-16ED-F1D6-B8E4-51A033FB8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144" y="1005860"/>
            <a:ext cx="4594961" cy="4554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2572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6FB24-469A-E112-EBB0-9CA49ABA5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14563-7550-A37B-101A-08DD1D26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gitlab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38262-D0B4-5B67-8366-01F675CE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A8725-D749-CB4F-B917-61B534957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3424AD-1E87-8D2C-951F-799FE792C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010603"/>
            <a:ext cx="8917858" cy="336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613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1F3A2-655B-B310-C34E-DE5DFEC44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5D119-E525-9C4A-FFF1-327C89C6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Fitur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gitlab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F47F4-4EF6-536B-A9EF-EC235585F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management</a:t>
            </a:r>
          </a:p>
          <a:p>
            <a:r>
              <a:rPr lang="en-US" dirty="0"/>
              <a:t>Issues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pencatatan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/bug</a:t>
            </a:r>
          </a:p>
          <a:p>
            <a:r>
              <a:rPr lang="en-US" dirty="0"/>
              <a:t>Merge request (review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dimerge</a:t>
            </a:r>
            <a:r>
              <a:rPr lang="en-US" dirty="0"/>
              <a:t>)</a:t>
            </a:r>
          </a:p>
          <a:p>
            <a:r>
              <a:rPr lang="en-US" dirty="0"/>
              <a:t>Snippets</a:t>
            </a:r>
          </a:p>
          <a:p>
            <a:r>
              <a:rPr lang="en-ID" dirty="0"/>
              <a:t>Multi-person collaboration</a:t>
            </a:r>
          </a:p>
          <a:p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1C33B-3005-54AA-1797-04B044B8D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9B12A-6C76-B658-8E95-278649F99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236005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18C0C-C36C-8AA5-4A2C-0B53B1635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342C2-BA3D-DB89-5E1D-B719719C5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</a:t>
            </a:r>
            <a:r>
              <a:rPr lang="en-US" dirty="0" err="1"/>
              <a:t>selain</a:t>
            </a:r>
            <a:r>
              <a:rPr lang="en-US" dirty="0"/>
              <a:t> </a:t>
            </a:r>
            <a:r>
              <a:rPr lang="en-US" dirty="0" err="1"/>
              <a:t>gitlab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B0699-04A0-72BF-0534-4A3CD7A84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Gitlab</a:t>
            </a:r>
          </a:p>
          <a:p>
            <a:r>
              <a:rPr lang="en-US" dirty="0" err="1"/>
              <a:t>Gittea</a:t>
            </a:r>
            <a:endParaRPr lang="en-US" dirty="0"/>
          </a:p>
          <a:p>
            <a:r>
              <a:rPr lang="en-US" dirty="0"/>
              <a:t>Atlassian</a:t>
            </a:r>
          </a:p>
          <a:p>
            <a:r>
              <a:rPr lang="en-US" dirty="0" err="1"/>
              <a:t>BitBucket</a:t>
            </a:r>
            <a:endParaRPr lang="en-US" dirty="0"/>
          </a:p>
          <a:p>
            <a:r>
              <a:rPr lang="en-US" dirty="0" err="1"/>
              <a:t>AzureRepos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1799D-58E6-6131-4F89-80C25BEF1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1DE0C-E846-2858-CA1B-119813870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779734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8D145-12CD-2CF2-0EF9-5E7A2AD9A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D925E-3711-C487-378F-BEF085BFC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vs Gitlab? </a:t>
            </a:r>
            <a:r>
              <a:rPr lang="en-US" dirty="0" err="1"/>
              <a:t>Sebenernya</a:t>
            </a:r>
            <a:r>
              <a:rPr lang="en-US" dirty="0"/>
              <a:t> </a:t>
            </a:r>
            <a:r>
              <a:rPr lang="en-US" dirty="0" err="1"/>
              <a:t>gimana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90665-4F2D-F705-EF02-936D6A979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37596" cy="4351338"/>
          </a:xfrm>
        </p:spPr>
        <p:txBody>
          <a:bodyPr/>
          <a:lstStyle/>
          <a:p>
            <a:r>
              <a:rPr lang="en-US" dirty="0"/>
              <a:t>Git -&gt; Air Mineral</a:t>
            </a:r>
          </a:p>
          <a:p>
            <a:r>
              <a:rPr lang="en-US" dirty="0"/>
              <a:t>Gitlab -&gt; Aqua</a:t>
            </a:r>
          </a:p>
          <a:p>
            <a:endParaRPr lang="en-US" dirty="0"/>
          </a:p>
          <a:p>
            <a:r>
              <a:rPr lang="en-US" dirty="0"/>
              <a:t>Gitlab </a:t>
            </a:r>
            <a:r>
              <a:rPr lang="en-US" dirty="0" err="1"/>
              <a:t>memungkinkan</a:t>
            </a:r>
            <a:r>
              <a:rPr lang="en-US" dirty="0"/>
              <a:t> remote storage </a:t>
            </a:r>
            <a:r>
              <a:rPr lang="en-US" dirty="0" err="1"/>
              <a:t>untuk</a:t>
            </a:r>
            <a:r>
              <a:rPr lang="en-US" dirty="0"/>
              <a:t> repository</a:t>
            </a:r>
          </a:p>
          <a:p>
            <a:endParaRPr lang="en-US" dirty="0"/>
          </a:p>
          <a:p>
            <a:r>
              <a:rPr lang="en-US" dirty="0"/>
              <a:t>Coba run:</a:t>
            </a:r>
          </a:p>
          <a:p>
            <a:pPr lvl="1"/>
            <a:r>
              <a:rPr lang="en-US" dirty="0"/>
              <a:t>Git remote get-</a:t>
            </a:r>
            <a:r>
              <a:rPr lang="en-US" dirty="0" err="1"/>
              <a:t>url</a:t>
            </a:r>
            <a:r>
              <a:rPr lang="en-US" dirty="0"/>
              <a:t> origin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3C542-F367-CABF-D2E6-76D87DB05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41452-712A-E6B8-9455-ECA97F8FF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3524611-3D13-6E54-FB81-471DC0FA9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205" y="1870075"/>
            <a:ext cx="4261360" cy="3199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0965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096A2-08A4-42DC-7B91-83B9C5F8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92CB-3E54-D4BE-0F50-21F6CA937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Depth: </a:t>
            </a:r>
            <a:r>
              <a:rPr lang="en-US" dirty="0" err="1"/>
              <a:t>gitlab</a:t>
            </a:r>
            <a:r>
              <a:rPr lang="en-US" dirty="0"/>
              <a:t> projects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05F1B-5C59-2DDB-352C-8FB6EA7A1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Seperti</a:t>
            </a:r>
            <a:r>
              <a:rPr lang="en-US" dirty="0"/>
              <a:t> folder drive</a:t>
            </a:r>
          </a:p>
          <a:p>
            <a:r>
              <a:rPr lang="en-US" dirty="0" err="1"/>
              <a:t>Pokok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segala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github</a:t>
            </a:r>
            <a:endParaRPr lang="en-US" dirty="0"/>
          </a:p>
          <a:p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naruh</a:t>
            </a:r>
            <a:r>
              <a:rPr lang="en-US" dirty="0"/>
              <a:t> code</a:t>
            </a:r>
          </a:p>
          <a:p>
            <a:r>
              <a:rPr lang="en-US" dirty="0"/>
              <a:t>Coba </a:t>
            </a:r>
            <a:r>
              <a:rPr lang="en-US" dirty="0" err="1"/>
              <a:t>buat</a:t>
            </a:r>
            <a:r>
              <a:rPr lang="en-US" dirty="0"/>
              <a:t>: new Projects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56D4A-A61F-1717-4DD4-177D003A5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85C48-8E72-5FA4-3DA7-C69DAF726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8BC8E5-5F87-90C9-E3E0-850710334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025" y="1870075"/>
            <a:ext cx="6007510" cy="315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146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59400-E380-E1B7-1F20-C5F159180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A4EE-1E81-AF97-B93A-8A273A04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Depth: </a:t>
            </a:r>
            <a:r>
              <a:rPr lang="en-US" dirty="0" err="1"/>
              <a:t>gitlab</a:t>
            </a:r>
            <a:r>
              <a:rPr lang="en-US" dirty="0"/>
              <a:t> issue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D690B-7808-BD68-2CB6-D20BE8965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9413" cy="4351338"/>
          </a:xfrm>
        </p:spPr>
        <p:txBody>
          <a:bodyPr/>
          <a:lstStyle/>
          <a:p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task</a:t>
            </a:r>
          </a:p>
          <a:p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“ticket”</a:t>
            </a:r>
          </a:p>
          <a:p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protes</a:t>
            </a:r>
            <a:r>
              <a:rPr lang="en-US" dirty="0"/>
              <a:t> (</a:t>
            </a:r>
            <a:r>
              <a:rPr lang="en-US" dirty="0" err="1"/>
              <a:t>ke</a:t>
            </a:r>
            <a:r>
              <a:rPr lang="en-US" dirty="0"/>
              <a:t> open source project)</a:t>
            </a:r>
          </a:p>
          <a:p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bertanya</a:t>
            </a:r>
            <a:r>
              <a:rPr lang="en-US" dirty="0"/>
              <a:t> (</a:t>
            </a:r>
            <a:r>
              <a:rPr lang="en-US" dirty="0" err="1"/>
              <a:t>ke</a:t>
            </a:r>
            <a:r>
              <a:rPr lang="en-US" dirty="0"/>
              <a:t> OSS)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99ECD-CE92-FFD5-5858-452640DB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1ED61-F666-CFBC-AEDE-FC8BD2787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1DEF34-D11B-25EA-690D-94D51BBF7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357" y="1870075"/>
            <a:ext cx="5884856" cy="253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824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9A7EF-1461-0C43-139E-FED67A753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909FE-1519-3FA1-5FBF-9D97BAEB1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Depth: </a:t>
            </a:r>
            <a:r>
              <a:rPr lang="en-US" dirty="0" err="1"/>
              <a:t>gitlab</a:t>
            </a:r>
            <a:r>
              <a:rPr lang="en-US" dirty="0"/>
              <a:t> Merge request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60752-2BEA-2EE2-AF78-CD5AE1461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9413" cy="4351338"/>
          </a:xfrm>
        </p:spPr>
        <p:txBody>
          <a:bodyPr/>
          <a:lstStyle/>
          <a:p>
            <a:r>
              <a:rPr lang="en-US" dirty="0"/>
              <a:t>Proses </a:t>
            </a:r>
            <a:r>
              <a:rPr lang="en-US" dirty="0" err="1"/>
              <a:t>sebelum</a:t>
            </a:r>
            <a:r>
              <a:rPr lang="en-US" dirty="0"/>
              <a:t> Merge</a:t>
            </a:r>
          </a:p>
          <a:p>
            <a:r>
              <a:rPr lang="en-US" dirty="0"/>
              <a:t>Kalau di local </a:t>
            </a:r>
            <a:r>
              <a:rPr lang="en-US" dirty="0" err="1"/>
              <a:t>ngga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preview</a:t>
            </a:r>
          </a:p>
          <a:p>
            <a:r>
              <a:rPr lang="en-US" dirty="0"/>
              <a:t>Preview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melanjutkan</a:t>
            </a:r>
            <a:r>
              <a:rPr lang="en-US" dirty="0"/>
              <a:t> merge</a:t>
            </a:r>
          </a:p>
          <a:p>
            <a:pPr lvl="1"/>
            <a:r>
              <a:rPr lang="en-US" dirty="0"/>
              <a:t>Apakah </a:t>
            </a:r>
            <a:r>
              <a:rPr lang="en-US" dirty="0" err="1"/>
              <a:t>bagus</a:t>
            </a:r>
            <a:r>
              <a:rPr lang="en-US" dirty="0"/>
              <a:t>? Apakah conflict?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435AC-C785-97FF-9407-33CDFF962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01E06-47A2-4180-CD9D-6067C100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314563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6AA0A-B99F-755A-BD2E-BD2A03F50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0E079-A89B-8D95-8950-3DF87529C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Depth: </a:t>
            </a:r>
            <a:r>
              <a:rPr lang="en-US" dirty="0" err="1"/>
              <a:t>gitlab</a:t>
            </a:r>
            <a:r>
              <a:rPr lang="en-US" dirty="0"/>
              <a:t> Plan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6DD0A-51D5-E495-EE13-906702FA0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9413" cy="4351338"/>
          </a:xfrm>
        </p:spPr>
        <p:txBody>
          <a:bodyPr/>
          <a:lstStyle/>
          <a:p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mengatur</a:t>
            </a:r>
            <a:r>
              <a:rPr lang="en-US" dirty="0"/>
              <a:t> planning </a:t>
            </a:r>
            <a:r>
              <a:rPr lang="en-US" dirty="0" err="1"/>
              <a:t>kedepannya</a:t>
            </a:r>
            <a:endParaRPr lang="en-US" dirty="0"/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mana </a:t>
            </a:r>
            <a:r>
              <a:rPr lang="en-US" dirty="0" err="1"/>
              <a:t>fitur</a:t>
            </a:r>
            <a:r>
              <a:rPr lang="en-US" dirty="0"/>
              <a:t>/task yang </a:t>
            </a:r>
            <a:r>
              <a:rPr lang="en-US" dirty="0" err="1"/>
              <a:t>sedang</a:t>
            </a:r>
            <a:r>
              <a:rPr lang="en-US" dirty="0"/>
              <a:t>/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dikerjakan</a:t>
            </a:r>
            <a:endParaRPr lang="en-US" dirty="0"/>
          </a:p>
          <a:p>
            <a:r>
              <a:rPr lang="en-US" dirty="0" err="1"/>
              <a:t>Mirip</a:t>
            </a:r>
            <a:r>
              <a:rPr lang="en-US" dirty="0"/>
              <a:t> Jira </a:t>
            </a:r>
            <a:r>
              <a:rPr lang="en-US" dirty="0" err="1"/>
              <a:t>tapi</a:t>
            </a:r>
            <a:r>
              <a:rPr lang="en-US" dirty="0"/>
              <a:t> integrated</a:t>
            </a:r>
          </a:p>
          <a:p>
            <a:r>
              <a:rPr lang="en-US" dirty="0"/>
              <a:t>Bisa </a:t>
            </a:r>
            <a:r>
              <a:rPr lang="en-US" dirty="0" err="1"/>
              <a:t>ada</a:t>
            </a:r>
            <a:r>
              <a:rPr lang="en-US" dirty="0"/>
              <a:t> chart </a:t>
            </a:r>
            <a:r>
              <a:rPr lang="en-US" dirty="0" err="1"/>
              <a:t>nya</a:t>
            </a:r>
            <a:r>
              <a:rPr lang="en-US" dirty="0"/>
              <a:t> juga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8F1D4-7A41-CE5F-0A06-11D1EFFA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F6A18-7F8F-4948-B921-AFC277705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15323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D9B8B-11DD-A275-4D9F-1D6F10415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69379-59C2-8539-1249-C3A60FCB7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Depth: </a:t>
            </a:r>
            <a:r>
              <a:rPr lang="en-US" dirty="0" err="1"/>
              <a:t>gitlab</a:t>
            </a:r>
            <a:r>
              <a:rPr lang="en-US" dirty="0"/>
              <a:t> pages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FD0BC-0C58-95D2-7E93-12DF33E73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9413" cy="4351338"/>
          </a:xfrm>
        </p:spPr>
        <p:txBody>
          <a:bodyPr/>
          <a:lstStyle/>
          <a:p>
            <a:r>
              <a:rPr lang="en-US" dirty="0"/>
              <a:t>Free hosting </a:t>
            </a:r>
            <a:r>
              <a:rPr lang="en-US" dirty="0" err="1"/>
              <a:t>untuk</a:t>
            </a:r>
            <a:r>
              <a:rPr lang="en-US" dirty="0"/>
              <a:t> static website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1A228-66EE-B611-48A2-E84CCCFFA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70D7C-8809-2F68-9CFC-2A668D81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505287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B288B-7C0A-1062-BCC8-4418BBC28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96B87-ACAC-7F63-01D7-B6E406E6B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Depth: </a:t>
            </a:r>
            <a:r>
              <a:rPr lang="en-US" dirty="0" err="1"/>
              <a:t>gitlab</a:t>
            </a:r>
            <a:r>
              <a:rPr lang="en-US" dirty="0"/>
              <a:t> job and pipeline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252E5-1221-D3BF-88BE-E31CD504B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9413" cy="4351338"/>
          </a:xfrm>
        </p:spPr>
        <p:txBody>
          <a:bodyPr/>
          <a:lstStyle/>
          <a:p>
            <a:r>
              <a:rPr lang="en-US" dirty="0"/>
              <a:t>Automatic job yang di run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trigger</a:t>
            </a:r>
          </a:p>
          <a:p>
            <a:r>
              <a:rPr lang="en-US" dirty="0"/>
              <a:t>Misal:</a:t>
            </a:r>
          </a:p>
          <a:p>
            <a:pPr lvl="1"/>
            <a:r>
              <a:rPr lang="en-US" dirty="0"/>
              <a:t>Auto run test</a:t>
            </a:r>
          </a:p>
          <a:p>
            <a:pPr lvl="1"/>
            <a:r>
              <a:rPr lang="en-US" dirty="0"/>
              <a:t>Auto build</a:t>
            </a:r>
          </a:p>
          <a:p>
            <a:pPr lvl="1"/>
            <a:r>
              <a:rPr lang="en-US" dirty="0"/>
              <a:t>Auto deploy</a:t>
            </a:r>
          </a:p>
          <a:p>
            <a:pPr lvl="1"/>
            <a:r>
              <a:rPr lang="en-US" dirty="0" err="1"/>
              <a:t>etc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38C47-3671-6D97-E8D1-B0C1BFCC7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80289-C28E-4782-4480-78ECE6CA3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256976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19686-7461-67A4-1B60-116286D7F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27890-29A8-312D-A05B-1CCCAC18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 of merging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2DC98-C7B0-6A8E-302A-673CBDA7E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47323" cy="1212543"/>
          </a:xfrm>
        </p:spPr>
        <p:txBody>
          <a:bodyPr/>
          <a:lstStyle/>
          <a:p>
            <a:r>
              <a:rPr lang="en-US" dirty="0"/>
              <a:t>Saat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mergin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approve PR, </a:t>
            </a:r>
            <a:r>
              <a:rPr lang="en-US" dirty="0" err="1"/>
              <a:t>ada</a:t>
            </a:r>
            <a:r>
              <a:rPr lang="en-US" dirty="0"/>
              <a:t> 3 </a:t>
            </a:r>
            <a:r>
              <a:rPr lang="en-US" dirty="0" err="1"/>
              <a:t>jenis</a:t>
            </a:r>
            <a:r>
              <a:rPr lang="en-US" dirty="0"/>
              <a:t> commit yang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terjadi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6C3C4-752C-51BC-104F-1DDD536B6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ECA0B-48AA-EF14-0458-076DDF56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C337C9A2-51D5-1150-3DA2-E67E0AD64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350" y="2831690"/>
            <a:ext cx="3598054" cy="264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99132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0DEFF-BDF1-8740-CEDE-EED6FE2C4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385B8-F8D9-9C4C-0466-068F7720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 of merging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B6673-8E1D-5E45-91FF-9384D24AC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47323" cy="2008956"/>
          </a:xfrm>
        </p:spPr>
        <p:txBody>
          <a:bodyPr>
            <a:normAutofit/>
          </a:bodyPr>
          <a:lstStyle/>
          <a:p>
            <a:r>
              <a:rPr lang="en-US" dirty="0"/>
              <a:t>Merge -&gt; paling basic</a:t>
            </a:r>
          </a:p>
          <a:p>
            <a:r>
              <a:rPr lang="en-US" dirty="0"/>
              <a:t>Squash -&gt; </a:t>
            </a:r>
            <a:r>
              <a:rPr lang="en-US" dirty="0" err="1"/>
              <a:t>semua</a:t>
            </a:r>
            <a:r>
              <a:rPr lang="en-US" dirty="0"/>
              <a:t> commit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“merge commit”</a:t>
            </a:r>
          </a:p>
          <a:p>
            <a:r>
              <a:rPr lang="en-US" dirty="0"/>
              <a:t>Rebase -&gt;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histori</a:t>
            </a:r>
            <a:r>
              <a:rPr lang="en-US" dirty="0"/>
              <a:t> di </a:t>
            </a:r>
            <a:r>
              <a:rPr lang="en-US" dirty="0" err="1"/>
              <a:t>pindah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“merge commit”</a:t>
            </a:r>
          </a:p>
          <a:p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6C30A-E1AD-E3BC-B569-FA8D87132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7868F-4B11-DD39-921B-90099DCA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12290" name="Picture 2" descr="git - What is the difference between merge --squash and rebase? - Stack  Overflow">
            <a:extLst>
              <a:ext uri="{FF2B5EF4-FFF2-40B4-BE49-F238E27FC236}">
                <a16:creationId xmlns:a16="http://schemas.microsoft.com/office/drawing/2014/main" id="{C6564F48-51FD-F280-5C7F-A93010FCE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254" y="3811372"/>
            <a:ext cx="4904146" cy="2568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59225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B6C42-726B-0A35-560F-F582DFEAC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Hosting: make your web visible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F19C2-D491-6787-9A17-F61C0BA85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78D67-24E6-B4DF-A042-C47A2E4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A4D02-7008-65CF-606D-583710BBF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5211125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5B18DF-E2FD-C94F-2A78-DA79DBD27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 </a:t>
            </a:r>
            <a:r>
              <a:rPr lang="en-US" dirty="0" err="1"/>
              <a:t>itu</a:t>
            </a:r>
            <a:r>
              <a:rPr lang="en-US" dirty="0"/>
              <a:t> hosting?</a:t>
            </a:r>
            <a:endParaRPr lang="en-ID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806ED42-77F8-E925-DB2C-58FFD630B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menempatkan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/website agar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diakses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public/internet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07CA4-D151-EFDD-34C0-43CF8938B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01E70-DC70-3455-5C18-D07A242A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37448719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35ECCA8-0E11-FE6D-85CB-9CE2A2C6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Kenapa</a:t>
            </a:r>
            <a:r>
              <a:rPr lang="en-US" dirty="0"/>
              <a:t> </a:t>
            </a:r>
            <a:r>
              <a:rPr lang="en-US" dirty="0" err="1"/>
              <a:t>butuh</a:t>
            </a:r>
            <a:r>
              <a:rPr lang="en-US" dirty="0"/>
              <a:t> hosting?</a:t>
            </a:r>
            <a:endParaRPr lang="en-ID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4D7B6E-CCE1-0112-0F49-5D09F4AB1D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Lokal:</a:t>
            </a:r>
          </a:p>
          <a:p>
            <a:pPr lvl="1"/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diri</a:t>
            </a:r>
            <a:r>
              <a:rPr lang="en-US" dirty="0"/>
              <a:t> </a:t>
            </a:r>
            <a:r>
              <a:rPr lang="en-US" dirty="0" err="1"/>
              <a:t>sendiri</a:t>
            </a:r>
            <a:endParaRPr lang="en-US" dirty="0"/>
          </a:p>
          <a:p>
            <a:pPr lvl="1"/>
            <a:r>
              <a:rPr lang="en-US" dirty="0"/>
              <a:t>Bisa </a:t>
            </a:r>
            <a:r>
              <a:rPr lang="en-US" dirty="0" err="1"/>
              <a:t>aja</a:t>
            </a:r>
            <a:r>
              <a:rPr lang="en-US" dirty="0"/>
              <a:t> </a:t>
            </a:r>
            <a:r>
              <a:rPr lang="en-US" dirty="0" err="1"/>
              <a:t>pakai</a:t>
            </a:r>
            <a:r>
              <a:rPr lang="en-US" dirty="0"/>
              <a:t> “tunnel”</a:t>
            </a:r>
          </a:p>
          <a:p>
            <a:pPr lvl="1"/>
            <a:r>
              <a:rPr lang="en-US" dirty="0"/>
              <a:t>Ga nyala 24 jam </a:t>
            </a:r>
            <a:r>
              <a:rPr lang="en-US" dirty="0" err="1"/>
              <a:t>terus</a:t>
            </a:r>
            <a:r>
              <a:rPr lang="en-US" dirty="0"/>
              <a:t> (</a:t>
            </a:r>
            <a:r>
              <a:rPr lang="en-US" dirty="0" err="1"/>
              <a:t>kecuali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menyiksa</a:t>
            </a:r>
            <a:r>
              <a:rPr lang="en-US" dirty="0"/>
              <a:t> PC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)</a:t>
            </a:r>
          </a:p>
          <a:p>
            <a:r>
              <a:rPr lang="en-US" dirty="0"/>
              <a:t>Server hosting</a:t>
            </a:r>
          </a:p>
          <a:p>
            <a:pPr lvl="1"/>
            <a:r>
              <a:rPr lang="en-US" dirty="0"/>
              <a:t>Bisa </a:t>
            </a:r>
            <a:r>
              <a:rPr lang="en-US" dirty="0" err="1"/>
              <a:t>dipublik</a:t>
            </a:r>
            <a:r>
              <a:rPr lang="en-US" dirty="0"/>
              <a:t> (</a:t>
            </a:r>
            <a:r>
              <a:rPr lang="en-US" dirty="0" err="1"/>
              <a:t>bisa</a:t>
            </a:r>
            <a:r>
              <a:rPr lang="en-US" dirty="0"/>
              <a:t> private juga)</a:t>
            </a:r>
          </a:p>
          <a:p>
            <a:pPr lvl="1"/>
            <a:r>
              <a:rPr lang="en-US" dirty="0"/>
              <a:t>Nyala 24 jam (</a:t>
            </a:r>
            <a:r>
              <a:rPr lang="en-US" dirty="0" err="1"/>
              <a:t>memang</a:t>
            </a:r>
            <a:r>
              <a:rPr lang="en-US" dirty="0"/>
              <a:t> </a:t>
            </a:r>
            <a:r>
              <a:rPr lang="en-US" dirty="0" err="1"/>
              <a:t>tugasnya</a:t>
            </a:r>
            <a:r>
              <a:rPr lang="en-ID" dirty="0"/>
              <a:t>)</a:t>
            </a:r>
            <a:endParaRPr lang="en-US" dirty="0"/>
          </a:p>
          <a:p>
            <a:pPr marL="457200" lvl="1" indent="0">
              <a:buNone/>
            </a:pP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C346C-5BBB-7490-C96A-88207517D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3EBFD-64C9-6F73-0A7C-9B76918D4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  <p:pic>
        <p:nvPicPr>
          <p:cNvPr id="1026" name="Picture 2" descr="Poor kid : r/ProgrammerHumor">
            <a:extLst>
              <a:ext uri="{FF2B5EF4-FFF2-40B4-BE49-F238E27FC236}">
                <a16:creationId xmlns:a16="http://schemas.microsoft.com/office/drawing/2014/main" id="{0A90F0D3-88FC-1083-694E-50DA28EAE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747" y="1690688"/>
            <a:ext cx="3824749" cy="3824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52773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0B335A9-1C32-3457-5AF9-93F29617D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Terminologi</a:t>
            </a:r>
            <a:r>
              <a:rPr lang="en-US" dirty="0"/>
              <a:t> hosting</a:t>
            </a:r>
            <a:endParaRPr lang="en-ID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07DC552-4E66-F8D8-29EC-DCCB2294D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Server: (computer yang </a:t>
            </a:r>
            <a:r>
              <a:rPr lang="en-US" dirty="0" err="1"/>
              <a:t>menjadi</a:t>
            </a:r>
            <a:r>
              <a:rPr lang="en-US" dirty="0"/>
              <a:t> host </a:t>
            </a:r>
            <a:r>
              <a:rPr lang="en-US" dirty="0" err="1"/>
              <a:t>websitenya</a:t>
            </a:r>
            <a:r>
              <a:rPr lang="en-US" dirty="0"/>
              <a:t>)</a:t>
            </a:r>
          </a:p>
          <a:p>
            <a:r>
              <a:rPr lang="en-US" dirty="0"/>
              <a:t>Domain: nama alias </a:t>
            </a:r>
            <a:r>
              <a:rPr lang="en-US" dirty="0" err="1"/>
              <a:t>untuk</a:t>
            </a:r>
            <a:r>
              <a:rPr lang="en-US" dirty="0"/>
              <a:t> IP server kalian (google.com,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DNS: domain name server (translating IP to domain name)</a:t>
            </a:r>
          </a:p>
          <a:p>
            <a:r>
              <a:rPr lang="en-US" dirty="0"/>
              <a:t>IP: dah tau </a:t>
            </a:r>
            <a:r>
              <a:rPr lang="en-US" dirty="0" err="1"/>
              <a:t>lah</a:t>
            </a:r>
            <a:r>
              <a:rPr lang="en-US" dirty="0"/>
              <a:t> </a:t>
            </a:r>
            <a:r>
              <a:rPr lang="en-US" dirty="0" err="1"/>
              <a:t>ya</a:t>
            </a:r>
            <a:endParaRPr lang="en-US" dirty="0"/>
          </a:p>
          <a:p>
            <a:r>
              <a:rPr lang="en-US" dirty="0"/>
              <a:t>SSL/TLS: secure connection</a:t>
            </a:r>
          </a:p>
          <a:p>
            <a:r>
              <a:rPr lang="en-US" dirty="0"/>
              <a:t>Latency: </a:t>
            </a:r>
            <a:r>
              <a:rPr lang="en-US" dirty="0" err="1"/>
              <a:t>waktu</a:t>
            </a:r>
            <a:r>
              <a:rPr lang="en-US" dirty="0"/>
              <a:t> loading website</a:t>
            </a:r>
          </a:p>
          <a:p>
            <a:r>
              <a:rPr lang="en-US" dirty="0"/>
              <a:t>Uptime: </a:t>
            </a:r>
            <a:r>
              <a:rPr lang="en-US" dirty="0" err="1"/>
              <a:t>persensate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server </a:t>
            </a:r>
            <a:r>
              <a:rPr lang="en-US" dirty="0" err="1"/>
              <a:t>aktif</a:t>
            </a:r>
            <a:endParaRPr lang="en-US" dirty="0"/>
          </a:p>
          <a:p>
            <a:r>
              <a:rPr lang="en-US" dirty="0"/>
              <a:t>Outbound/Inbound: data </a:t>
            </a:r>
            <a:r>
              <a:rPr lang="en-US" dirty="0" err="1"/>
              <a:t>keluar</a:t>
            </a:r>
            <a:r>
              <a:rPr lang="en-US" dirty="0"/>
              <a:t> data </a:t>
            </a:r>
            <a:r>
              <a:rPr lang="en-US" dirty="0" err="1"/>
              <a:t>masuk</a:t>
            </a:r>
            <a:r>
              <a:rPr lang="en-US" dirty="0"/>
              <a:t> (</a:t>
            </a:r>
            <a:r>
              <a:rPr lang="en-US" dirty="0" err="1"/>
              <a:t>penting</a:t>
            </a:r>
            <a:r>
              <a:rPr lang="en-US" dirty="0"/>
              <a:t> Ketika </a:t>
            </a:r>
            <a:r>
              <a:rPr lang="en-US" dirty="0" err="1"/>
              <a:t>pakai</a:t>
            </a:r>
            <a:r>
              <a:rPr lang="en-US" dirty="0"/>
              <a:t> cloud)</a:t>
            </a:r>
            <a:endParaRPr lang="en-ID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86091-EA68-80F0-6CFE-70026638B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38A10-E6A2-617D-7C41-2563F2EEA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41746877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7E588-C8F6-3B34-CF40-CFA53F27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hosting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D4A2E-A4D5-3BA6-3B98-993D46FF9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542E3-792C-945C-D01F-6755F1DB8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AF29B1-86A5-4340-B50D-C7542B1EA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1690688"/>
            <a:ext cx="5905500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0338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624AD-4B21-9C19-DEB1-D149C9F3B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3669E-2503-54E2-F6B0-E06D0E093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hosting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71459-FDE8-DE8C-53B3-C5EE52196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kewajiban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PaaS (platform as a service)</a:t>
            </a:r>
          </a:p>
          <a:p>
            <a:pPr lvl="2"/>
            <a:r>
              <a:rPr lang="en-US" dirty="0" err="1"/>
              <a:t>Contoh</a:t>
            </a:r>
            <a:r>
              <a:rPr lang="en-US" dirty="0"/>
              <a:t>: Azure webapp, AWS </a:t>
            </a:r>
            <a:r>
              <a:rPr lang="en-US" dirty="0" err="1"/>
              <a:t>Lightsail</a:t>
            </a:r>
            <a:r>
              <a:rPr lang="en-US" dirty="0"/>
              <a:t>, GCP App Engine, Heroku, </a:t>
            </a:r>
            <a:r>
              <a:rPr lang="en-US" dirty="0" err="1"/>
              <a:t>Vercel</a:t>
            </a:r>
            <a:endParaRPr lang="en-US" dirty="0"/>
          </a:p>
          <a:p>
            <a:pPr lvl="2"/>
            <a:r>
              <a:rPr lang="en-US" dirty="0"/>
              <a:t>Kalian </a:t>
            </a:r>
            <a:r>
              <a:rPr lang="en-US" dirty="0" err="1"/>
              <a:t>fokus</a:t>
            </a:r>
            <a:r>
              <a:rPr lang="en-US" dirty="0"/>
              <a:t> pada app </a:t>
            </a:r>
            <a:r>
              <a:rPr lang="en-US" dirty="0" err="1"/>
              <a:t>saja</a:t>
            </a:r>
            <a:r>
              <a:rPr lang="en-US" dirty="0"/>
              <a:t>, </a:t>
            </a:r>
            <a:r>
              <a:rPr lang="en-US" dirty="0" err="1"/>
              <a:t>langsung</a:t>
            </a:r>
            <a:r>
              <a:rPr lang="en-US" dirty="0"/>
              <a:t> deploy,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mikirin</a:t>
            </a:r>
            <a:r>
              <a:rPr lang="en-US" dirty="0"/>
              <a:t> security </a:t>
            </a:r>
            <a:r>
              <a:rPr lang="en-US" dirty="0" err="1"/>
              <a:t>servernya</a:t>
            </a:r>
            <a:r>
              <a:rPr lang="en-US" dirty="0"/>
              <a:t> (</a:t>
            </a:r>
            <a:r>
              <a:rPr lang="en-US" dirty="0" err="1"/>
              <a:t>bukan</a:t>
            </a:r>
            <a:r>
              <a:rPr lang="en-US" dirty="0"/>
              <a:t> app </a:t>
            </a:r>
            <a:r>
              <a:rPr lang="en-US" dirty="0" err="1"/>
              <a:t>ya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IaaS (infrastructure as a service)</a:t>
            </a:r>
          </a:p>
          <a:p>
            <a:pPr lvl="2"/>
            <a:r>
              <a:rPr lang="en-US" dirty="0" err="1"/>
              <a:t>Contoh</a:t>
            </a:r>
            <a:r>
              <a:rPr lang="en-US" dirty="0"/>
              <a:t>: shared hosting, VPS hosting</a:t>
            </a:r>
          </a:p>
          <a:p>
            <a:pPr lvl="2"/>
            <a:r>
              <a:rPr lang="en-US" dirty="0" err="1"/>
              <a:t>Fokus</a:t>
            </a:r>
            <a:r>
              <a:rPr lang="en-US" dirty="0"/>
              <a:t> pada both app dan server, </a:t>
            </a:r>
            <a:r>
              <a:rPr lang="en-US" dirty="0" err="1"/>
              <a:t>harus</a:t>
            </a:r>
            <a:r>
              <a:rPr lang="en-US" dirty="0"/>
              <a:t> maintain security dan OS update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82CF6-DDB9-A9DC-2E2C-25F617852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5A81D-8EDF-A1D7-51E3-327A3FC1B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510884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5B6D4-A566-358E-C59D-F3DF16E98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E97CF-2261-1A87-4A92-0B18B4DEA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hosting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6E678-A9D7-A684-3B37-D2744CB9E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kepemilikan</a:t>
            </a:r>
            <a:r>
              <a:rPr lang="en-US" dirty="0"/>
              <a:t> </a:t>
            </a:r>
            <a:r>
              <a:rPr lang="en-US" dirty="0" err="1"/>
              <a:t>dibagi</a:t>
            </a:r>
            <a:r>
              <a:rPr lang="en-US" dirty="0"/>
              <a:t> </a:t>
            </a:r>
            <a:r>
              <a:rPr lang="en-US" dirty="0" err="1"/>
              <a:t>menjadi</a:t>
            </a:r>
            <a:endParaRPr lang="en-US" dirty="0"/>
          </a:p>
          <a:p>
            <a:pPr lvl="1"/>
            <a:r>
              <a:rPr lang="en-US" dirty="0"/>
              <a:t>Shared Hosting</a:t>
            </a:r>
          </a:p>
          <a:p>
            <a:pPr lvl="2"/>
            <a:r>
              <a:rPr lang="en-US" dirty="0"/>
              <a:t>Less resource, sharing </a:t>
            </a:r>
            <a:r>
              <a:rPr lang="en-US" dirty="0" err="1"/>
              <a:t>dengan</a:t>
            </a:r>
            <a:r>
              <a:rPr lang="en-US" dirty="0"/>
              <a:t> orang lain, 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 </a:t>
            </a:r>
            <a:r>
              <a:rPr lang="en-US" dirty="0" err="1"/>
              <a:t>kontrolnya</a:t>
            </a:r>
            <a:endParaRPr lang="en-US" dirty="0"/>
          </a:p>
          <a:p>
            <a:pPr lvl="2"/>
            <a:r>
              <a:rPr lang="en-US" dirty="0"/>
              <a:t>Ciri </a:t>
            </a:r>
            <a:r>
              <a:rPr lang="en-US" dirty="0" err="1"/>
              <a:t>unik</a:t>
            </a:r>
            <a:r>
              <a:rPr lang="en-US" dirty="0"/>
              <a:t>: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pake</a:t>
            </a:r>
            <a:r>
              <a:rPr lang="en-US" dirty="0"/>
              <a:t> </a:t>
            </a:r>
            <a:r>
              <a:rPr lang="en-US" dirty="0" err="1"/>
              <a:t>Cpanel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sejenisnya</a:t>
            </a:r>
            <a:endParaRPr lang="en-US" dirty="0"/>
          </a:p>
          <a:p>
            <a:pPr lvl="1"/>
            <a:r>
              <a:rPr lang="en-US" dirty="0"/>
              <a:t>VPS (Private server)</a:t>
            </a:r>
          </a:p>
          <a:p>
            <a:pPr lvl="2"/>
            <a:r>
              <a:rPr lang="en-US" dirty="0"/>
              <a:t>Dunia </a:t>
            </a:r>
            <a:r>
              <a:rPr lang="en-US" dirty="0" err="1"/>
              <a:t>milik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, full </a:t>
            </a:r>
            <a:r>
              <a:rPr lang="en-US" dirty="0" err="1"/>
              <a:t>utak</a:t>
            </a:r>
            <a:r>
              <a:rPr lang="en-US" dirty="0"/>
              <a:t> </a:t>
            </a:r>
            <a:r>
              <a:rPr lang="en-US" dirty="0" err="1"/>
              <a:t>atik</a:t>
            </a:r>
            <a:r>
              <a:rPr lang="en-US" dirty="0"/>
              <a:t> </a:t>
            </a:r>
            <a:r>
              <a:rPr lang="en-US" dirty="0" err="1"/>
              <a:t>sendiri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4F0F-0CE6-E0AC-FD24-4BF953271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BAB03-C185-5BE2-F1F7-DC356E57A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276587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6589F-7EE8-DB0C-0A90-562089C7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BC906-36D7-782F-B2C6-D10EA90E7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Hosting biology (VPS)</a:t>
            </a:r>
            <a:endParaRPr lang="en-ID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A344457-9763-FB6B-9857-2281E42BE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138887" cy="4351338"/>
          </a:xfrm>
        </p:spPr>
        <p:txBody>
          <a:bodyPr/>
          <a:lstStyle/>
          <a:p>
            <a:r>
              <a:rPr lang="en-US" dirty="0"/>
              <a:t>Simple’s there is</a:t>
            </a:r>
          </a:p>
          <a:p>
            <a:pPr lvl="1"/>
            <a:r>
              <a:rPr lang="en-US" dirty="0"/>
              <a:t>Ada Server, </a:t>
            </a:r>
            <a:r>
              <a:rPr lang="en-US" dirty="0" err="1"/>
              <a:t>dalamnya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Databasenya</a:t>
            </a:r>
            <a:endParaRPr lang="en-US" dirty="0"/>
          </a:p>
          <a:p>
            <a:pPr lvl="2"/>
            <a:r>
              <a:rPr lang="en-US" dirty="0"/>
              <a:t>App </a:t>
            </a:r>
            <a:r>
              <a:rPr lang="en-US" dirty="0" err="1"/>
              <a:t>nya</a:t>
            </a:r>
            <a:r>
              <a:rPr lang="en-US" dirty="0"/>
              <a:t> (Misal Laravel)</a:t>
            </a:r>
          </a:p>
          <a:p>
            <a:pPr lvl="2"/>
            <a:r>
              <a:rPr lang="en-US" dirty="0"/>
              <a:t>Reverse Proxy</a:t>
            </a:r>
          </a:p>
          <a:p>
            <a:pPr lvl="2"/>
            <a:endParaRPr lang="en-US" dirty="0"/>
          </a:p>
          <a:p>
            <a:pPr lvl="1"/>
            <a:r>
              <a:rPr lang="en-US" dirty="0" err="1"/>
              <a:t>Boleh</a:t>
            </a:r>
            <a:r>
              <a:rPr lang="en-US" dirty="0"/>
              <a:t> ga </a:t>
            </a:r>
            <a:r>
              <a:rPr lang="en-US" dirty="0" err="1"/>
              <a:t>kalau</a:t>
            </a:r>
            <a:r>
              <a:rPr lang="en-US" dirty="0"/>
              <a:t> DB </a:t>
            </a:r>
            <a:r>
              <a:rPr lang="en-US" dirty="0" err="1"/>
              <a:t>nya</a:t>
            </a:r>
            <a:r>
              <a:rPr lang="en-US" dirty="0"/>
              <a:t> di server lain? </a:t>
            </a:r>
            <a:r>
              <a:rPr lang="en-US" dirty="0" err="1"/>
              <a:t>Boleh</a:t>
            </a:r>
            <a:r>
              <a:rPr lang="en-US" dirty="0"/>
              <a:t>, </a:t>
            </a:r>
            <a:r>
              <a:rPr lang="en-US" dirty="0" err="1"/>
              <a:t>sah</a:t>
            </a:r>
            <a:r>
              <a:rPr lang="en-US" dirty="0"/>
              <a:t> </a:t>
            </a:r>
            <a:r>
              <a:rPr lang="en-US" dirty="0" err="1"/>
              <a:t>sah</a:t>
            </a:r>
            <a:r>
              <a:rPr lang="en-US" dirty="0"/>
              <a:t> </a:t>
            </a:r>
            <a:r>
              <a:rPr lang="en-US" dirty="0" err="1"/>
              <a:t>aja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DCF48-AFBA-3ECD-C988-A9C2F6490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1A720-8C22-8B47-3B44-75084CC7E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179584-8EE5-4BA7-A3D8-80FDDA595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344" y="1829468"/>
            <a:ext cx="5294204" cy="301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730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4215-C10E-9549-2BD8-75F95345D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E4198-C98D-6BFD-4BED-70C7FD1A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Hosting biology (shared hosting)</a:t>
            </a:r>
            <a:endParaRPr lang="en-ID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B4CB80C-23D3-B55C-F918-47822A007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138887" cy="4351338"/>
          </a:xfrm>
        </p:spPr>
        <p:txBody>
          <a:bodyPr/>
          <a:lstStyle/>
          <a:p>
            <a:r>
              <a:rPr lang="en-US" dirty="0"/>
              <a:t>Simple’s there is</a:t>
            </a:r>
          </a:p>
          <a:p>
            <a:pPr lvl="1"/>
            <a:r>
              <a:rPr lang="en-US" dirty="0"/>
              <a:t>Ada Server, </a:t>
            </a:r>
            <a:r>
              <a:rPr lang="en-US" dirty="0" err="1"/>
              <a:t>dalamnya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Databasenya</a:t>
            </a:r>
            <a:endParaRPr lang="en-US" dirty="0"/>
          </a:p>
          <a:p>
            <a:pPr lvl="2"/>
            <a:r>
              <a:rPr lang="en-US" dirty="0"/>
              <a:t>App </a:t>
            </a:r>
            <a:r>
              <a:rPr lang="en-US" dirty="0" err="1"/>
              <a:t>nya</a:t>
            </a:r>
            <a:r>
              <a:rPr lang="en-US" dirty="0"/>
              <a:t> (Misal Laravel)</a:t>
            </a:r>
          </a:p>
          <a:p>
            <a:pPr lvl="2"/>
            <a:r>
              <a:rPr lang="en-US" dirty="0"/>
              <a:t>Reverse Proxy</a:t>
            </a:r>
          </a:p>
          <a:p>
            <a:pPr lvl="2"/>
            <a:endParaRPr lang="en-US" dirty="0"/>
          </a:p>
          <a:p>
            <a:pPr lvl="1"/>
            <a:r>
              <a:rPr lang="en-US" dirty="0" err="1"/>
              <a:t>Boleh</a:t>
            </a:r>
            <a:r>
              <a:rPr lang="en-US" dirty="0"/>
              <a:t> ga </a:t>
            </a:r>
            <a:r>
              <a:rPr lang="en-US" dirty="0" err="1"/>
              <a:t>kalau</a:t>
            </a:r>
            <a:r>
              <a:rPr lang="en-US" dirty="0"/>
              <a:t> DB </a:t>
            </a:r>
            <a:r>
              <a:rPr lang="en-US" dirty="0" err="1"/>
              <a:t>nya</a:t>
            </a:r>
            <a:r>
              <a:rPr lang="en-US" dirty="0"/>
              <a:t> di server lain? </a:t>
            </a:r>
            <a:r>
              <a:rPr lang="en-US" dirty="0" err="1"/>
              <a:t>Boleh</a:t>
            </a:r>
            <a:r>
              <a:rPr lang="en-US" dirty="0"/>
              <a:t>, </a:t>
            </a:r>
            <a:r>
              <a:rPr lang="en-US" dirty="0" err="1"/>
              <a:t>sah</a:t>
            </a:r>
            <a:r>
              <a:rPr lang="en-US" dirty="0"/>
              <a:t> </a:t>
            </a:r>
            <a:r>
              <a:rPr lang="en-US" dirty="0" err="1"/>
              <a:t>sah</a:t>
            </a:r>
            <a:r>
              <a:rPr lang="en-US" dirty="0"/>
              <a:t> </a:t>
            </a:r>
            <a:r>
              <a:rPr lang="en-US" dirty="0" err="1"/>
              <a:t>aja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83106-2148-DB14-7E64-19FF058DB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/>
              <a:t>27/02/2026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BFC2A-917F-FA99-61F2-8728AAB7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Git</a:t>
            </a:r>
            <a:endParaRPr lang="en-ID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903A89-41C0-0BDB-9524-D775E6F0C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344" y="1829468"/>
            <a:ext cx="5294204" cy="301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49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496</TotalTime>
  <Words>1740</Words>
  <Application>Microsoft Office PowerPoint</Application>
  <PresentationFormat>Widescreen</PresentationFormat>
  <Paragraphs>411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3" baseType="lpstr">
      <vt:lpstr>Arial</vt:lpstr>
      <vt:lpstr>Calibri</vt:lpstr>
      <vt:lpstr>Calibri Light</vt:lpstr>
      <vt:lpstr>Office Theme</vt:lpstr>
      <vt:lpstr>Git dan Github</vt:lpstr>
      <vt:lpstr>Install terlebih dahulu</vt:lpstr>
      <vt:lpstr>Git: art of source control</vt:lpstr>
      <vt:lpstr>Question</vt:lpstr>
      <vt:lpstr>Kenapa ada Git?</vt:lpstr>
      <vt:lpstr>Kenapa ada Git?</vt:lpstr>
      <vt:lpstr>Kenapa ada Git?</vt:lpstr>
      <vt:lpstr>Alternative Git</vt:lpstr>
      <vt:lpstr>Konsep dasar Git: Terminology</vt:lpstr>
      <vt:lpstr>Konsep dasar Git: Terminology</vt:lpstr>
      <vt:lpstr>Konsep dasar Git: Terminology</vt:lpstr>
      <vt:lpstr>Git Workflow</vt:lpstr>
      <vt:lpstr>Kenapa workflow dan branch penting?</vt:lpstr>
      <vt:lpstr>PowerPoint Presentation</vt:lpstr>
      <vt:lpstr>Top git command (demo)</vt:lpstr>
      <vt:lpstr>Apakah harus selalu dihafal? Ngga juga</vt:lpstr>
      <vt:lpstr>Praktek</vt:lpstr>
      <vt:lpstr>Practice time</vt:lpstr>
      <vt:lpstr>In Depth: Git branch</vt:lpstr>
      <vt:lpstr>In Depth: Git merge</vt:lpstr>
      <vt:lpstr>In depth: Git log</vt:lpstr>
      <vt:lpstr>In depth: Git blame</vt:lpstr>
      <vt:lpstr>Git in terminal and GUI</vt:lpstr>
      <vt:lpstr>Github: the online git</vt:lpstr>
      <vt:lpstr>Github</vt:lpstr>
      <vt:lpstr>Buat akun github.com</vt:lpstr>
      <vt:lpstr>Fitur dasar github</vt:lpstr>
      <vt:lpstr>Alternative selain github?</vt:lpstr>
      <vt:lpstr>Git vs Github? Sebenernya gimana?</vt:lpstr>
      <vt:lpstr>In Depth: github repository</vt:lpstr>
      <vt:lpstr>In Depth: github issue</vt:lpstr>
      <vt:lpstr>In Depth: github Pull Request</vt:lpstr>
      <vt:lpstr>In Depth: github Project</vt:lpstr>
      <vt:lpstr>In Depth: github actions</vt:lpstr>
      <vt:lpstr>Art of merging</vt:lpstr>
      <vt:lpstr>Art of merging</vt:lpstr>
      <vt:lpstr>Gitlab: the online git</vt:lpstr>
      <vt:lpstr>Gitlab</vt:lpstr>
      <vt:lpstr>Tampilan gitlab</vt:lpstr>
      <vt:lpstr>Fitur dasar gitlab</vt:lpstr>
      <vt:lpstr>Alternative selain gitlab?</vt:lpstr>
      <vt:lpstr>Git vs Gitlab? Sebenernya gimana?</vt:lpstr>
      <vt:lpstr>In Depth: gitlab projects</vt:lpstr>
      <vt:lpstr>In Depth: gitlab issue</vt:lpstr>
      <vt:lpstr>In Depth: gitlab Merge request</vt:lpstr>
      <vt:lpstr>In Depth: gitlab Plan</vt:lpstr>
      <vt:lpstr>In Depth: gitlab pages</vt:lpstr>
      <vt:lpstr>In Depth: gitlab job and pipeline</vt:lpstr>
      <vt:lpstr>Art of merging</vt:lpstr>
      <vt:lpstr>Art of merging</vt:lpstr>
      <vt:lpstr>Hosting: make your web visible</vt:lpstr>
      <vt:lpstr>Apa itu hosting?</vt:lpstr>
      <vt:lpstr>Kenapa butuh hosting?</vt:lpstr>
      <vt:lpstr>Terminologi hosting</vt:lpstr>
      <vt:lpstr>Type of hosting</vt:lpstr>
      <vt:lpstr>Type of hosting</vt:lpstr>
      <vt:lpstr>Type of hosting</vt:lpstr>
      <vt:lpstr>Hosting biology (VPS)</vt:lpstr>
      <vt:lpstr>Hosting biology (shared hosting)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Raymond Wangsa Putra</dc:creator>
  <cp:lastModifiedBy>Raymond Wangsa Putra</cp:lastModifiedBy>
  <cp:revision>143</cp:revision>
  <dcterms:created xsi:type="dcterms:W3CDTF">2026-02-24T15:47:48Z</dcterms:created>
  <dcterms:modified xsi:type="dcterms:W3CDTF">2026-02-26T18:05:19Z</dcterms:modified>
</cp:coreProperties>
</file>